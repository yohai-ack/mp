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57" r:id="rId2"/>
    <p:sldId id="297" r:id="rId3"/>
    <p:sldId id="293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95" r:id="rId12"/>
    <p:sldId id="265" r:id="rId13"/>
    <p:sldId id="298" r:id="rId14"/>
    <p:sldId id="299" r:id="rId15"/>
    <p:sldId id="302" r:id="rId16"/>
    <p:sldId id="301" r:id="rId17"/>
    <p:sldId id="300" r:id="rId18"/>
    <p:sldId id="303" r:id="rId19"/>
    <p:sldId id="305" r:id="rId20"/>
    <p:sldId id="266" r:id="rId21"/>
    <p:sldId id="306" r:id="rId22"/>
    <p:sldId id="307" r:id="rId23"/>
    <p:sldId id="267" r:id="rId24"/>
    <p:sldId id="287" r:id="rId25"/>
    <p:sldId id="286" r:id="rId26"/>
    <p:sldId id="290" r:id="rId27"/>
    <p:sldId id="291" r:id="rId28"/>
    <p:sldId id="289" r:id="rId29"/>
    <p:sldId id="292" r:id="rId30"/>
    <p:sldId id="273" r:id="rId31"/>
    <p:sldId id="274" r:id="rId32"/>
    <p:sldId id="282" r:id="rId33"/>
    <p:sldId id="283" r:id="rId34"/>
    <p:sldId id="284" r:id="rId35"/>
    <p:sldId id="285" r:id="rId36"/>
    <p:sldId id="268" r:id="rId37"/>
    <p:sldId id="269" r:id="rId38"/>
    <p:sldId id="270" r:id="rId39"/>
    <p:sldId id="271" r:id="rId40"/>
    <p:sldId id="272" r:id="rId41"/>
    <p:sldId id="275" r:id="rId42"/>
    <p:sldId id="276" r:id="rId43"/>
    <p:sldId id="277" r:id="rId44"/>
    <p:sldId id="278" r:id="rId45"/>
    <p:sldId id="279" r:id="rId46"/>
    <p:sldId id="280" r:id="rId47"/>
    <p:sldId id="281" r:id="rId4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utorial 1: Your first STM32 application" id="{E6B4C9AA-78C9-C597-0AF6-F54424BC4B2F}">
          <p14:sldIdLst>
            <p14:sldId id="257"/>
            <p14:sldId id="297"/>
            <p14:sldId id="293"/>
            <p14:sldId id="258"/>
            <p14:sldId id="259"/>
            <p14:sldId id="260"/>
            <p14:sldId id="261"/>
            <p14:sldId id="262"/>
            <p14:sldId id="263"/>
            <p14:sldId id="264"/>
            <p14:sldId id="295"/>
          </p14:sldIdLst>
        </p14:section>
        <p14:section name="Tutorial 2: Numbers and bits on the board" id="{C15F6201-075D-2E97-6E8B-8BEB0DC12395}">
          <p14:sldIdLst>
            <p14:sldId id="265"/>
            <p14:sldId id="298"/>
            <p14:sldId id="299"/>
            <p14:sldId id="302"/>
            <p14:sldId id="301"/>
            <p14:sldId id="300"/>
            <p14:sldId id="303"/>
            <p14:sldId id="305"/>
          </p14:sldIdLst>
        </p14:section>
        <p14:section name="Tutorial 3: RGB LEDs and buttons" id="{BCCFF75B-A899-9A0A-BD45-ED6E16CAB61D}">
          <p14:sldIdLst>
            <p14:sldId id="266"/>
            <p14:sldId id="306"/>
            <p14:sldId id="307"/>
          </p14:sldIdLst>
        </p14:section>
        <p14:section name="Tutorial 4: Timer interrupts and PWM" id="{407214BD-1516-B47B-92D2-14A673110772}">
          <p14:sldIdLst>
            <p14:sldId id="267"/>
            <p14:sldId id="287"/>
            <p14:sldId id="286"/>
            <p14:sldId id="290"/>
            <p14:sldId id="291"/>
            <p14:sldId id="289"/>
            <p14:sldId id="292"/>
          </p14:sldIdLst>
        </p14:section>
        <p14:section name="Tutorial 5: I2C" id="{CDAFA046-4960-08D9-DADE-13722EA2C76E}">
          <p14:sldIdLst>
            <p14:sldId id="273"/>
          </p14:sldIdLst>
        </p14:section>
        <p14:section name="Tutorial 6: .ioc file and SR04 reading" id="{22B1A7F2-0B5C-F1E2-F58F-3B4012E84F69}">
          <p14:sldIdLst>
            <p14:sldId id="274"/>
            <p14:sldId id="282"/>
            <p14:sldId id="283"/>
            <p14:sldId id="284"/>
            <p14:sldId id="285"/>
            <p14:sldId id="268"/>
            <p14:sldId id="269"/>
            <p14:sldId id="270"/>
            <p14:sldId id="271"/>
            <p14:sldId id="272"/>
          </p14:sldIdLst>
        </p14:section>
        <p14:section name="Tutorial 7: One wheel in the air" id="{15A4C756-5AAD-B6F4-4B54-3AE35A79C2D0}">
          <p14:sldIdLst>
            <p14:sldId id="275"/>
          </p14:sldIdLst>
        </p14:section>
        <p14:section name="Tutorial 8: Different encoder configurations" id="{F0A30EB0-0238-282E-BFB9-8077164D9B37}">
          <p14:sldIdLst>
            <p14:sldId id="276"/>
          </p14:sldIdLst>
        </p14:section>
        <p14:section name="Tutorial 9: From model to PI controller" id="{5034BA26-1181-15A1-324D-6297C420E1C5}">
          <p14:sldIdLst>
            <p14:sldId id="277"/>
          </p14:sldIdLst>
        </p14:section>
        <p14:section name="Tutorial 10: Kinematics (straight lines) and state machine" id="{133B27CE-88CD-963A-FE03-1A971FCAB7C4}">
          <p14:sldIdLst>
            <p14:sldId id="278"/>
          </p14:sldIdLst>
        </p14:section>
        <p14:section name="Tutorial 11: Simulink to C" id="{E4A56D23-8994-95F3-95F2-D791053739AE}">
          <p14:sldIdLst>
            <p14:sldId id="279"/>
          </p14:sldIdLst>
        </p14:section>
        <p14:section name="Tutorial 12: Project clinic" id="{1AB8D8B8-50AB-FD7E-3BC3-610A4896CC9C}">
          <p14:sldIdLst>
            <p14:sldId id="280"/>
          </p14:sldIdLst>
        </p14:section>
        <p14:section name="Session 13" id="{01631E87-6DBF-B331-4EA6-570B30E763D1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5034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3AA45-F2E0-037B-CD44-708FF6422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AA9808-2FB7-F205-42FB-3B932C4A8B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656DB0-6FEE-0172-FAC6-F479BD1D0D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4D262C-0AF7-DC73-F414-1DF46E71E1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4135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F05C1-A725-5611-EA23-7D85158E6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E4CE4-5859-1B7B-07C4-24A0C1099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2C8627-C9E2-1480-5201-7FC4C50B23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6047C8-ED07-0146-FC7F-10AB29FFB2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8287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DC09D-0534-39FF-74C7-FCE12794D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59CBF2-ECB8-B5A6-9D2E-318CEFB33D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EF5B08-74D6-992B-2879-50A31DD9C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98DD5-5D18-AD29-5C51-7CD6CB5CAF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6550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71C98-4275-C678-8CA1-647567264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0EABB-4197-6434-4D34-728D408E36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70FCD9-9B85-7B38-A2DA-797C5CC40E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690A4-4A8D-EAB1-A093-385C145946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6741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54F8B-4E07-D277-5E13-C36E3F88B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952822-E7D9-B829-466E-629EFBB68A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E6B1E7-7100-762E-306D-3F2E05EAC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B194B4-E2FA-C424-116F-077B19B67C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2504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7AC62-C257-B0E2-AC9F-7CEE16CEF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F40AD1-44AA-3863-D9F3-E2A0F10489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AEF071-C384-90BE-CF11-87BB04B6A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89ABE8-8545-8745-4FDC-FC847F6E80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7678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C1657-FF30-C598-D80D-E94FCCB77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54C1C1-6624-AA87-13E2-AFEABD072C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B0B556-BAEE-BCA8-EF71-D53FCC28E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9DB69F-0761-2A93-F6F8-AB18471A6D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7078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1BB17-C911-430F-4C0C-BACE2DA54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4702B0-9C15-59F7-042E-2EA44CF27F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A707B2-35C9-EA5E-B9EA-0D27465A6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91462-65FC-2E5F-E2C4-91533C6D2E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1951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302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8586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7047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1459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6787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235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F6E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b="1" dirty="0">
                <a:solidFill>
                  <a:schemeClr val="bg2"/>
                </a:solidFill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  ·  2.11.2026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Getting Started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IL" dirty="0"/>
              <a:t>Course </a:t>
            </a:r>
            <a:r>
              <a:rPr lang="en-US" dirty="0"/>
              <a:t>p</a:t>
            </a:r>
            <a:r>
              <a:rPr lang="en-IL" dirty="0" err="1"/>
              <a:t>olicies</a:t>
            </a:r>
            <a:r>
              <a:rPr lang="en-US" dirty="0"/>
              <a:t>; C basic; where your code goes (USER CODE sections); </a:t>
            </a:r>
            <a:endParaRPr lang="en-IL" dirty="0"/>
          </a:p>
          <a:p>
            <a:r>
              <a:rPr lang="en-US" sz="1600" dirty="0">
                <a:solidFill>
                  <a:schemeClr val="bg1"/>
                </a:solidFill>
              </a:rPr>
              <a:t>Load *.</a:t>
            </a:r>
            <a:r>
              <a:rPr lang="en-US" sz="1600" dirty="0" err="1">
                <a:solidFill>
                  <a:schemeClr val="bg1"/>
                </a:solidFill>
              </a:rPr>
              <a:t>ioc</a:t>
            </a:r>
            <a:r>
              <a:rPr lang="en-US" sz="1600" dirty="0">
                <a:solidFill>
                  <a:schemeClr val="bg1"/>
                </a:solidFill>
              </a:rPr>
              <a:t>, build, flash and run; </a:t>
            </a:r>
            <a:r>
              <a:rPr lang="en-US" dirty="0"/>
              <a:t>the debugger: breakpoints, stepping, live expressions; 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9B9A9-F678-73C7-78BB-891104B17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BCBECB1-E353-24DC-4A0E-23CE738AC8EE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L" dirty="0"/>
              <a:t>Course Policies</a:t>
            </a:r>
            <a:r>
              <a:rPr lang="en-US" sz="2600" b="1" dirty="0">
                <a:solidFill>
                  <a:schemeClr val="tx2"/>
                </a:solidFill>
              </a:rPr>
              <a:t> </a:t>
            </a:r>
            <a:endParaRPr lang="en-US" sz="26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20283A70-04C6-2211-995B-71549252512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3" name="move card 1">
            <a:extLst>
              <a:ext uri="{FF2B5EF4-FFF2-40B4-BE49-F238E27FC236}">
                <a16:creationId xmlns:a16="http://schemas.microsoft.com/office/drawing/2014/main" id="{FD1D3C44-F9FA-DB6F-181B-17057FE395CF}"/>
              </a:ext>
            </a:extLst>
          </p:cNvPr>
          <p:cNvSpPr/>
          <p:nvPr/>
        </p:nvSpPr>
        <p:spPr>
          <a:xfrm>
            <a:off x="457200" y="1508760"/>
            <a:ext cx="3977640" cy="24688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move card 1 title">
            <a:extLst>
              <a:ext uri="{FF2B5EF4-FFF2-40B4-BE49-F238E27FC236}">
                <a16:creationId xmlns:a16="http://schemas.microsoft.com/office/drawing/2014/main" id="{F9B46452-D661-4F1A-F6B1-1EA3212550CE}"/>
              </a:ext>
            </a:extLst>
          </p:cNvPr>
          <p:cNvSpPr txBox="1"/>
          <p:nvPr/>
        </p:nvSpPr>
        <p:spPr>
          <a:xfrm>
            <a:off x="640080" y="160020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5" name="move card 1 steps">
            <a:extLst>
              <a:ext uri="{FF2B5EF4-FFF2-40B4-BE49-F238E27FC236}">
                <a16:creationId xmlns:a16="http://schemas.microsoft.com/office/drawing/2014/main" id="{98DF6A3D-D477-D8FB-EBE3-C4DBD0A004DD}"/>
              </a:ext>
            </a:extLst>
          </p:cNvPr>
          <p:cNvSpPr txBox="1"/>
          <p:nvPr/>
        </p:nvSpPr>
        <p:spPr>
          <a:xfrm>
            <a:off x="640080" y="205740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endParaRPr lang="en-US" sz="1300" dirty="0"/>
          </a:p>
        </p:txBody>
      </p:sp>
      <p:sp>
        <p:nvSpPr>
          <p:cNvPr id="6" name="move card 2">
            <a:extLst>
              <a:ext uri="{FF2B5EF4-FFF2-40B4-BE49-F238E27FC236}">
                <a16:creationId xmlns:a16="http://schemas.microsoft.com/office/drawing/2014/main" id="{25DE22F3-FC58-BCF1-905B-0DD075CFFD7B}"/>
              </a:ext>
            </a:extLst>
          </p:cNvPr>
          <p:cNvSpPr/>
          <p:nvPr/>
        </p:nvSpPr>
        <p:spPr>
          <a:xfrm>
            <a:off x="4709160" y="1508760"/>
            <a:ext cx="3977640" cy="24688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move card 2 title">
            <a:extLst>
              <a:ext uri="{FF2B5EF4-FFF2-40B4-BE49-F238E27FC236}">
                <a16:creationId xmlns:a16="http://schemas.microsoft.com/office/drawing/2014/main" id="{173062C2-44BC-636E-C159-EBB3EE065DDC}"/>
              </a:ext>
            </a:extLst>
          </p:cNvPr>
          <p:cNvSpPr txBox="1"/>
          <p:nvPr/>
        </p:nvSpPr>
        <p:spPr>
          <a:xfrm>
            <a:off x="4892040" y="160020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8" name="move card 2 steps">
            <a:extLst>
              <a:ext uri="{FF2B5EF4-FFF2-40B4-BE49-F238E27FC236}">
                <a16:creationId xmlns:a16="http://schemas.microsoft.com/office/drawing/2014/main" id="{7490BD90-2D95-1178-0EC6-C5ECA1B3F4A4}"/>
              </a:ext>
            </a:extLst>
          </p:cNvPr>
          <p:cNvSpPr txBox="1"/>
          <p:nvPr/>
        </p:nvSpPr>
        <p:spPr>
          <a:xfrm>
            <a:off x="4892040" y="205740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endParaRPr lang="en-US" sz="1300" dirty="0"/>
          </a:p>
        </p:txBody>
      </p:sp>
      <p:sp>
        <p:nvSpPr>
          <p:cNvPr id="9" name="move note">
            <a:extLst>
              <a:ext uri="{FF2B5EF4-FFF2-40B4-BE49-F238E27FC236}">
                <a16:creationId xmlns:a16="http://schemas.microsoft.com/office/drawing/2014/main" id="{A5E3CAEC-254B-3C2C-3A15-872B87E62545}"/>
              </a:ext>
            </a:extLst>
          </p:cNvPr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</a:rPr>
              <a:t>TBD</a:t>
            </a:r>
            <a:endParaRPr lang="en-US" sz="1300" dirty="0"/>
          </a:p>
        </p:txBody>
      </p:sp>
      <p:sp>
        <p:nvSpPr>
          <p:cNvPr id="10" name="move note">
            <a:extLst>
              <a:ext uri="{FF2B5EF4-FFF2-40B4-BE49-F238E27FC236}">
                <a16:creationId xmlns:a16="http://schemas.microsoft.com/office/drawing/2014/main" id="{5DC8C92A-D1F6-06A1-F133-CD632FBCE5C4}"/>
              </a:ext>
            </a:extLst>
          </p:cNvPr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8017837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From a .ioc file to a CubeIDE project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3" name="move card 1"/>
          <p:cNvSpPr/>
          <p:nvPr/>
        </p:nvSpPr>
        <p:spPr>
          <a:xfrm>
            <a:off x="457200" y="1508760"/>
            <a:ext cx="3977640" cy="24688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move card 1 title"/>
          <p:cNvSpPr txBox="1"/>
          <p:nvPr/>
        </p:nvSpPr>
        <p:spPr>
          <a:xfrm>
            <a:off x="640080" y="160020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E43"/>
                </a:solidFill>
              </a:rPr>
              <a:t>1. STM32CubeMX: generate</a:t>
            </a:r>
            <a:endParaRPr lang="en-US" sz="1800" dirty="0"/>
          </a:p>
        </p:txBody>
      </p:sp>
      <p:sp>
        <p:nvSpPr>
          <p:cNvPr id="5" name="move card 1 steps"/>
          <p:cNvSpPr txBox="1"/>
          <p:nvPr/>
        </p:nvSpPr>
        <p:spPr>
          <a:xfrm>
            <a:off x="640080" y="205740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Open the .ioc: File &gt; Load Project (or double-click it)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Asked to migrate to a newer version? Accept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Project Manager &gt; Project: Toolchain / IDE = STM32CubeIDE, Generate Under Root ticked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GENERATE CODE: creates Core, Drivers, the .ld files and the CubeIDE project files</a:t>
            </a:r>
            <a:endParaRPr lang="en-US" sz="1300" dirty="0"/>
          </a:p>
        </p:txBody>
      </p:sp>
      <p:sp>
        <p:nvSpPr>
          <p:cNvPr id="6" name="move card 2"/>
          <p:cNvSpPr/>
          <p:nvPr/>
        </p:nvSpPr>
        <p:spPr>
          <a:xfrm>
            <a:off x="4709160" y="1508760"/>
            <a:ext cx="3977640" cy="24688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move card 2 title"/>
          <p:cNvSpPr txBox="1"/>
          <p:nvPr/>
        </p:nvSpPr>
        <p:spPr>
          <a:xfrm>
            <a:off x="4892040" y="160020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E43"/>
                </a:solidFill>
              </a:rPr>
              <a:t>2. STM32CubeIDE: import and build</a:t>
            </a:r>
            <a:endParaRPr lang="en-US" sz="1800" dirty="0"/>
          </a:p>
        </p:txBody>
      </p:sp>
      <p:sp>
        <p:nvSpPr>
          <p:cNvPr id="8" name="move card 2 steps"/>
          <p:cNvSpPr txBox="1"/>
          <p:nvPr/>
        </p:nvSpPr>
        <p:spPr>
          <a:xfrm>
            <a:off x="4892040" y="205740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File &gt; Import &gt; STM32CubeMX/STM32CubeIDE Project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Select the folder with the .ioc &gt; Finish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Build (hammer icon): 0 errors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Run &gt; Debug flashes the board and starts the debugger</a:t>
            </a:r>
            <a:endParaRPr lang="en-US" sz="1300" dirty="0"/>
          </a:p>
        </p:txBody>
      </p:sp>
      <p:sp>
        <p:nvSpPr>
          <p:cNvPr id="9" name="move note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</a:rPr>
              <a:t>CubeIDE 2.x has no built-in CubeMX: you need both programs. Put the .ioc alone in a folder with the same name, e.g. ass1/ass1.ioc.</a:t>
            </a:r>
            <a:endParaRPr lang="en-US" sz="1300" dirty="0"/>
          </a:p>
        </p:txBody>
      </p:sp>
      <p:sp>
        <p:nvSpPr>
          <p:cNvPr id="10" name="move note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</a:rPr>
              <a:t>Changing the .ioc later: edit it in CubeMX, GENERATE CODE again, then Refresh (F5) in CubeIDE and rebuild. Only your code inside USER CODE sections survives (next slide).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Your code goes between USER CODE markers</a:t>
            </a:r>
            <a:endParaRPr lang="en-US" sz="2600" dirty="0"/>
          </a:p>
        </p:txBody>
      </p:sp>
      <p:sp>
        <p:nvSpPr>
          <p:cNvPr id="3" name="rule bullets"/>
          <p:cNvSpPr txBox="1"/>
          <p:nvPr/>
        </p:nvSpPr>
        <p:spPr>
          <a:xfrm>
            <a:off x="457200" y="10972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CubeMX generates main.c and the other project files from the .ioc.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Every time you change the .ioc and press Generate Code, the files are rewritten.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Code between USER CODE BEGIN and USER CODE END is kept.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B23A48"/>
                </a:solidFill>
              </a:rPr>
              <a:t>Code anywhere else is deleted, without a warning.</a:t>
            </a:r>
            <a:endParaRPr lang="en-US" sz="1500" dirty="0"/>
          </a:p>
        </p:txBody>
      </p:sp>
      <p:sp>
        <p:nvSpPr>
          <p:cNvPr id="4" name="rule box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rule code"/>
          <p:cNvSpPr txBox="1"/>
          <p:nvPr/>
        </p:nvSpPr>
        <p:spPr>
          <a:xfrm>
            <a:off x="4800600" y="1188720"/>
            <a:ext cx="3749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main(void)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BEGIN 1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uint32_t counter = 0;   // kept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END 1 */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HAL_Init();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counter = 5;   // DELETED on regenerate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BEGIN 2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END 2 */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main.c sections before main()</a:t>
            </a:r>
            <a:endParaRPr lang="en-US" sz="2600" dirty="0"/>
          </a:p>
        </p:txBody>
      </p:sp>
      <p:graphicFrame>
        <p:nvGraphicFramePr>
          <p:cNvPr id="5" name="sections 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687273"/>
              </p:ext>
            </p:extLst>
          </p:nvPr>
        </p:nvGraphicFramePr>
        <p:xfrm>
          <a:off x="457200" y="923544"/>
          <a:ext cx="8229600" cy="2962656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Section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it sits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 goes there (example)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Header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File comment at the very top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What the program does, author, date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Includes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#include lines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#include &lt;stdio.h&gt;, your own .h files</a:t>
                      </a: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charset="0"/>
                          <a:ea typeface="Courier New" pitchFamily="34" charset="-122"/>
                          <a:cs typeface="Courier New" charset="0"/>
                        </a:rPr>
                        <a:t> ***</a:t>
                      </a:r>
                      <a:endParaRPr lang="en-US" sz="1050" dirty="0">
                        <a:solidFill>
                          <a:srgbClr val="1C1C1C"/>
                        </a:solidFill>
                        <a:latin typeface="Courier New" pitchFamily="34" charset="0"/>
                        <a:ea typeface="Courier New" pitchFamily="34" charset="-122"/>
                        <a:cs typeface="Courier New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PTD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typedefs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typedef enum { IDLE, RUN } state_t;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defines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#define N_LEDS 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macros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#define SET_BIT_N(x,n) ((x) |= 1u &lt;&lt; (n))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PV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(global) variables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volatile uint8_t state = 0;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PFP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function prototypes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static void blinkLed(uint32_t ms);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Your function definitions, before main()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static void blinkLed(uint32_t ms) { ... 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sections note 1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5C5C"/>
                </a:solidFill>
              </a:rPr>
              <a:t>In the file each section looks like /* USER CODE BEGIN PV */ ... /* USER CODE END PV */</a:t>
            </a:r>
          </a:p>
          <a:p>
            <a:pPr marL="0" indent="0">
              <a:buNone/>
            </a:pPr>
            <a:endParaRPr lang="en-US" sz="1200" i="1" dirty="0">
              <a:solidFill>
                <a:srgbClr val="5C5C5C"/>
              </a:solidFill>
            </a:endParaRPr>
          </a:p>
          <a:p>
            <a:pPr marL="0" indent="0">
              <a:buNone/>
            </a:pPr>
            <a:r>
              <a:rPr lang="en-US" sz="1200" i="1" dirty="0">
                <a:solidFill>
                  <a:srgbClr val="5C5C5C"/>
                </a:solidFill>
              </a:rPr>
              <a:t>*** For a separated *.c file, provided by someone \ written by you, you should (for the sake of example, you have the files of code1.c, code1.h.  put code1.h into Core/Inc and code1.c into Core/</a:t>
            </a:r>
            <a:r>
              <a:rPr lang="en-US" sz="1200" i="1" dirty="0" err="1">
                <a:solidFill>
                  <a:srgbClr val="5C5C5C"/>
                </a:solidFill>
              </a:rPr>
              <a:t>Src</a:t>
            </a:r>
            <a:r>
              <a:rPr lang="en-US" sz="1200" i="1" dirty="0">
                <a:solidFill>
                  <a:srgbClr val="5C5C5C"/>
                </a:solidFill>
              </a:rPr>
              <a:t>. 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main.c sections inside and after main()</a:t>
            </a:r>
            <a:endParaRPr lang="en-US" sz="2600" dirty="0"/>
          </a:p>
        </p:txBody>
      </p:sp>
      <p:graphicFrame>
        <p:nvGraphicFramePr>
          <p:cNvPr id="6" name="sections 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279806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Section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it sits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 goes there (example)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Start of main(), before HAL_Init()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Local variables of main()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HAL_Init(), before the clock setup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Rarely used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SysInit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the clock setup, before peripheral init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Rarely used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all MX_..._Init() calls, before the loop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One-time setup: start timers, print a banner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WHILE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Inside while (1), first part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The main loop: your program's work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Inside while (1), after END WHILE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Also runs every pass (CubeMX splits the loop in two)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main()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Callbacks, e.g. HAL_TIM_PeriodElapsedCallback; more functions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sections note 2"/>
          <p:cNvSpPr txBox="1"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5C5C"/>
                </a:solidFill>
              </a:rPr>
              <a:t>Peripheral init functions have their own sections too, e.g. TIM2_Init 0, 1 and 2.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PFP: why declare a function before defining it?</a:t>
            </a:r>
            <a:endParaRPr lang="en-US" sz="2600" dirty="0"/>
          </a:p>
        </p:txBody>
      </p:sp>
      <p:sp>
        <p:nvSpPr>
          <p:cNvPr id="3" name="pfp bullets"/>
          <p:cNvSpPr txBox="1"/>
          <p:nvPr/>
        </p:nvSpPr>
        <p:spPr>
          <a:xfrm>
            <a:off x="457200" y="10972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The compiler reads the file once, top to bottom.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A function must be declared before the first line that calls 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A prototype in PFP announces name, inputs and output, so the full definition can come anywhere later.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Bonus: the PFP list is a table of contents of the file.</a:t>
            </a:r>
            <a:endParaRPr lang="en-US" sz="1500" dirty="0"/>
          </a:p>
        </p:txBody>
      </p:sp>
      <p:sp>
        <p:nvSpPr>
          <p:cNvPr id="4" name="pfp box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pfp code"/>
          <p:cNvSpPr txBox="1"/>
          <p:nvPr/>
        </p:nvSpPr>
        <p:spPr>
          <a:xfrm>
            <a:off x="4800600" y="1188720"/>
            <a:ext cx="3749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BEGIN PFP */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blinkLed(uint32_t ms);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END PFP */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main(void)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blinkLed(500);   // OK: already declared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BEGIN 4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blinkLed(uint32_t ms) { ... }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END 4 */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Header (.h) and source (.c): the same idea across files</a:t>
            </a:r>
            <a:endParaRPr lang="en-US" sz="2600" dirty="0"/>
          </a:p>
        </p:txBody>
      </p:sp>
      <p:sp>
        <p:nvSpPr>
          <p:cNvPr id="3" name="file card 1"/>
          <p:cNvSpPr/>
          <p:nvPr/>
        </p:nvSpPr>
        <p:spPr>
          <a:xfrm>
            <a:off x="45720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file card 1 title"/>
          <p:cNvSpPr txBox="1"/>
          <p:nvPr/>
        </p:nvSpPr>
        <p:spPr>
          <a:xfrm>
            <a:off x="640080" y="1188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io_board.h</a:t>
            </a:r>
            <a:endParaRPr lang="en-US" sz="1600" dirty="0"/>
          </a:p>
        </p:txBody>
      </p:sp>
      <p:sp>
        <p:nvSpPr>
          <p:cNvPr id="5" name="file card 1 sub"/>
          <p:cNvSpPr txBox="1"/>
          <p:nvPr/>
        </p:nvSpPr>
        <p:spPr>
          <a:xfrm>
            <a:off x="64008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</a:rPr>
              <a:t>Declarations: what exists, how to call it</a:t>
            </a:r>
            <a:endParaRPr lang="en-US" sz="1300" dirty="0"/>
          </a:p>
        </p:txBody>
      </p:sp>
      <p:sp>
        <p:nvSpPr>
          <p:cNvPr id="6" name="file card 1 code"/>
          <p:cNvSpPr txBox="1"/>
          <p:nvPr/>
        </p:nvSpPr>
        <p:spPr>
          <a:xfrm>
            <a:off x="640080" y="192024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uint8_t readButtonsRaw(void);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   allRgbOff(void);</a:t>
            </a:r>
            <a:endParaRPr lang="en-US" sz="1100" dirty="0"/>
          </a:p>
        </p:txBody>
      </p:sp>
      <p:sp>
        <p:nvSpPr>
          <p:cNvPr id="7" name="file card 2"/>
          <p:cNvSpPr/>
          <p:nvPr/>
        </p:nvSpPr>
        <p:spPr>
          <a:xfrm>
            <a:off x="470916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file card 2 title"/>
          <p:cNvSpPr txBox="1"/>
          <p:nvPr/>
        </p:nvSpPr>
        <p:spPr>
          <a:xfrm>
            <a:off x="4892040" y="1188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io_board.c</a:t>
            </a:r>
            <a:endParaRPr lang="en-US" sz="1600" dirty="0"/>
          </a:p>
        </p:txBody>
      </p:sp>
      <p:sp>
        <p:nvSpPr>
          <p:cNvPr id="9" name="file card 2 sub"/>
          <p:cNvSpPr txBox="1"/>
          <p:nvPr/>
        </p:nvSpPr>
        <p:spPr>
          <a:xfrm>
            <a:off x="48920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</a:rPr>
              <a:t>Definitions: the code itself</a:t>
            </a:r>
            <a:endParaRPr lang="en-US" sz="1300" dirty="0"/>
          </a:p>
        </p:txBody>
      </p:sp>
      <p:sp>
        <p:nvSpPr>
          <p:cNvPr id="10" name="file card 2 code"/>
          <p:cNvSpPr txBox="1"/>
          <p:nvPr/>
        </p:nvSpPr>
        <p:spPr>
          <a:xfrm>
            <a:off x="4892040" y="192024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uint8_t readButtonsRaw(void)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/* ... HAL_I2C_Mem_Read ...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plit bullets"/>
          <p:cNvSpPr txBox="1"/>
          <p:nvPr/>
        </p:nvSpPr>
        <p:spPr>
          <a:xfrm>
            <a:off x="457200" y="32918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main.c: #include "io_board.h", the .h only, never the .c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CubeIDE compiles every .c in Core/Src by itself; the linker joins main.o and io_board.o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B23A48"/>
                </a:solidFill>
              </a:rPr>
              <a:t>Including the .c compiles its functions twice: "multiple definition" error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The same rule in the other generated files</a:t>
            </a:r>
            <a:endParaRPr lang="en-US" sz="2600" dirty="0"/>
          </a:p>
        </p:txBody>
      </p:sp>
      <p:sp>
        <p:nvSpPr>
          <p:cNvPr id="3" name="card 1"/>
          <p:cNvSpPr/>
          <p:nvPr/>
        </p:nvSpPr>
        <p:spPr>
          <a:xfrm>
            <a:off x="45720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card 1 title"/>
          <p:cNvSpPr txBox="1"/>
          <p:nvPr/>
        </p:nvSpPr>
        <p:spPr>
          <a:xfrm>
            <a:off x="64008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main.h</a:t>
            </a:r>
            <a:endParaRPr lang="en-US" sz="1600" dirty="0"/>
          </a:p>
        </p:txBody>
      </p:sp>
      <p:sp>
        <p:nvSpPr>
          <p:cNvPr id="5" name="card 1 text"/>
          <p:cNvSpPr txBox="1"/>
          <p:nvPr/>
        </p:nvSpPr>
        <p:spPr>
          <a:xfrm>
            <a:off x="64008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C1C1C"/>
                </a:solidFill>
              </a:rPr>
              <a:t>Includes, ET (exported types), EC (constants), EM (macros), EFP (function prototypes), Private defines. Things other .c files need to see.</a:t>
            </a:r>
            <a:endParaRPr lang="en-US" sz="1400" dirty="0"/>
          </a:p>
        </p:txBody>
      </p:sp>
      <p:sp>
        <p:nvSpPr>
          <p:cNvPr id="6" name="card 2"/>
          <p:cNvSpPr/>
          <p:nvPr/>
        </p:nvSpPr>
        <p:spPr>
          <a:xfrm>
            <a:off x="324612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card 2 title"/>
          <p:cNvSpPr txBox="1"/>
          <p:nvPr/>
        </p:nvSpPr>
        <p:spPr>
          <a:xfrm>
            <a:off x="342900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stm32g4xx_it.c</a:t>
            </a:r>
            <a:endParaRPr lang="en-US" sz="1600" dirty="0"/>
          </a:p>
        </p:txBody>
      </p:sp>
      <p:sp>
        <p:nvSpPr>
          <p:cNvPr id="8" name="card 2 text"/>
          <p:cNvSpPr txBox="1"/>
          <p:nvPr/>
        </p:nvSpPr>
        <p:spPr>
          <a:xfrm>
            <a:off x="342900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C1C1C"/>
                </a:solidFill>
              </a:rPr>
              <a:t>Interrupt handlers. Each has sections 0 (before the HAL handler) and 1 (after it). Usually leave them alone and use the HAL callbacks.</a:t>
            </a:r>
            <a:endParaRPr lang="en-US" sz="1400" dirty="0"/>
          </a:p>
        </p:txBody>
      </p:sp>
      <p:sp>
        <p:nvSpPr>
          <p:cNvPr id="9" name="card 3"/>
          <p:cNvSpPr/>
          <p:nvPr/>
        </p:nvSpPr>
        <p:spPr>
          <a:xfrm>
            <a:off x="603504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card 3 title"/>
          <p:cNvSpPr txBox="1"/>
          <p:nvPr/>
        </p:nvSpPr>
        <p:spPr>
          <a:xfrm>
            <a:off x="621792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own files</a:t>
            </a:r>
            <a:endParaRPr lang="en-US" sz="1600" dirty="0"/>
          </a:p>
        </p:txBody>
      </p:sp>
      <p:sp>
        <p:nvSpPr>
          <p:cNvPr id="11" name="card 3 text"/>
          <p:cNvSpPr txBox="1"/>
          <p:nvPr/>
        </p:nvSpPr>
        <p:spPr>
          <a:xfrm>
            <a:off x="621792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C1C1C"/>
                </a:solidFill>
              </a:rPr>
              <a:t>New .c files in Core/Src and .h files in Core/Inc are never touched by CubeMX. The safest place for larger code.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/>
              <a:t>Archive </a:t>
            </a:r>
            <a:r>
              <a:rPr lang="en-US" sz="2000" dirty="0"/>
              <a:t>(both for </a:t>
            </a:r>
            <a:r>
              <a:rPr lang="en-US" sz="2000" b="1" dirty="0">
                <a:solidFill>
                  <a:schemeClr val="tx2"/>
                </a:solidFill>
              </a:rPr>
              <a:t>Moving a project to another PC, and for submitting!)</a:t>
            </a:r>
            <a:endParaRPr lang="en-US" sz="2600" dirty="0"/>
          </a:p>
        </p:txBody>
      </p:sp>
      <p:sp>
        <p:nvSpPr>
          <p:cNvPr id="3" name="move card 1"/>
          <p:cNvSpPr/>
          <p:nvPr/>
        </p:nvSpPr>
        <p:spPr>
          <a:xfrm>
            <a:off x="45720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move card 1 title"/>
          <p:cNvSpPr txBox="1"/>
          <p:nvPr/>
        </p:nvSpPr>
        <p:spPr>
          <a:xfrm>
            <a:off x="64008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E43"/>
                </a:solidFill>
              </a:rPr>
              <a:t>Pack (your PC)</a:t>
            </a:r>
            <a:endParaRPr lang="en-US" sz="1800" dirty="0"/>
          </a:p>
        </p:txBody>
      </p:sp>
      <p:sp>
        <p:nvSpPr>
          <p:cNvPr id="5" name="move card 1 steps"/>
          <p:cNvSpPr txBox="1"/>
          <p:nvPr/>
        </p:nvSpPr>
        <p:spPr>
          <a:xfrm>
            <a:off x="640080" y="16459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Right-click the project &gt; Refresh (F5)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Right-click &gt; Export &gt; General &gt; Archive File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Untick the Debug folder (build output)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Save as project.zip, Finish</a:t>
            </a:r>
            <a:endParaRPr lang="en-US" sz="1300" dirty="0"/>
          </a:p>
        </p:txBody>
      </p:sp>
      <p:sp>
        <p:nvSpPr>
          <p:cNvPr id="6" name="move card 2"/>
          <p:cNvSpPr/>
          <p:nvPr/>
        </p:nvSpPr>
        <p:spPr>
          <a:xfrm>
            <a:off x="470916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move card 2 title"/>
          <p:cNvSpPr txBox="1"/>
          <p:nvPr/>
        </p:nvSpPr>
        <p:spPr>
          <a:xfrm>
            <a:off x="489204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E43"/>
                </a:solidFill>
              </a:rPr>
              <a:t>Open (other PC)</a:t>
            </a:r>
            <a:endParaRPr lang="en-US" sz="1800" dirty="0"/>
          </a:p>
        </p:txBody>
      </p:sp>
      <p:sp>
        <p:nvSpPr>
          <p:cNvPr id="8" name="move card 2 steps"/>
          <p:cNvSpPr txBox="1"/>
          <p:nvPr/>
        </p:nvSpPr>
        <p:spPr>
          <a:xfrm>
            <a:off x="4892040" y="16459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File &gt; Import &gt; General &gt; Existing Projects into Workspace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Select archive file &gt; the .zip (do not unzip it)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Tick the project &gt; Finish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Build, then Debug</a:t>
            </a:r>
            <a:endParaRPr lang="en-US" sz="1300" dirty="0"/>
          </a:p>
        </p:txBody>
      </p:sp>
      <p:sp>
        <p:nvSpPr>
          <p:cNvPr id="9" name="move note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</a:rPr>
              <a:t>Project greyed out in the import list? A project with the same name is already in the workspace: delete it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F4318-ECE6-A232-2B71-DCF020B0B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13C8FD2-7267-5623-8057-714A559C084F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274320" y="-45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/>
              <a:t>Live example</a:t>
            </a:r>
            <a:endParaRPr lang="en-US" sz="2600" dirty="0"/>
          </a:p>
        </p:txBody>
      </p:sp>
      <p:sp>
        <p:nvSpPr>
          <p:cNvPr id="8" name="move card 2 steps">
            <a:extLst>
              <a:ext uri="{FF2B5EF4-FFF2-40B4-BE49-F238E27FC236}">
                <a16:creationId xmlns:a16="http://schemas.microsoft.com/office/drawing/2014/main" id="{54B56622-99D0-1FD5-B43E-D0F2E73975C2}"/>
              </a:ext>
            </a:extLst>
          </p:cNvPr>
          <p:cNvSpPr txBox="1"/>
          <p:nvPr/>
        </p:nvSpPr>
        <p:spPr>
          <a:xfrm>
            <a:off x="4892040" y="16459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endParaRPr lang="en-US" sz="1300" dirty="0"/>
          </a:p>
        </p:txBody>
      </p:sp>
      <p:sp>
        <p:nvSpPr>
          <p:cNvPr id="9" name="move note">
            <a:extLst>
              <a:ext uri="{FF2B5EF4-FFF2-40B4-BE49-F238E27FC236}">
                <a16:creationId xmlns:a16="http://schemas.microsoft.com/office/drawing/2014/main" id="{008E41E5-3EAD-627D-8B16-0827A252D1B7}"/>
              </a:ext>
            </a:extLst>
          </p:cNvPr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7AE02649-8BDD-A22E-BDAF-A605798CBB1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3F31AA9-5A92-9462-49C6-788112CBD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3892791"/>
              </p:ext>
            </p:extLst>
          </p:nvPr>
        </p:nvGraphicFramePr>
        <p:xfrm>
          <a:off x="457200" y="537853"/>
          <a:ext cx="7769134" cy="41343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4567">
                  <a:extLst>
                    <a:ext uri="{9D8B030D-6E8A-4147-A177-3AD203B41FA5}">
                      <a16:colId xmlns:a16="http://schemas.microsoft.com/office/drawing/2014/main" val="915218945"/>
                    </a:ext>
                  </a:extLst>
                </a:gridCol>
                <a:gridCol w="3884567">
                  <a:extLst>
                    <a:ext uri="{9D8B030D-6E8A-4147-A177-3AD203B41FA5}">
                      <a16:colId xmlns:a16="http://schemas.microsoft.com/office/drawing/2014/main" val="1288884798"/>
                    </a:ext>
                  </a:extLst>
                </a:gridCol>
              </a:tblGrid>
              <a:tr h="325961">
                <a:tc>
                  <a:txBody>
                    <a:bodyPr/>
                    <a:lstStyle/>
                    <a:p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869881"/>
                  </a:ext>
                </a:extLst>
              </a:tr>
              <a:tr h="570432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1C1C1C"/>
                          </a:solidFill>
                        </a:rPr>
                        <a:t>Load *.</a:t>
                      </a:r>
                      <a:r>
                        <a:rPr lang="en-US" sz="1800" dirty="0" err="1">
                          <a:solidFill>
                            <a:srgbClr val="1C1C1C"/>
                          </a:solidFill>
                        </a:rPr>
                        <a:t>ioc</a:t>
                      </a:r>
                      <a:r>
                        <a:rPr lang="en-US" sz="1800" dirty="0">
                          <a:solidFill>
                            <a:srgbClr val="1C1C1C"/>
                          </a:solidFill>
                        </a:rPr>
                        <a:t> into </a:t>
                      </a:r>
                      <a:r>
                        <a:rPr lang="en-US" sz="1800" dirty="0" err="1">
                          <a:solidFill>
                            <a:srgbClr val="1C1C1C"/>
                          </a:solidFill>
                        </a:rPr>
                        <a:t>cubeMx</a:t>
                      </a:r>
                      <a:endParaRPr lang="en-US" sz="1800" dirty="0">
                        <a:solidFill>
                          <a:srgbClr val="1C1C1C"/>
                        </a:solidFill>
                      </a:endParaRPr>
                    </a:p>
                    <a:p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773890"/>
                  </a:ext>
                </a:extLst>
              </a:tr>
              <a:tr h="1025419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1C1C1C"/>
                          </a:solidFill>
                        </a:rPr>
                        <a:t>Define in PV:</a:t>
                      </a:r>
                    </a:p>
                    <a:p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>
                        <a:spcAft>
                          <a:spcPts val="500"/>
                        </a:spcAft>
                        <a:buSzPct val="100000"/>
                      </a:pPr>
                      <a:r>
                        <a:rPr lang="en-IL" sz="1300" dirty="0" err="1">
                          <a:solidFill>
                            <a:srgbClr val="1C1C1C"/>
                          </a:solidFill>
                        </a:rPr>
                        <a:t>uint</a:t>
                      </a: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32</a:t>
                      </a:r>
                      <a:r>
                        <a:rPr lang="en-IL" sz="1300" dirty="0">
                          <a:solidFill>
                            <a:srgbClr val="1C1C1C"/>
                          </a:solidFill>
                        </a:rPr>
                        <a:t>_t </a:t>
                      </a:r>
                      <a:r>
                        <a:rPr lang="en-US" sz="1300" dirty="0" err="1">
                          <a:solidFill>
                            <a:srgbClr val="1C1C1C"/>
                          </a:solidFill>
                        </a:rPr>
                        <a:t>wCounter</a:t>
                      </a: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=0;</a:t>
                      </a:r>
                    </a:p>
                    <a:p>
                      <a:pPr lvl="1">
                        <a:spcAft>
                          <a:spcPts val="500"/>
                        </a:spcAft>
                        <a:buSzPct val="100000"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uint8_t </a:t>
                      </a:r>
                      <a:r>
                        <a:rPr lang="en-US" sz="1300" dirty="0" err="1">
                          <a:solidFill>
                            <a:srgbClr val="1C1C1C"/>
                          </a:solidFill>
                        </a:rPr>
                        <a:t>aVar</a:t>
                      </a: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=0;</a:t>
                      </a:r>
                    </a:p>
                    <a:p>
                      <a:endParaRPr lang="en-I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9951818"/>
                  </a:ext>
                </a:extLst>
              </a:tr>
              <a:tr h="1059373">
                <a:tc>
                  <a:txBody>
                    <a:bodyPr/>
                    <a:lstStyle/>
                    <a:p>
                      <a:r>
                        <a:rPr lang="en-US" dirty="0"/>
                        <a:t>Put in the while section</a:t>
                      </a:r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800" dirty="0" err="1">
                          <a:solidFill>
                            <a:srgbClr val="1C1C1C"/>
                          </a:solidFill>
                        </a:rPr>
                        <a:t>wCounter</a:t>
                      </a:r>
                      <a:r>
                        <a:rPr lang="en-IL" sz="1800" dirty="0">
                          <a:solidFill>
                            <a:srgbClr val="1C1C1C"/>
                          </a:solidFill>
                        </a:rPr>
                        <a:t> ++;</a:t>
                      </a:r>
                    </a:p>
                    <a:p>
                      <a:r>
                        <a:rPr lang="en-IL" sz="1800" dirty="0">
                          <a:solidFill>
                            <a:srgbClr val="1C1C1C"/>
                          </a:solidFill>
                        </a:rPr>
                        <a:t>a ++;</a:t>
                      </a:r>
                    </a:p>
                    <a:p>
                      <a:endParaRPr lang="en-US" sz="1800" dirty="0">
                        <a:solidFill>
                          <a:srgbClr val="1C1C1C"/>
                        </a:solidFill>
                      </a:endParaRPr>
                    </a:p>
                    <a:p>
                      <a:r>
                        <a:rPr lang="en-US" sz="1800" dirty="0">
                          <a:solidFill>
                            <a:srgbClr val="1C1C1C"/>
                          </a:solidFill>
                        </a:rPr>
                        <a:t>Bug!  </a:t>
                      </a:r>
                    </a:p>
                    <a:p>
                      <a:r>
                        <a:rPr lang="en-US" sz="1800" dirty="0">
                          <a:solidFill>
                            <a:srgbClr val="1C1C1C"/>
                          </a:solidFill>
                        </a:rPr>
                        <a:t>Comment with // or /* </a:t>
                      </a:r>
                      <a:r>
                        <a:rPr lang="en-US" sz="1800" dirty="0" err="1">
                          <a:solidFill>
                            <a:srgbClr val="1C1C1C"/>
                          </a:solidFill>
                        </a:rPr>
                        <a:t>bla</a:t>
                      </a:r>
                      <a:r>
                        <a:rPr lang="en-US" sz="1800" dirty="0">
                          <a:solidFill>
                            <a:srgbClr val="1C1C1C"/>
                          </a:solidFill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C1C1C"/>
                          </a:solidFill>
                        </a:rPr>
                        <a:t>bla</a:t>
                      </a:r>
                      <a:r>
                        <a:rPr lang="en-US" sz="1800" dirty="0">
                          <a:solidFill>
                            <a:srgbClr val="1C1C1C"/>
                          </a:solidFill>
                        </a:rPr>
                        <a:t> */</a:t>
                      </a:r>
                      <a:endParaRPr lang="en-IL" sz="1800" dirty="0">
                        <a:solidFill>
                          <a:srgbClr val="1C1C1C"/>
                        </a:solidFill>
                      </a:endParaRPr>
                    </a:p>
                    <a:p>
                      <a:r>
                        <a:rPr lang="en-US" dirty="0"/>
                        <a:t>Fix the bug!</a:t>
                      </a:r>
                      <a:endParaRPr lang="en-I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3256463"/>
                  </a:ext>
                </a:extLst>
              </a:tr>
              <a:tr h="325961">
                <a:tc>
                  <a:txBody>
                    <a:bodyPr/>
                    <a:lstStyle/>
                    <a:p>
                      <a:r>
                        <a:rPr lang="en-US" dirty="0"/>
                        <a:t>Watch in live expressions</a:t>
                      </a:r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58657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561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2  ·  9.11.2026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Numbers and bits on the board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dirty="0"/>
              <a:t>variables overflow; blink LD2; </a:t>
            </a:r>
            <a:r>
              <a:rPr lang="en-US" dirty="0" err="1"/>
              <a:t>printf</a:t>
            </a:r>
            <a:r>
              <a:rPr lang="en-US" dirty="0"/>
              <a:t> to </a:t>
            </a:r>
            <a:r>
              <a:rPr lang="en-US"/>
              <a:t>PuTTY ;</a:t>
            </a:r>
            <a:r>
              <a:rPr lang="en-US" sz="1600">
                <a:solidFill>
                  <a:schemeClr val="bg1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the four bit idioms: set, clear, toggle, test.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A9C27-6AFB-F01E-C30F-D9CC7F178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6F487-EF98-61C7-1265-C4DE615AC087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274320" y="-45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/>
              <a:t>Live example 1 - overflow</a:t>
            </a:r>
            <a:endParaRPr lang="en-US" sz="2600" dirty="0"/>
          </a:p>
        </p:txBody>
      </p:sp>
      <p:sp>
        <p:nvSpPr>
          <p:cNvPr id="8" name="move card 2 steps">
            <a:extLst>
              <a:ext uri="{FF2B5EF4-FFF2-40B4-BE49-F238E27FC236}">
                <a16:creationId xmlns:a16="http://schemas.microsoft.com/office/drawing/2014/main" id="{C821A90A-A14B-19A3-CE2C-58A34499039D}"/>
              </a:ext>
            </a:extLst>
          </p:cNvPr>
          <p:cNvSpPr txBox="1"/>
          <p:nvPr/>
        </p:nvSpPr>
        <p:spPr>
          <a:xfrm>
            <a:off x="4892040" y="16459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endParaRPr lang="en-US" sz="1300" dirty="0"/>
          </a:p>
        </p:txBody>
      </p:sp>
      <p:sp>
        <p:nvSpPr>
          <p:cNvPr id="9" name="move note">
            <a:extLst>
              <a:ext uri="{FF2B5EF4-FFF2-40B4-BE49-F238E27FC236}">
                <a16:creationId xmlns:a16="http://schemas.microsoft.com/office/drawing/2014/main" id="{91A5508E-930F-686B-E2AD-653D750B1363}"/>
              </a:ext>
            </a:extLst>
          </p:cNvPr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36E707E0-BA83-8CED-EF60-652B327CC53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062F3A6-8A3E-8AFC-F0AB-FC095E4B6D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218522"/>
              </p:ext>
            </p:extLst>
          </p:nvPr>
        </p:nvGraphicFramePr>
        <p:xfrm>
          <a:off x="457200" y="537853"/>
          <a:ext cx="7769134" cy="4533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4567">
                  <a:extLst>
                    <a:ext uri="{9D8B030D-6E8A-4147-A177-3AD203B41FA5}">
                      <a16:colId xmlns:a16="http://schemas.microsoft.com/office/drawing/2014/main" val="915218945"/>
                    </a:ext>
                  </a:extLst>
                </a:gridCol>
                <a:gridCol w="3884567">
                  <a:extLst>
                    <a:ext uri="{9D8B030D-6E8A-4147-A177-3AD203B41FA5}">
                      <a16:colId xmlns:a16="http://schemas.microsoft.com/office/drawing/2014/main" val="1288884798"/>
                    </a:ext>
                  </a:extLst>
                </a:gridCol>
              </a:tblGrid>
              <a:tr h="325961">
                <a:tc>
                  <a:txBody>
                    <a:bodyPr/>
                    <a:lstStyle/>
                    <a:p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869881"/>
                  </a:ext>
                </a:extLst>
              </a:tr>
              <a:tr h="570432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1C1C1C"/>
                          </a:solidFill>
                        </a:rPr>
                        <a:t>Load the archive of tut 2</a:t>
                      </a:r>
                    </a:p>
                    <a:p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773890"/>
                  </a:ext>
                </a:extLst>
              </a:tr>
              <a:tr h="1025419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1C1C1C"/>
                          </a:solidFill>
                        </a:rPr>
                        <a:t>Already defined in PV:</a:t>
                      </a:r>
                    </a:p>
                    <a:p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>
                        <a:spcAft>
                          <a:spcPts val="500"/>
                        </a:spcAft>
                        <a:buSzPct val="100000"/>
                      </a:pPr>
                      <a:r>
                        <a:rPr lang="en-IL" sz="1300" dirty="0" err="1">
                          <a:solidFill>
                            <a:srgbClr val="1C1C1C"/>
                          </a:solidFill>
                        </a:rPr>
                        <a:t>uint</a:t>
                      </a: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32</a:t>
                      </a:r>
                      <a:r>
                        <a:rPr lang="en-IL" sz="1300" dirty="0">
                          <a:solidFill>
                            <a:srgbClr val="1C1C1C"/>
                          </a:solidFill>
                        </a:rPr>
                        <a:t>_t </a:t>
                      </a:r>
                      <a:r>
                        <a:rPr lang="en-US" sz="1300" dirty="0" err="1">
                          <a:solidFill>
                            <a:srgbClr val="1C1C1C"/>
                          </a:solidFill>
                        </a:rPr>
                        <a:t>wCounter</a:t>
                      </a: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=0;</a:t>
                      </a:r>
                    </a:p>
                    <a:p>
                      <a:pPr lvl="1">
                        <a:spcAft>
                          <a:spcPts val="500"/>
                        </a:spcAft>
                        <a:buSzPct val="100000"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uint8_t </a:t>
                      </a:r>
                      <a:r>
                        <a:rPr lang="en-US" sz="1300" dirty="0" err="1">
                          <a:solidFill>
                            <a:srgbClr val="1C1C1C"/>
                          </a:solidFill>
                        </a:rPr>
                        <a:t>aUint</a:t>
                      </a: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=0;</a:t>
                      </a:r>
                    </a:p>
                    <a:p>
                      <a:pPr lvl="1">
                        <a:spcAft>
                          <a:spcPts val="500"/>
                        </a:spcAft>
                        <a:buSzPct val="100000"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int8_t </a:t>
                      </a:r>
                      <a:r>
                        <a:rPr lang="en-US" sz="1300" dirty="0" err="1">
                          <a:solidFill>
                            <a:srgbClr val="1C1C1C"/>
                          </a:solidFill>
                        </a:rPr>
                        <a:t>bInt</a:t>
                      </a: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=0;</a:t>
                      </a:r>
                    </a:p>
                    <a:p>
                      <a:endParaRPr lang="en-I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9951818"/>
                  </a:ext>
                </a:extLst>
              </a:tr>
              <a:tr h="1059373">
                <a:tc>
                  <a:txBody>
                    <a:bodyPr/>
                    <a:lstStyle/>
                    <a:p>
                      <a:r>
                        <a:rPr lang="en-US" dirty="0"/>
                        <a:t>Put in the while section</a:t>
                      </a:r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800" dirty="0" err="1">
                          <a:solidFill>
                            <a:srgbClr val="1C1C1C"/>
                          </a:solidFill>
                        </a:rPr>
                        <a:t>wCounter</a:t>
                      </a:r>
                      <a:r>
                        <a:rPr lang="en-IL" sz="1800" dirty="0">
                          <a:solidFill>
                            <a:srgbClr val="1C1C1C"/>
                          </a:solidFill>
                        </a:rPr>
                        <a:t> ++;</a:t>
                      </a:r>
                    </a:p>
                    <a:p>
                      <a:r>
                        <a:rPr lang="en-IL" sz="1800" dirty="0">
                          <a:solidFill>
                            <a:srgbClr val="1C1C1C"/>
                          </a:solidFill>
                        </a:rPr>
                        <a:t>a ++;</a:t>
                      </a:r>
                    </a:p>
                    <a:p>
                      <a:r>
                        <a:rPr lang="en-IL" sz="1800" dirty="0">
                          <a:solidFill>
                            <a:srgbClr val="1C1C1C"/>
                          </a:solidFill>
                        </a:rPr>
                        <a:t>b ++;</a:t>
                      </a:r>
                      <a:endParaRPr lang="en-US" sz="1800" dirty="0">
                        <a:solidFill>
                          <a:srgbClr val="1C1C1C"/>
                        </a:solidFill>
                      </a:endParaRPr>
                    </a:p>
                    <a:p>
                      <a:endParaRPr lang="en-US" sz="1800" dirty="0">
                        <a:solidFill>
                          <a:srgbClr val="1C1C1C"/>
                        </a:solidFill>
                      </a:endParaRPr>
                    </a:p>
                    <a:p>
                      <a:r>
                        <a:rPr lang="en-US" sz="1800" dirty="0">
                          <a:solidFill>
                            <a:srgbClr val="1C1C1C"/>
                          </a:solidFill>
                        </a:rPr>
                        <a:t>Bug!  </a:t>
                      </a:r>
                    </a:p>
                    <a:p>
                      <a:r>
                        <a:rPr lang="en-US" sz="1800" dirty="0">
                          <a:solidFill>
                            <a:srgbClr val="1C1C1C"/>
                          </a:solidFill>
                        </a:rPr>
                        <a:t>Comment with // or /* </a:t>
                      </a:r>
                      <a:r>
                        <a:rPr lang="en-US" sz="1800" dirty="0" err="1">
                          <a:solidFill>
                            <a:srgbClr val="1C1C1C"/>
                          </a:solidFill>
                        </a:rPr>
                        <a:t>bla</a:t>
                      </a:r>
                      <a:r>
                        <a:rPr lang="en-US" sz="1800" dirty="0">
                          <a:solidFill>
                            <a:srgbClr val="1C1C1C"/>
                          </a:solidFill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C1C1C"/>
                          </a:solidFill>
                        </a:rPr>
                        <a:t>bla</a:t>
                      </a:r>
                      <a:r>
                        <a:rPr lang="en-US" sz="1800" dirty="0">
                          <a:solidFill>
                            <a:srgbClr val="1C1C1C"/>
                          </a:solidFill>
                        </a:rPr>
                        <a:t> */</a:t>
                      </a:r>
                      <a:endParaRPr lang="en-IL" sz="1800" dirty="0">
                        <a:solidFill>
                          <a:srgbClr val="1C1C1C"/>
                        </a:solidFill>
                      </a:endParaRPr>
                    </a:p>
                    <a:p>
                      <a:r>
                        <a:rPr lang="en-US" dirty="0"/>
                        <a:t>Fix the bug!</a:t>
                      </a:r>
                      <a:endParaRPr lang="en-I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3256463"/>
                  </a:ext>
                </a:extLst>
              </a:tr>
              <a:tr h="325961">
                <a:tc>
                  <a:txBody>
                    <a:bodyPr/>
                    <a:lstStyle/>
                    <a:p>
                      <a:r>
                        <a:rPr lang="en-US" dirty="0"/>
                        <a:t>Watch in live expressions</a:t>
                      </a:r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58657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15333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399F2-06CA-A8A1-A81A-F62F90FCB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75ED20C-6A40-BF18-E6B9-F56B74FCFEC4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274320" y="-45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Live example 1 - overflow</a:t>
            </a:r>
            <a:endParaRPr lang="en-US" sz="2600" dirty="0"/>
          </a:p>
        </p:txBody>
      </p:sp>
      <p:sp>
        <p:nvSpPr>
          <p:cNvPr id="8" name="move card 2 steps">
            <a:extLst>
              <a:ext uri="{FF2B5EF4-FFF2-40B4-BE49-F238E27FC236}">
                <a16:creationId xmlns:a16="http://schemas.microsoft.com/office/drawing/2014/main" id="{78B4ED45-2DE5-E785-CC40-ADAEA1D2CE18}"/>
              </a:ext>
            </a:extLst>
          </p:cNvPr>
          <p:cNvSpPr txBox="1"/>
          <p:nvPr/>
        </p:nvSpPr>
        <p:spPr>
          <a:xfrm>
            <a:off x="4892040" y="16459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endParaRPr lang="en-US" sz="1300" dirty="0"/>
          </a:p>
        </p:txBody>
      </p:sp>
      <p:sp>
        <p:nvSpPr>
          <p:cNvPr id="9" name="move note">
            <a:extLst>
              <a:ext uri="{FF2B5EF4-FFF2-40B4-BE49-F238E27FC236}">
                <a16:creationId xmlns:a16="http://schemas.microsoft.com/office/drawing/2014/main" id="{D3CF3F73-0F11-DB3F-A65A-2D631DE60C10}"/>
              </a:ext>
            </a:extLst>
          </p:cNvPr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0CE8033D-252C-3EAE-8076-0AF3F88669C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13DA761-0CB6-0DEE-7ECC-36524AB3CC0B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537853"/>
          <a:ext cx="7769134" cy="47169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4567">
                  <a:extLst>
                    <a:ext uri="{9D8B030D-6E8A-4147-A177-3AD203B41FA5}">
                      <a16:colId xmlns:a16="http://schemas.microsoft.com/office/drawing/2014/main" val="915218945"/>
                    </a:ext>
                  </a:extLst>
                </a:gridCol>
                <a:gridCol w="3884567">
                  <a:extLst>
                    <a:ext uri="{9D8B030D-6E8A-4147-A177-3AD203B41FA5}">
                      <a16:colId xmlns:a16="http://schemas.microsoft.com/office/drawing/2014/main" val="1288884798"/>
                    </a:ext>
                  </a:extLst>
                </a:gridCol>
              </a:tblGrid>
              <a:tr h="325961">
                <a:tc>
                  <a:txBody>
                    <a:bodyPr/>
                    <a:lstStyle/>
                    <a:p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869881"/>
                  </a:ext>
                </a:extLst>
              </a:tr>
              <a:tr h="570432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1C1C1C"/>
                          </a:solidFill>
                        </a:rPr>
                        <a:t>Add a delay</a:t>
                      </a:r>
                    </a:p>
                    <a:p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Hal_delay</a:t>
                      </a:r>
                      <a:r>
                        <a:rPr lang="en-US" dirty="0"/>
                        <a:t>(1) + build (not debug!)</a:t>
                      </a:r>
                    </a:p>
                    <a:p>
                      <a:r>
                        <a:rPr lang="en-US" dirty="0"/>
                        <a:t>Fix the bug, and build. Then debug.</a:t>
                      </a:r>
                      <a:endParaRPr lang="en-I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773890"/>
                  </a:ext>
                </a:extLst>
              </a:tr>
              <a:tr h="1025419">
                <a:tc>
                  <a:txBody>
                    <a:bodyPr/>
                    <a:lstStyle/>
                    <a:p>
                      <a:r>
                        <a:rPr lang="en-US" dirty="0"/>
                        <a:t>Raise the delay value  such that wrapping of </a:t>
                      </a:r>
                      <a:r>
                        <a:rPr lang="en-US" dirty="0" err="1"/>
                        <a:t>aUint</a:t>
                      </a:r>
                      <a:r>
                        <a:rPr lang="en-US" dirty="0"/>
                        <a:t> is after ~25.6 [s].</a:t>
                      </a:r>
                    </a:p>
                    <a:p>
                      <a:r>
                        <a:rPr lang="en-US" dirty="0"/>
                        <a:t>Delay  = ???</a:t>
                      </a:r>
                    </a:p>
                    <a:p>
                      <a:r>
                        <a:rPr lang="en-US" dirty="0"/>
                        <a:t>What will happen to </a:t>
                      </a:r>
                      <a:r>
                        <a:rPr lang="en-US" dirty="0" err="1"/>
                        <a:t>bInt</a:t>
                      </a:r>
                      <a:r>
                        <a:rPr lang="en-US" dirty="0"/>
                        <a:t>?</a:t>
                      </a:r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9951818"/>
                  </a:ext>
                </a:extLst>
              </a:tr>
              <a:tr h="1059373">
                <a:tc>
                  <a:txBody>
                    <a:bodyPr/>
                    <a:lstStyle/>
                    <a:p>
                      <a:r>
                        <a:rPr lang="en-US" dirty="0"/>
                        <a:t>“Catch” the wrapping with breakpoint</a:t>
                      </a:r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3256463"/>
                  </a:ext>
                </a:extLst>
              </a:tr>
              <a:tr h="325961"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 a condition</a:t>
                      </a:r>
                      <a:endParaRPr lang="en-IL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800" b="0" u="non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(</a:t>
                      </a:r>
                      <a:r>
                        <a:rPr lang="en-IL" sz="1800" b="0" u="non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bInt</a:t>
                      </a:r>
                      <a:r>
                        <a:rPr lang="en-IL" sz="1800" b="0" u="non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&gt;126)</a:t>
                      </a:r>
                    </a:p>
                    <a:p>
                      <a:r>
                        <a:rPr lang="en-IL" sz="1800" b="0" u="non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{stop=1;</a:t>
                      </a:r>
                    </a:p>
                    <a:p>
                      <a:r>
                        <a:rPr lang="en-IL" sz="1800" b="0" u="non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  <a:p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** fix the bug**</a:t>
                      </a:r>
                      <a:endParaRPr lang="en-IL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IL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58657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8723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Bit operations on a single bit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101" name="op name 1"/>
          <p:cNvSpPr txBox="1"/>
          <p:nvPr/>
        </p:nvSpPr>
        <p:spPr>
          <a:xfrm>
            <a:off x="457200" y="1051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i="0" dirty="0">
                <a:solidFill>
                  <a:srgbClr val="1F6E43"/>
                </a:solidFill>
              </a:rPr>
              <a:t>NOT   ~</a:t>
            </a:r>
            <a:endParaRPr lang="en-US" sz="1200" dirty="0"/>
          </a:p>
        </p:txBody>
      </p:sp>
      <p:graphicFrame>
        <p:nvGraphicFramePr>
          <p:cNvPr id="102" name="truth 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920240" cy="987552"/>
        </p:xfrm>
        <a:graphic>
          <a:graphicData uri="http://schemas.openxmlformats.org/drawingml/2006/table">
            <a:tbl>
              <a:tblPr/>
              <a:tblGrid>
                <a:gridCol w="960120">
                  <a:extLst>
                    <a:ext uri="{9D8B030D-6E8A-4147-A177-3AD203B41FA5}">
                      <a16:colId xmlns:a16="http://schemas.microsoft.com/office/drawing/2014/main" val="5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5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EEF3EF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EEF3EF"/>
                          </a:solidFill>
                        </a:rPr>
                        <a:t>~a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6E4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6E4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02"/>
                  </a:ext>
                </a:extLst>
              </a:tr>
            </a:tbl>
          </a:graphicData>
        </a:graphic>
      </p:graphicFrame>
      <p:sp>
        <p:nvSpPr>
          <p:cNvPr id="103" name="caption 1"/>
          <p:cNvSpPr txBox="1"/>
          <p:nvPr/>
        </p:nvSpPr>
        <p:spPr>
          <a:xfrm>
            <a:off x="457200" y="32004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C5C5C"/>
                </a:solidFill>
              </a:rPr>
              <a:t>Flips the bit</a:t>
            </a:r>
            <a:endParaRPr lang="en-US" sz="1200" dirty="0"/>
          </a:p>
        </p:txBody>
      </p:sp>
      <p:sp>
        <p:nvSpPr>
          <p:cNvPr id="104" name="op name 2"/>
          <p:cNvSpPr txBox="1"/>
          <p:nvPr/>
        </p:nvSpPr>
        <p:spPr>
          <a:xfrm>
            <a:off x="2560320" y="1051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i="0" dirty="0">
                <a:solidFill>
                  <a:srgbClr val="1F6E43"/>
                </a:solidFill>
              </a:rPr>
              <a:t>AND   &amp;</a:t>
            </a:r>
            <a:endParaRPr lang="en-US" sz="1200" dirty="0"/>
          </a:p>
        </p:txBody>
      </p:sp>
      <p:graphicFrame>
        <p:nvGraphicFramePr>
          <p:cNvPr id="105" name="truth 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0" y="1463040"/>
          <a:ext cx="1920240" cy="164592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5001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5001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5001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EEF3EF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EEF3EF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EEF3EF"/>
                          </a:solidFill>
                        </a:rPr>
                        <a:t>a &amp; b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1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6E4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6E4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1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6E4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1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6E4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14"/>
                  </a:ext>
                </a:extLst>
              </a:tr>
            </a:tbl>
          </a:graphicData>
        </a:graphic>
      </p:graphicFrame>
      <p:sp>
        <p:nvSpPr>
          <p:cNvPr id="106" name="caption 2"/>
          <p:cNvSpPr txBox="1"/>
          <p:nvPr/>
        </p:nvSpPr>
        <p:spPr>
          <a:xfrm>
            <a:off x="2560320" y="32004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C5C5C"/>
                </a:solidFill>
              </a:rPr>
              <a:t>1 only if both are 1</a:t>
            </a:r>
            <a:endParaRPr lang="en-US" sz="1200" dirty="0"/>
          </a:p>
        </p:txBody>
      </p:sp>
      <p:sp>
        <p:nvSpPr>
          <p:cNvPr id="107" name="op name 3"/>
          <p:cNvSpPr txBox="1"/>
          <p:nvPr/>
        </p:nvSpPr>
        <p:spPr>
          <a:xfrm>
            <a:off x="4663440" y="1051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i="0" dirty="0">
                <a:solidFill>
                  <a:srgbClr val="1F6E43"/>
                </a:solidFill>
              </a:rPr>
              <a:t>OR   |</a:t>
            </a:r>
            <a:endParaRPr lang="en-US" sz="1200" dirty="0"/>
          </a:p>
        </p:txBody>
      </p:sp>
      <p:graphicFrame>
        <p:nvGraphicFramePr>
          <p:cNvPr id="108" name="truth 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63040"/>
          <a:ext cx="1920240" cy="164592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5002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5002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5002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EEF3EF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EEF3EF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EEF3EF"/>
                          </a:solidFill>
                        </a:rPr>
                        <a:t>a | b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2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6E4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2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6E4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2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6E4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2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6E4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24"/>
                  </a:ext>
                </a:extLst>
              </a:tr>
            </a:tbl>
          </a:graphicData>
        </a:graphic>
      </p:graphicFrame>
      <p:sp>
        <p:nvSpPr>
          <p:cNvPr id="109" name="caption 3"/>
          <p:cNvSpPr txBox="1"/>
          <p:nvPr/>
        </p:nvSpPr>
        <p:spPr>
          <a:xfrm>
            <a:off x="4663440" y="32004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C5C5C"/>
                </a:solidFill>
              </a:rPr>
              <a:t>1 if at least one is 1</a:t>
            </a:r>
            <a:endParaRPr lang="en-US" sz="1200" dirty="0"/>
          </a:p>
        </p:txBody>
      </p:sp>
      <p:sp>
        <p:nvSpPr>
          <p:cNvPr id="110" name="op name 4"/>
          <p:cNvSpPr txBox="1"/>
          <p:nvPr/>
        </p:nvSpPr>
        <p:spPr>
          <a:xfrm>
            <a:off x="6766560" y="1051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i="0" dirty="0">
                <a:solidFill>
                  <a:srgbClr val="1F6E43"/>
                </a:solidFill>
              </a:rPr>
              <a:t>XOR   ^</a:t>
            </a:r>
            <a:endParaRPr lang="en-US" sz="1200" dirty="0"/>
          </a:p>
        </p:txBody>
      </p:sp>
      <p:graphicFrame>
        <p:nvGraphicFramePr>
          <p:cNvPr id="111" name="truth 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463040"/>
          <a:ext cx="1920240" cy="164592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5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5003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5003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EEF3EF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EEF3EF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EEF3EF"/>
                          </a:solidFill>
                        </a:rPr>
                        <a:t>a ^ b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3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6E4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3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6E4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3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6E4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3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6E4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34"/>
                  </a:ext>
                </a:extLst>
              </a:tr>
            </a:tbl>
          </a:graphicData>
        </a:graphic>
      </p:graphicFrame>
      <p:sp>
        <p:nvSpPr>
          <p:cNvPr id="112" name="caption 4"/>
          <p:cNvSpPr txBox="1"/>
          <p:nvPr/>
        </p:nvSpPr>
        <p:spPr>
          <a:xfrm>
            <a:off x="6766560" y="32004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C5C5C"/>
                </a:solidFill>
              </a:rPr>
              <a:t>1 if a and b differ</a:t>
            </a:r>
            <a:endParaRPr lang="en-US" sz="1200" dirty="0"/>
          </a:p>
        </p:txBody>
      </p:sp>
      <p:sp>
        <p:nvSpPr>
          <p:cNvPr id="113" name="sections note 1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5C5C"/>
                </a:solidFill>
              </a:rPr>
              <a:t>In C, ~ &amp; | ^ work on a whole number at once: each bit position follows these tables on its own.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The four bit idioms (LD2 = PA5 = bit 5 of GPIOA)</a:t>
            </a:r>
            <a:endParaRPr lang="en-US" sz="2600" dirty="0"/>
          </a:p>
        </p:txBody>
      </p:sp>
      <p:graphicFrame>
        <p:nvGraphicFramePr>
          <p:cNvPr id="5" name="sections 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229514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Idiom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Code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Symbols used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Effect on bit 5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GPIOA-&gt;ODR |= (1U &lt;&lt; 5);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&lt;&lt;  left shift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|  OR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|=  OR, then assign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Forced to 1 (LED on)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GPIOA-&gt;ODR &amp;= ~(1U &lt;&lt; 5);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  NOT (flips every bit)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&amp;  AND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&amp;=  AND, then assign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Forced to 0 (LED off)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Toggle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GPIOA-&gt;ODR ^= (1U &lt;&lt; 5);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^  XOR (exclusive OR)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^=  XOR, then assign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Flipped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(GPIOA-&gt;ODR &amp; (1U &lt;&lt; 5))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&amp;  AND: nonzero only if bit 5 is 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 only, nothing changes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04"/>
                  </a:ext>
                </a:extLst>
              </a:tr>
            </a:tbl>
          </a:graphicData>
        </a:graphic>
      </p:graphicFrame>
      <p:sp>
        <p:nvSpPr>
          <p:cNvPr id="4" name="sections note 1"/>
          <p:cNvSpPr txBox="1"/>
          <p:nvPr/>
        </p:nvSpPr>
        <p:spPr>
          <a:xfrm>
            <a:off x="457200" y="3520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5C5C"/>
                </a:solidFill>
              </a:rPr>
              <a:t>(1U &lt;&lt; 5) is the mask 0000 0000 0010 0000: only bit 5 is 1. Bitwise &amp; | ~ work on each bit; logical &amp;&amp; || ! give only true or false.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EB3B4-7509-4D3F-E13C-2EFBCEB3E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E2F3E14-AAC9-A353-4714-3C9F633DA013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274320" y="-45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Live example 2 – </a:t>
            </a:r>
            <a:r>
              <a:rPr lang="en-US" dirty="0" err="1"/>
              <a:t>nucleo</a:t>
            </a:r>
            <a:r>
              <a:rPr lang="en-US" dirty="0"/>
              <a:t> led</a:t>
            </a:r>
            <a:endParaRPr lang="en-US" sz="2600" dirty="0"/>
          </a:p>
        </p:txBody>
      </p:sp>
      <p:sp>
        <p:nvSpPr>
          <p:cNvPr id="8" name="move card 2 steps">
            <a:extLst>
              <a:ext uri="{FF2B5EF4-FFF2-40B4-BE49-F238E27FC236}">
                <a16:creationId xmlns:a16="http://schemas.microsoft.com/office/drawing/2014/main" id="{EAEFBE76-4EA6-662D-F390-55FFE387F976}"/>
              </a:ext>
            </a:extLst>
          </p:cNvPr>
          <p:cNvSpPr txBox="1"/>
          <p:nvPr/>
        </p:nvSpPr>
        <p:spPr>
          <a:xfrm>
            <a:off x="4892040" y="16459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endParaRPr lang="en-US" sz="1300" dirty="0"/>
          </a:p>
        </p:txBody>
      </p:sp>
      <p:sp>
        <p:nvSpPr>
          <p:cNvPr id="9" name="move note">
            <a:extLst>
              <a:ext uri="{FF2B5EF4-FFF2-40B4-BE49-F238E27FC236}">
                <a16:creationId xmlns:a16="http://schemas.microsoft.com/office/drawing/2014/main" id="{FA136FBA-DC79-E780-4DA2-53C0E8A52493}"/>
              </a:ext>
            </a:extLst>
          </p:cNvPr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BD464202-9D93-BF9E-1547-78AC878715F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86E041A1-283D-713B-CFDB-5DF4D935C2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3845906"/>
              </p:ext>
            </p:extLst>
          </p:nvPr>
        </p:nvGraphicFramePr>
        <p:xfrm>
          <a:off x="457200" y="537853"/>
          <a:ext cx="7769134" cy="3730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2763">
                  <a:extLst>
                    <a:ext uri="{9D8B030D-6E8A-4147-A177-3AD203B41FA5}">
                      <a16:colId xmlns:a16="http://schemas.microsoft.com/office/drawing/2014/main" val="915218945"/>
                    </a:ext>
                  </a:extLst>
                </a:gridCol>
                <a:gridCol w="4716371">
                  <a:extLst>
                    <a:ext uri="{9D8B030D-6E8A-4147-A177-3AD203B41FA5}">
                      <a16:colId xmlns:a16="http://schemas.microsoft.com/office/drawing/2014/main" val="1288884798"/>
                    </a:ext>
                  </a:extLst>
                </a:gridCol>
              </a:tblGrid>
              <a:tr h="325961">
                <a:tc>
                  <a:txBody>
                    <a:bodyPr/>
                    <a:lstStyle/>
                    <a:p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869881"/>
                  </a:ext>
                </a:extLst>
              </a:tr>
              <a:tr h="570432">
                <a:tc>
                  <a:txBody>
                    <a:bodyPr/>
                    <a:lstStyle/>
                    <a:p>
                      <a:r>
                        <a:rPr lang="en-US" dirty="0"/>
                        <a:t>Add this to the “while” section</a:t>
                      </a:r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L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GPIOA-&gt;ODR ^= (1U &lt;&lt; 5)</a:t>
                      </a:r>
                      <a:r>
                        <a:rPr 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  <a:endParaRPr lang="en-IL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L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HAL_Delay</a:t>
                      </a:r>
                      <a:r>
                        <a:rPr lang="en-I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(500); </a:t>
                      </a:r>
                    </a:p>
                    <a:p>
                      <a:endParaRPr lang="en-I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773890"/>
                  </a:ext>
                </a:extLst>
              </a:tr>
              <a:tr h="1025419">
                <a:tc>
                  <a:txBody>
                    <a:bodyPr/>
                    <a:lstStyle/>
                    <a:p>
                      <a:r>
                        <a:rPr lang="en-US" dirty="0"/>
                        <a:t> switch to this one</a:t>
                      </a:r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HAL_GPIO_TogglePin</a:t>
                      </a:r>
                      <a:r>
                        <a:rPr lang="en-I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(GPIOA, GPIO_PIN_5); </a:t>
                      </a:r>
                    </a:p>
                    <a:p>
                      <a:endParaRPr lang="en-I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9951818"/>
                  </a:ext>
                </a:extLst>
              </a:tr>
              <a:tr h="1059373">
                <a:tc>
                  <a:txBody>
                    <a:bodyPr/>
                    <a:lstStyle/>
                    <a:p>
                      <a:r>
                        <a:rPr lang="en-US" dirty="0"/>
                        <a:t>Make the blink faster \ slower</a:t>
                      </a:r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?</a:t>
                      </a:r>
                      <a:endParaRPr lang="en-I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3256463"/>
                  </a:ext>
                </a:extLst>
              </a:tr>
              <a:tr h="325961">
                <a:tc>
                  <a:txBody>
                    <a:bodyPr/>
                    <a:lstStyle/>
                    <a:p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58657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22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5314C-DE60-39D8-C57B-FB73EA135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4CAF3A4-1119-BFE6-BFA0-B40C1FB733AB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274320" y="-45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Live example 3 – add a printing to putty</a:t>
            </a:r>
            <a:endParaRPr lang="en-US" sz="2600" dirty="0"/>
          </a:p>
        </p:txBody>
      </p:sp>
      <p:sp>
        <p:nvSpPr>
          <p:cNvPr id="8" name="move card 2 steps">
            <a:extLst>
              <a:ext uri="{FF2B5EF4-FFF2-40B4-BE49-F238E27FC236}">
                <a16:creationId xmlns:a16="http://schemas.microsoft.com/office/drawing/2014/main" id="{26867B0F-AD58-776F-5A14-CDFE388367A0}"/>
              </a:ext>
            </a:extLst>
          </p:cNvPr>
          <p:cNvSpPr txBox="1"/>
          <p:nvPr/>
        </p:nvSpPr>
        <p:spPr>
          <a:xfrm>
            <a:off x="4892040" y="16459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endParaRPr lang="en-US" sz="1300" dirty="0"/>
          </a:p>
        </p:txBody>
      </p:sp>
      <p:sp>
        <p:nvSpPr>
          <p:cNvPr id="9" name="move note">
            <a:extLst>
              <a:ext uri="{FF2B5EF4-FFF2-40B4-BE49-F238E27FC236}">
                <a16:creationId xmlns:a16="http://schemas.microsoft.com/office/drawing/2014/main" id="{F74EED1E-6E1D-D68B-BE54-046F8AED99A3}"/>
              </a:ext>
            </a:extLst>
          </p:cNvPr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A9839DF1-F06E-27E6-BF27-7B9FAD7729E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76937B4-BEAC-89B4-749B-1DD8465840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3026541"/>
              </p:ext>
            </p:extLst>
          </p:nvPr>
        </p:nvGraphicFramePr>
        <p:xfrm>
          <a:off x="366712" y="504787"/>
          <a:ext cx="8229600" cy="4424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4688">
                  <a:extLst>
                    <a:ext uri="{9D8B030D-6E8A-4147-A177-3AD203B41FA5}">
                      <a16:colId xmlns:a16="http://schemas.microsoft.com/office/drawing/2014/main" val="915218945"/>
                    </a:ext>
                  </a:extLst>
                </a:gridCol>
                <a:gridCol w="1495425">
                  <a:extLst>
                    <a:ext uri="{9D8B030D-6E8A-4147-A177-3AD203B41FA5}">
                      <a16:colId xmlns:a16="http://schemas.microsoft.com/office/drawing/2014/main" val="1288884798"/>
                    </a:ext>
                  </a:extLst>
                </a:gridCol>
                <a:gridCol w="3519487">
                  <a:extLst>
                    <a:ext uri="{9D8B030D-6E8A-4147-A177-3AD203B41FA5}">
                      <a16:colId xmlns:a16="http://schemas.microsoft.com/office/drawing/2014/main" val="3366567082"/>
                    </a:ext>
                  </a:extLst>
                </a:gridCol>
              </a:tblGrid>
              <a:tr h="238163">
                <a:tc>
                  <a:txBody>
                    <a:bodyPr/>
                    <a:lstStyle/>
                    <a:p>
                      <a:r>
                        <a:rPr lang="en-US" sz="1400" dirty="0"/>
                        <a:t>Code</a:t>
                      </a:r>
                      <a:endParaRPr lang="en-I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Where to put</a:t>
                      </a:r>
                      <a:endParaRPr lang="en-I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Comments</a:t>
                      </a:r>
                      <a:endParaRPr lang="en-I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869881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#include &lt;stdio.h&gt;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1000" dirty="0"/>
                        <a:t>USER CODE BEGIN Includes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900" b="1" dirty="0"/>
                        <a:t>Standard C. </a:t>
                      </a:r>
                      <a:r>
                        <a:rPr lang="en-US" sz="900" dirty="0"/>
                        <a:t>stdio.h comes with the compiler (CubeIDE's GNU toolchain): you never write it, only include it.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900" dirty="0"/>
                        <a:t>It declares printf (name, parameters), so the compiler knows it. The code of printf is in the C library; the linker adds it.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900" dirty="0"/>
                        <a:t>&lt; &gt; = a system file;  " " = a file of your project, e.g. "main.h".</a:t>
                      </a:r>
                    </a:p>
                  </a:txBody>
                  <a:tcPr marL="64008" marR="64008" marT="36576" marB="36576"/>
                </a:tc>
                <a:extLst>
                  <a:ext uri="{0D108BD9-81ED-4DB2-BD59-A6C34878D82A}">
                    <a16:rowId xmlns:a16="http://schemas.microsoft.com/office/drawing/2014/main" val="3038773890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int __</a:t>
                      </a:r>
                      <a:r>
                        <a:rPr lang="en-US" sz="900" dirty="0" err="1">
                          <a:latin typeface="Courier New"/>
                          <a:cs typeface="Courier New"/>
                        </a:rPr>
                        <a:t>io_putchar</a:t>
                      </a:r>
                      <a:r>
                        <a:rPr lang="en-US" sz="900" dirty="0">
                          <a:latin typeface="Courier New"/>
                          <a:cs typeface="Courier New"/>
                        </a:rPr>
                        <a:t>(int ch)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{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  </a:t>
                      </a:r>
                      <a:r>
                        <a:rPr lang="en-US" sz="900" dirty="0" err="1">
                          <a:latin typeface="Courier New"/>
                          <a:cs typeface="Courier New"/>
                        </a:rPr>
                        <a:t>HAL_UART_Transmit</a:t>
                      </a:r>
                      <a:r>
                        <a:rPr lang="en-US" sz="900" dirty="0">
                          <a:latin typeface="Courier New"/>
                          <a:cs typeface="Courier New"/>
                        </a:rPr>
                        <a:t>(&amp;hlpuart1,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      (uint8_t *)&amp;ch, 1, HAL_MAX_DELAY);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  return ch;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}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1000" dirty="0"/>
                        <a:t>USER CODE BEGIN 0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1000" dirty="0"/>
                        <a:t>(before main)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900" dirty="0"/>
                        <a:t>The C library cannot know where characters go (UART, LCD, nowhere), so it leaves this one gap.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900" dirty="0"/>
                        <a:t>You never call it: _write in syscalls.c (generated) calls it once for every character printf prints.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900" b="1" dirty="0"/>
                        <a:t>HAL_UART_Transmit, hlpuart1: </a:t>
                      </a:r>
                      <a:r>
                        <a:rPr lang="en-US" sz="900" dirty="0"/>
                        <a:t>STM32 HAL, generated from the .ioc.</a:t>
                      </a:r>
                    </a:p>
                  </a:txBody>
                  <a:tcPr marL="64008" marR="64008" marT="36576" marB="36576"/>
                </a:tc>
                <a:extLst>
                  <a:ext uri="{0D108BD9-81ED-4DB2-BD59-A6C34878D82A}">
                    <a16:rowId xmlns:a16="http://schemas.microsoft.com/office/drawing/2014/main" val="1409951818"/>
                  </a:ext>
                </a:extLst>
              </a:tr>
              <a:tr h="19488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uint32_t blinkCount = 0;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800" dirty="0"/>
                        <a:t>USER CODE BEGIN PV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endParaRPr lang="en-US" sz="800" dirty="0"/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endParaRPr lang="en-US" sz="900" dirty="0"/>
                    </a:p>
                  </a:txBody>
                  <a:tcPr marL="64008" marR="64008" marT="36576" marB="36576"/>
                </a:tc>
                <a:extLst>
                  <a:ext uri="{0D108BD9-81ED-4DB2-BD59-A6C34878D82A}">
                    <a16:rowId xmlns:a16="http://schemas.microsoft.com/office/drawing/2014/main" val="1523256463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dirty="0" err="1">
                          <a:latin typeface="Courier New"/>
                          <a:cs typeface="Courier New"/>
                        </a:rPr>
                        <a:t>printf</a:t>
                      </a:r>
                      <a:r>
                        <a:rPr lang="en-US" sz="900" dirty="0">
                          <a:latin typeface="Courier New"/>
                          <a:cs typeface="Courier New"/>
                        </a:rPr>
                        <a:t>("\r\</a:t>
                      </a:r>
                      <a:r>
                        <a:rPr lang="en-US" sz="900" dirty="0" err="1">
                          <a:latin typeface="Courier New"/>
                          <a:cs typeface="Courier New"/>
                        </a:rPr>
                        <a:t>nBlink</a:t>
                      </a:r>
                      <a:r>
                        <a:rPr lang="en-US" sz="900" dirty="0">
                          <a:latin typeface="Courier New"/>
                          <a:cs typeface="Courier New"/>
                        </a:rPr>
                        <a:t> counter started\r\n");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endParaRPr lang="en-US" sz="900" dirty="0">
                        <a:latin typeface="Courier New"/>
                        <a:cs typeface="Courier New"/>
                      </a:endParaRP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800" dirty="0"/>
                        <a:t>USER CODE BEGIN 2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800" dirty="0"/>
                        <a:t>(after MX_LPUART1_UART_Init: the UART must be ready before the first </a:t>
                      </a:r>
                      <a:r>
                        <a:rPr lang="en-US" sz="800" dirty="0" err="1"/>
                        <a:t>printf</a:t>
                      </a:r>
                      <a:r>
                        <a:rPr lang="en-US" sz="800" dirty="0"/>
                        <a:t>)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endParaRPr lang="en-US" sz="1000" dirty="0"/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endParaRPr lang="en-US" sz="900" dirty="0"/>
                    </a:p>
                  </a:txBody>
                  <a:tcPr marL="64008" marR="64008" marT="36576" marB="36576"/>
                </a:tc>
                <a:extLst>
                  <a:ext uri="{0D108BD9-81ED-4DB2-BD59-A6C34878D82A}">
                    <a16:rowId xmlns:a16="http://schemas.microsoft.com/office/drawing/2014/main" val="1295202016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 err="1">
                          <a:latin typeface="Courier New"/>
                          <a:cs typeface="Courier New"/>
                        </a:rPr>
                        <a:t>blinkCount</a:t>
                      </a:r>
                      <a:r>
                        <a:rPr lang="en-US" sz="900" dirty="0">
                          <a:latin typeface="Courier New"/>
                          <a:cs typeface="Courier New"/>
                        </a:rPr>
                        <a:t>++;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  printf("blink num %lu\r\n", blinkCount);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  GPIOA-&gt;ODR |=  (1U &lt;&lt; 5);   // LED on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  HAL_Delay(500);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  GPIOA-&gt;ODR &amp;= ~(1U &lt;&lt; 5);   // LED off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  HAL_Delay(500);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1000" dirty="0"/>
                        <a:t>USER CODE BEGIN WHILE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900" b="1" dirty="0"/>
                        <a:t>printf: standard C, </a:t>
                      </a:r>
                      <a:r>
                        <a:rPr lang="en-US" sz="900" dirty="0"/>
                        <a:t>you only call it. %lu because uint32_t is unsigned long here. End lines with \r\n: the text is sent when \n arrives.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900" b="1" dirty="0"/>
                        <a:t>GPIOA-&gt;ODR: </a:t>
                      </a:r>
                      <a:r>
                        <a:rPr lang="en-US" sz="900" dirty="0"/>
                        <a:t>STM32 register name (CMSIS, from stm32g474xx.h).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900" b="1" dirty="0"/>
                        <a:t>HAL_Delay: </a:t>
                      </a:r>
                      <a:r>
                        <a:rPr lang="en-US" sz="900" dirty="0"/>
                        <a:t>STM32 HAL.</a:t>
                      </a:r>
                    </a:p>
                  </a:txBody>
                  <a:tcPr marL="64008" marR="64008" marT="36576" marB="36576"/>
                </a:tc>
                <a:extLst>
                  <a:ext uri="{0D108BD9-81ED-4DB2-BD59-A6C34878D82A}">
                    <a16:rowId xmlns:a16="http://schemas.microsoft.com/office/drawing/2014/main" val="4055865733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Look in putty (find com by device manager, serial, 115200)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endParaRPr lang="en-US" sz="1000" dirty="0"/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endParaRPr lang="en-US" sz="900" dirty="0"/>
                    </a:p>
                  </a:txBody>
                  <a:tcPr marL="64008" marR="64008" marT="36576" marB="36576"/>
                </a:tc>
                <a:extLst>
                  <a:ext uri="{0D108BD9-81ED-4DB2-BD59-A6C34878D82A}">
                    <a16:rowId xmlns:a16="http://schemas.microsoft.com/office/drawing/2014/main" val="2881907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15551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931B2-56CE-D220-0BDC-6089B36DA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5FEB6A6-BDBD-76FF-F25C-298BFAA7A372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396018" y="48568"/>
            <a:ext cx="8229600" cy="2848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lang="en-US" sz="1400" dirty="0" err="1">
                <a:latin typeface="Courier New"/>
                <a:cs typeface="Courier New"/>
              </a:rPr>
              <a:t>HAL_UART_Transmit</a:t>
            </a:r>
            <a:r>
              <a:rPr lang="en-US" sz="1400" dirty="0">
                <a:latin typeface="Courier New"/>
                <a:cs typeface="Courier New"/>
              </a:rPr>
              <a:t>(&amp;hlpuart1,(uint8_t *)&amp;ch, 1, HAL_MAX_DELAY);  ???</a:t>
            </a:r>
          </a:p>
        </p:txBody>
      </p:sp>
      <p:sp>
        <p:nvSpPr>
          <p:cNvPr id="8" name="move card 2 steps">
            <a:extLst>
              <a:ext uri="{FF2B5EF4-FFF2-40B4-BE49-F238E27FC236}">
                <a16:creationId xmlns:a16="http://schemas.microsoft.com/office/drawing/2014/main" id="{A8856578-50D8-A655-FC3E-60F01D6666CE}"/>
              </a:ext>
            </a:extLst>
          </p:cNvPr>
          <p:cNvSpPr txBox="1"/>
          <p:nvPr/>
        </p:nvSpPr>
        <p:spPr>
          <a:xfrm>
            <a:off x="4892040" y="16459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endParaRPr lang="en-US" sz="1300" dirty="0"/>
          </a:p>
        </p:txBody>
      </p:sp>
      <p:sp>
        <p:nvSpPr>
          <p:cNvPr id="9" name="move note">
            <a:extLst>
              <a:ext uri="{FF2B5EF4-FFF2-40B4-BE49-F238E27FC236}">
                <a16:creationId xmlns:a16="http://schemas.microsoft.com/office/drawing/2014/main" id="{73C989FF-2DF1-DB44-8C4E-722A315C09E3}"/>
              </a:ext>
            </a:extLst>
          </p:cNvPr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0CA76637-565D-78E3-4BF9-2EE83961E82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  <p:graphicFrame>
        <p:nvGraphicFramePr>
          <p:cNvPr id="50" name="arguments table">
            <a:extLst>
              <a:ext uri="{FF2B5EF4-FFF2-40B4-BE49-F238E27FC236}">
                <a16:creationId xmlns:a16="http://schemas.microsoft.com/office/drawing/2014/main" id="{C76937B4-BEAC-89B4-749B-1DD8465840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036445"/>
              </p:ext>
            </p:extLst>
          </p:nvPr>
        </p:nvGraphicFramePr>
        <p:xfrm>
          <a:off x="396018" y="449571"/>
          <a:ext cx="8229600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915218945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1288884798"/>
                    </a:ext>
                  </a:extLst>
                </a:gridCol>
                <a:gridCol w="4526280">
                  <a:extLst>
                    <a:ext uri="{9D8B030D-6E8A-4147-A177-3AD203B41FA5}">
                      <a16:colId xmlns:a16="http://schemas.microsoft.com/office/drawing/2014/main" val="3366567082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r>
                        <a:rPr lang="en-US" sz="1400" dirty="0"/>
                        <a:t>Argument</a:t>
                      </a:r>
                      <a:endParaRPr lang="en-I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  <a:endParaRPr lang="en-I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Meaning</a:t>
                      </a:r>
                      <a:endParaRPr lang="en-I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b="1" dirty="0">
                          <a:latin typeface="Courier New"/>
                          <a:cs typeface="Courier New"/>
                        </a:rPr>
                        <a:t>&amp;hlpuart1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dirty="0">
                          <a:latin typeface="Courier New"/>
                          <a:cs typeface="Courier New"/>
                        </a:rPr>
                        <a:t>UART_HandleTypeDef *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dirty="0"/>
                        <a:t>pointer to the handle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b="1" dirty="0"/>
                        <a:t>Which UART. </a:t>
                      </a:r>
                      <a:r>
                        <a:rPr lang="en-US" sz="1000" dirty="0"/>
                        <a:t>hlpuart1 is a global struct in main.c, generated from the .ioc (LPUART1, 115200, 8N1). 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dirty="0"/>
                        <a:t>&amp; = "address of": the function gets where the struct is, so it can read the settings and update its state.</a:t>
                      </a:r>
                    </a:p>
                  </a:txBody>
                  <a:tcPr marL="64008" marR="64008" marT="36576" marB="36576"/>
                </a:tc>
                <a:extLst>
                  <a:ext uri="{0D108BD9-81ED-4DB2-BD59-A6C34878D82A}">
                    <a16:rowId xmlns:a16="http://schemas.microsoft.com/office/drawing/2014/main" val="7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b="1" dirty="0">
                          <a:latin typeface="Courier New"/>
                          <a:cs typeface="Courier New"/>
                        </a:rPr>
                        <a:t>(uint8_t *)&amp;ch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dirty="0">
                          <a:latin typeface="Courier New"/>
                          <a:cs typeface="Courier New"/>
                        </a:rPr>
                        <a:t>const uint8_t *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dirty="0"/>
                        <a:t>pointer to bytes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b="1" dirty="0"/>
                        <a:t>Where the data starts. </a:t>
                      </a:r>
                      <a:r>
                        <a:rPr lang="en-US" sz="1000" dirty="0"/>
                        <a:t>ch is an int (4 bytes), so &amp;ch (the address of the variable “ch” has to be  int *) 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dirty="0"/>
                        <a:t>The cast (uint8_t *) says: read this address as bytes. The STM32 is little-endian, so the first byte is the lowest one: the character itself.</a:t>
                      </a:r>
                    </a:p>
                  </a:txBody>
                  <a:tcPr marL="64008" marR="64008" marT="36576" marB="36576"/>
                </a:tc>
                <a:extLst>
                  <a:ext uri="{0D108BD9-81ED-4DB2-BD59-A6C34878D82A}">
                    <a16:rowId xmlns:a16="http://schemas.microsoft.com/office/drawing/2014/main" val="70002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b="1" dirty="0">
                          <a:latin typeface="Courier New"/>
                          <a:cs typeface="Courier New"/>
                        </a:rPr>
                        <a:t>1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dirty="0">
                          <a:latin typeface="Courier New"/>
                          <a:cs typeface="Courier New"/>
                        </a:rPr>
                        <a:t>uint16_t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dirty="0"/>
                        <a:t>a count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b="1" dirty="0"/>
                        <a:t>How many bytes to send: </a:t>
                      </a:r>
                      <a:r>
                        <a:rPr lang="en-US" sz="1000" dirty="0"/>
                        <a:t>one character.</a:t>
                      </a:r>
                    </a:p>
                  </a:txBody>
                  <a:tcPr marL="64008" marR="64008" marT="36576" marB="36576"/>
                </a:tc>
                <a:extLst>
                  <a:ext uri="{0D108BD9-81ED-4DB2-BD59-A6C34878D82A}">
                    <a16:rowId xmlns:a16="http://schemas.microsoft.com/office/drawing/2014/main" val="7000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b="1" dirty="0">
                          <a:latin typeface="Courier New"/>
                          <a:cs typeface="Courier New"/>
                        </a:rPr>
                        <a:t>HAL_MAX_DELAY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dirty="0">
                          <a:latin typeface="Courier New"/>
                          <a:cs typeface="Courier New"/>
                        </a:rPr>
                        <a:t>uint32_t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dirty="0"/>
                        <a:t>time in ms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b="1" dirty="0"/>
                        <a:t>How long to wait at most. </a:t>
                      </a:r>
                      <a:r>
                        <a:rPr lang="en-US" sz="1000" dirty="0"/>
                        <a:t>HAL_MAX_DELAY = 0xFFFFFFFF: wait forever. With 10, it gives up after 10 ms and returns HAL_TIMEOUT.</a:t>
                      </a:r>
                    </a:p>
                  </a:txBody>
                  <a:tcPr marL="64008" marR="64008" marT="36576" marB="36576"/>
                </a:tc>
                <a:extLst>
                  <a:ext uri="{0D108BD9-81ED-4DB2-BD59-A6C34878D82A}">
                    <a16:rowId xmlns:a16="http://schemas.microsoft.com/office/drawing/2014/main" val="7000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b="1" dirty="0"/>
                        <a:t>return value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dirty="0">
                          <a:latin typeface="Courier New"/>
                          <a:cs typeface="Courier New"/>
                        </a:rPr>
                        <a:t>HAL_StatusTypeDef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dirty="0"/>
                        <a:t>an enum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b="1" dirty="0"/>
                        <a:t>Did it work? </a:t>
                      </a:r>
                      <a:r>
                        <a:rPr lang="en-US" sz="1000" dirty="0"/>
                        <a:t>HAL_OK, HAL_ERROR, HAL_BUSY or HAL_TIMEOUT. __io_putchar ignores it.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1000" b="1" dirty="0"/>
                        <a:t>Blocking: </a:t>
                      </a:r>
                      <a:r>
                        <a:rPr lang="en-US" sz="1000" dirty="0"/>
                        <a:t>it returns only after the byte is sent: 10 bits at 115200 bit/s = 87 us per character.</a:t>
                      </a:r>
                    </a:p>
                  </a:txBody>
                  <a:tcPr marL="64008" marR="64008" marT="36576" marB="36576"/>
                </a:tc>
                <a:extLst>
                  <a:ext uri="{0D108BD9-81ED-4DB2-BD59-A6C34878D82A}">
                    <a16:rowId xmlns:a16="http://schemas.microsoft.com/office/drawing/2014/main" val="7000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FDD3DF4-5E95-D9AF-28A8-879A1B1B4B16}"/>
              </a:ext>
            </a:extLst>
          </p:cNvPr>
          <p:cNvSpPr txBox="1"/>
          <p:nvPr/>
        </p:nvSpPr>
        <p:spPr>
          <a:xfrm>
            <a:off x="918718" y="3972245"/>
            <a:ext cx="78033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Shortly: </a:t>
            </a:r>
            <a:r>
              <a:rPr lang="en-IL" dirty="0"/>
              <a:t>&amp;ch gives the address of the 4-byte int, and (uint8_t *) says “treat that address as the start of bytes”. On the little-endian STM32 the first byte is the character, so sending 1 byte from there sends the letter.</a:t>
            </a:r>
          </a:p>
        </p:txBody>
      </p:sp>
    </p:spTree>
    <p:extLst>
      <p:ext uri="{BB962C8B-B14F-4D97-AF65-F5344CB8AC3E}">
        <p14:creationId xmlns:p14="http://schemas.microsoft.com/office/powerpoint/2010/main" val="24948531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3  ·  16.11.2026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dirty="0"/>
              <a:t>Timings, RGB </a:t>
            </a:r>
            <a:r>
              <a:rPr lang="en-US" dirty="0" err="1"/>
              <a:t>leds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dirty="0" err="1"/>
              <a:t>HAL_Delay</a:t>
            </a:r>
            <a:r>
              <a:rPr lang="en-US" dirty="0"/>
              <a:t>  and </a:t>
            </a:r>
            <a:r>
              <a:rPr lang="en-US" sz="1600" dirty="0" err="1">
                <a:solidFill>
                  <a:schemeClr val="bg1"/>
                </a:solidFill>
              </a:rPr>
              <a:t>HAL_GetTick</a:t>
            </a:r>
            <a:r>
              <a:rPr lang="en-US" sz="1600" dirty="0">
                <a:solidFill>
                  <a:schemeClr val="bg1"/>
                </a:solidFill>
              </a:rPr>
              <a:t>;  operate the RGB </a:t>
            </a:r>
            <a:r>
              <a:rPr lang="en-US" sz="1600" dirty="0" err="1">
                <a:solidFill>
                  <a:schemeClr val="bg1"/>
                </a:solidFill>
              </a:rPr>
              <a:t>leds</a:t>
            </a:r>
            <a:r>
              <a:rPr lang="en-US" sz="1600" dirty="0">
                <a:solidFill>
                  <a:schemeClr val="bg1"/>
                </a:solidFill>
              </a:rPr>
              <a:t> (I2C “</a:t>
            </a:r>
            <a:r>
              <a:rPr lang="en-US" sz="1600" dirty="0" err="1">
                <a:solidFill>
                  <a:schemeClr val="bg1"/>
                </a:solidFill>
              </a:rPr>
              <a:t>blackbox</a:t>
            </a:r>
            <a:r>
              <a:rPr lang="en-US" sz="1600" dirty="0">
                <a:solidFill>
                  <a:schemeClr val="bg1"/>
                </a:solidFill>
              </a:rPr>
              <a:t>”)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5C25C-3ABE-7F91-334C-DDD5A6388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9555125-CD48-2510-CF5E-52717852E731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274320" y="-45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Live example 1</a:t>
            </a:r>
            <a:endParaRPr lang="en-US" sz="2600" dirty="0"/>
          </a:p>
        </p:txBody>
      </p:sp>
      <p:sp>
        <p:nvSpPr>
          <p:cNvPr id="8" name="move card 2 steps">
            <a:extLst>
              <a:ext uri="{FF2B5EF4-FFF2-40B4-BE49-F238E27FC236}">
                <a16:creationId xmlns:a16="http://schemas.microsoft.com/office/drawing/2014/main" id="{C2D00AC0-8CB2-ADC9-5DE2-A524B10C6409}"/>
              </a:ext>
            </a:extLst>
          </p:cNvPr>
          <p:cNvSpPr txBox="1"/>
          <p:nvPr/>
        </p:nvSpPr>
        <p:spPr>
          <a:xfrm>
            <a:off x="4892040" y="16459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endParaRPr lang="en-US" sz="1300" dirty="0"/>
          </a:p>
        </p:txBody>
      </p:sp>
      <p:sp>
        <p:nvSpPr>
          <p:cNvPr id="9" name="move note">
            <a:extLst>
              <a:ext uri="{FF2B5EF4-FFF2-40B4-BE49-F238E27FC236}">
                <a16:creationId xmlns:a16="http://schemas.microsoft.com/office/drawing/2014/main" id="{17D452FE-5008-E057-922D-04D081839C0B}"/>
              </a:ext>
            </a:extLst>
          </p:cNvPr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E50D185F-3953-F8ED-3B08-8B8AEFC0341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9B14C12-8B65-10F9-5092-10A390B5CC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6865713"/>
              </p:ext>
            </p:extLst>
          </p:nvPr>
        </p:nvGraphicFramePr>
        <p:xfrm>
          <a:off x="300446" y="1042232"/>
          <a:ext cx="8340634" cy="2191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82343">
                  <a:extLst>
                    <a:ext uri="{9D8B030D-6E8A-4147-A177-3AD203B41FA5}">
                      <a16:colId xmlns:a16="http://schemas.microsoft.com/office/drawing/2014/main" val="915218945"/>
                    </a:ext>
                  </a:extLst>
                </a:gridCol>
                <a:gridCol w="2658291">
                  <a:extLst>
                    <a:ext uri="{9D8B030D-6E8A-4147-A177-3AD203B41FA5}">
                      <a16:colId xmlns:a16="http://schemas.microsoft.com/office/drawing/2014/main" val="3366567082"/>
                    </a:ext>
                  </a:extLst>
                </a:gridCol>
              </a:tblGrid>
              <a:tr h="238163">
                <a:tc>
                  <a:txBody>
                    <a:bodyPr/>
                    <a:lstStyle/>
                    <a:p>
                      <a:r>
                        <a:rPr lang="en-US" sz="1400" dirty="0"/>
                        <a:t>Code</a:t>
                      </a:r>
                      <a:endParaRPr lang="en-I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Comments</a:t>
                      </a:r>
                      <a:endParaRPr lang="en-I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869881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Copy ass1.ioc to a local folder, name it tut3, and create a new project.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endParaRPr lang="en-US" sz="900" dirty="0"/>
                    </a:p>
                  </a:txBody>
                  <a:tcPr marL="64008" marR="64008" marT="36576" marB="36576"/>
                </a:tc>
                <a:extLst>
                  <a:ext uri="{0D108BD9-81ED-4DB2-BD59-A6C34878D82A}">
                    <a16:rowId xmlns:a16="http://schemas.microsoft.com/office/drawing/2014/main" val="3038773890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Put the files from ass.1 (</a:t>
                      </a:r>
                      <a:r>
                        <a:rPr lang="en-US" sz="900" dirty="0" err="1">
                          <a:latin typeface="Courier New"/>
                          <a:cs typeface="Courier New"/>
                        </a:rPr>
                        <a:t>io_board</a:t>
                      </a:r>
                      <a:r>
                        <a:rPr lang="en-US" sz="900" dirty="0">
                          <a:latin typeface="Courier New"/>
                          <a:cs typeface="Courier New"/>
                        </a:rPr>
                        <a:t>, c and h) in the appropriate folders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endParaRPr lang="en-US" sz="900" dirty="0">
                        <a:latin typeface="Courier New"/>
                        <a:cs typeface="Courier New"/>
                      </a:endParaRP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endParaRPr lang="en-US" sz="900" dirty="0"/>
                    </a:p>
                  </a:txBody>
                  <a:tcPr marL="64008" marR="64008" marT="36576" marB="36576"/>
                </a:tc>
                <a:extLst>
                  <a:ext uri="{0D108BD9-81ED-4DB2-BD59-A6C34878D82A}">
                    <a16:rowId xmlns:a16="http://schemas.microsoft.com/office/drawing/2014/main" val="1409951818"/>
                  </a:ext>
                </a:extLst>
              </a:tr>
              <a:tr h="19488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Include </a:t>
                      </a:r>
                      <a:r>
                        <a:rPr lang="en-US" sz="900" dirty="0" err="1">
                          <a:latin typeface="Courier New"/>
                          <a:cs typeface="Courier New"/>
                        </a:rPr>
                        <a:t>io_board.h</a:t>
                      </a:r>
                      <a:endParaRPr lang="en-US" sz="900" dirty="0">
                        <a:latin typeface="Courier New"/>
                        <a:cs typeface="Courier New"/>
                      </a:endParaRP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endParaRPr lang="en-US" sz="900" dirty="0"/>
                    </a:p>
                  </a:txBody>
                  <a:tcPr marL="64008" marR="64008" marT="36576" marB="36576"/>
                </a:tc>
                <a:extLst>
                  <a:ext uri="{0D108BD9-81ED-4DB2-BD59-A6C34878D82A}">
                    <a16:rowId xmlns:a16="http://schemas.microsoft.com/office/drawing/2014/main" val="1523256463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uint8_t N  = 3;    // LED number, 0 to 7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uint8_t Rv = 255;  // red,   0 to 255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uint8_t Gv = 0;    // green, 0 to 255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uint8_t Bv = 128;  // blue,  0 to 255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endParaRPr lang="en-US" sz="900" dirty="0">
                        <a:latin typeface="Courier New"/>
                        <a:cs typeface="Courier New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ioBoardInit();     // once, first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900" dirty="0">
                          <a:latin typeface="Courier New"/>
                          <a:cs typeface="Courier New"/>
                        </a:rPr>
                        <a:t>setRGB_led(N, Rv, Gv, Bv);</a:t>
                      </a: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endParaRPr lang="en-US" sz="900" dirty="0"/>
                    </a:p>
                    <a:p>
                      <a:pPr>
                        <a:spcAft>
                          <a:spcPts val="300"/>
                        </a:spcAft>
                      </a:pPr>
                      <a:endParaRPr lang="en-US" sz="900" dirty="0"/>
                    </a:p>
                    <a:p>
                      <a:pPr>
                        <a:spcAft>
                          <a:spcPts val="300"/>
                        </a:spcAft>
                      </a:pPr>
                      <a:endParaRPr lang="en-US" sz="900" dirty="0"/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900" dirty="0"/>
                        <a:t>This code section activate led number N.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900" dirty="0"/>
                        <a:t>It activates it with Red value of </a:t>
                      </a:r>
                      <a:r>
                        <a:rPr lang="en-US" sz="900" dirty="0" err="1"/>
                        <a:t>Rv</a:t>
                      </a:r>
                      <a:r>
                        <a:rPr lang="en-US" sz="900" dirty="0"/>
                        <a:t>, Green value of </a:t>
                      </a:r>
                      <a:r>
                        <a:rPr lang="en-US" sz="900" dirty="0" err="1"/>
                        <a:t>Gv</a:t>
                      </a:r>
                      <a:r>
                        <a:rPr lang="en-US" sz="900" dirty="0"/>
                        <a:t> and Blue value of Bv.</a:t>
                      </a:r>
                    </a:p>
                  </a:txBody>
                  <a:tcPr marL="64008" marR="64008" marT="36576" marB="36576"/>
                </a:tc>
                <a:extLst>
                  <a:ext uri="{0D108BD9-81ED-4DB2-BD59-A6C34878D82A}">
                    <a16:rowId xmlns:a16="http://schemas.microsoft.com/office/drawing/2014/main" val="12952020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91808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7F938-3ACA-84FB-1013-6F25EF8C9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4ADB7C2-18FF-3303-53B4-5CC6D7ADB100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274320" y="-45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Live example 1</a:t>
            </a:r>
            <a:endParaRPr lang="en-US" sz="2600" dirty="0"/>
          </a:p>
        </p:txBody>
      </p:sp>
      <p:sp>
        <p:nvSpPr>
          <p:cNvPr id="8" name="move card 2 steps">
            <a:extLst>
              <a:ext uri="{FF2B5EF4-FFF2-40B4-BE49-F238E27FC236}">
                <a16:creationId xmlns:a16="http://schemas.microsoft.com/office/drawing/2014/main" id="{D13D5876-E69A-A5EA-4A5F-81F2F03D1238}"/>
              </a:ext>
            </a:extLst>
          </p:cNvPr>
          <p:cNvSpPr txBox="1"/>
          <p:nvPr/>
        </p:nvSpPr>
        <p:spPr>
          <a:xfrm>
            <a:off x="4892040" y="16459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endParaRPr lang="en-US" sz="1300" dirty="0"/>
          </a:p>
        </p:txBody>
      </p:sp>
      <p:sp>
        <p:nvSpPr>
          <p:cNvPr id="9" name="move note">
            <a:extLst>
              <a:ext uri="{FF2B5EF4-FFF2-40B4-BE49-F238E27FC236}">
                <a16:creationId xmlns:a16="http://schemas.microsoft.com/office/drawing/2014/main" id="{41398B69-3D4F-480E-C1AE-04EC4B5B75CF}"/>
              </a:ext>
            </a:extLst>
          </p:cNvPr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4581C4EF-63B4-55E7-4AB8-35CD28B514C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5037A91-ED9F-5521-992E-75F6746869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3266371"/>
              </p:ext>
            </p:extLst>
          </p:nvPr>
        </p:nvGraphicFramePr>
        <p:xfrm>
          <a:off x="300446" y="500123"/>
          <a:ext cx="8340634" cy="4017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2708">
                  <a:extLst>
                    <a:ext uri="{9D8B030D-6E8A-4147-A177-3AD203B41FA5}">
                      <a16:colId xmlns:a16="http://schemas.microsoft.com/office/drawing/2014/main" val="915218945"/>
                    </a:ext>
                  </a:extLst>
                </a:gridCol>
                <a:gridCol w="2997926">
                  <a:extLst>
                    <a:ext uri="{9D8B030D-6E8A-4147-A177-3AD203B41FA5}">
                      <a16:colId xmlns:a16="http://schemas.microsoft.com/office/drawing/2014/main" val="3366567082"/>
                    </a:ext>
                  </a:extLst>
                </a:gridCol>
              </a:tblGrid>
              <a:tr h="238163">
                <a:tc>
                  <a:txBody>
                    <a:bodyPr/>
                    <a:lstStyle/>
                    <a:p>
                      <a:r>
                        <a:rPr lang="en-US" sz="1400" dirty="0"/>
                        <a:t>Code</a:t>
                      </a:r>
                      <a:endParaRPr lang="en-I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Comments</a:t>
                      </a:r>
                      <a:endParaRPr lang="en-I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869881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r>
                        <a:rPr lang="en-IL" sz="900" kern="1200" dirty="0" err="1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ioBoardInit</a:t>
                      </a:r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();</a:t>
                      </a:r>
                    </a:p>
                    <a:p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uint8_t N = 3; </a:t>
                      </a:r>
                    </a:p>
                    <a:p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while (1)</a:t>
                      </a:r>
                    </a:p>
                    <a:p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{</a:t>
                      </a:r>
                    </a:p>
                    <a:p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for (uint16_t v = 0; v &lt;= 255; v++) // 256 brightness steps</a:t>
                      </a:r>
                    </a:p>
                    <a:p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{</a:t>
                      </a:r>
                    </a:p>
                    <a:p>
                      <a:r>
                        <a:rPr lang="en-IL" sz="900" kern="1200" dirty="0" err="1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setLedChannel</a:t>
                      </a:r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(PCA_RED, N, (uint8_t)v); // red channel of LED N only</a:t>
                      </a:r>
                    </a:p>
                    <a:p>
                      <a:r>
                        <a:rPr lang="en-IL" sz="900" kern="1200" dirty="0" err="1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HAL_Delay</a:t>
                      </a:r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(8); // 256 x 8 </a:t>
                      </a:r>
                      <a:r>
                        <a:rPr lang="en-IL" sz="900" kern="1200" dirty="0" err="1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ms</a:t>
                      </a:r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 = 2.048 s</a:t>
                      </a:r>
                    </a:p>
                    <a:p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}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endParaRPr lang="en-US" sz="900" dirty="0">
                        <a:latin typeface="Courier New"/>
                        <a:cs typeface="Courier New"/>
                      </a:endParaRP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900" dirty="0"/>
                        <a:t>This codes changes the brightness of the red from off to the brightest, in 2 [s]</a:t>
                      </a:r>
                    </a:p>
                  </a:txBody>
                  <a:tcPr marL="64008" marR="64008" marT="36576" marB="36576"/>
                </a:tc>
                <a:extLst>
                  <a:ext uri="{0D108BD9-81ED-4DB2-BD59-A6C34878D82A}">
                    <a16:rowId xmlns:a16="http://schemas.microsoft.com/office/drawing/2014/main" val="4055865733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r>
                        <a:rPr lang="en-IL" sz="900" kern="1200" dirty="0" err="1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ioBoardInit</a:t>
                      </a:r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();</a:t>
                      </a:r>
                    </a:p>
                    <a:p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uint8_t N = 3; // which LED, 0 to 7</a:t>
                      </a:r>
                    </a:p>
                    <a:p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uint8_t </a:t>
                      </a:r>
                      <a:r>
                        <a:rPr lang="en-IL" sz="900" kern="1200" dirty="0" err="1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lastV</a:t>
                      </a:r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 = 0; // </a:t>
                      </a:r>
                      <a:endParaRPr lang="en-US" sz="900" kern="1200" dirty="0">
                        <a:solidFill>
                          <a:schemeClr val="dk1"/>
                        </a:solidFill>
                        <a:latin typeface="Courier New"/>
                        <a:ea typeface="+mn-ea"/>
                        <a:cs typeface="Courier New"/>
                      </a:endParaRPr>
                    </a:p>
                    <a:p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uint32_t </a:t>
                      </a:r>
                      <a:r>
                        <a:rPr lang="en-IL" sz="900" kern="1200" dirty="0" err="1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tStart</a:t>
                      </a:r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 = </a:t>
                      </a:r>
                      <a:r>
                        <a:rPr lang="en-IL" sz="900" kern="1200" dirty="0" err="1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HAL_GetTick</a:t>
                      </a:r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(); // start of the </a:t>
                      </a:r>
                      <a:r>
                        <a:rPr lang="en-US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current </a:t>
                      </a:r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2 s period</a:t>
                      </a:r>
                    </a:p>
                    <a:p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/* USER CODE END 2 */</a:t>
                      </a:r>
                    </a:p>
                    <a:p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/* USER CODE BEGIN WHILE */</a:t>
                      </a:r>
                    </a:p>
                    <a:p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while (1)</a:t>
                      </a:r>
                    </a:p>
                    <a:p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{</a:t>
                      </a:r>
                    </a:p>
                    <a:p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uint32_t t = (</a:t>
                      </a:r>
                      <a:r>
                        <a:rPr lang="en-IL" sz="900" kern="1200" dirty="0" err="1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HAL_GetTick</a:t>
                      </a:r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() - </a:t>
                      </a:r>
                      <a:r>
                        <a:rPr lang="en-IL" sz="900" kern="1200" dirty="0" err="1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tStart</a:t>
                      </a:r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) % 2000; //</a:t>
                      </a:r>
                    </a:p>
                    <a:p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uint8_t v = (uint8_t)((t * 255) / 1999); // 0 at t = 0, 255 at t = 1999</a:t>
                      </a:r>
                    </a:p>
                    <a:p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if (v != </a:t>
                      </a:r>
                      <a:r>
                        <a:rPr lang="en-IL" sz="900" kern="1200" dirty="0" err="1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lastV</a:t>
                      </a:r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) // write only when it changes</a:t>
                      </a:r>
                    </a:p>
                    <a:p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{</a:t>
                      </a:r>
                    </a:p>
                    <a:p>
                      <a:r>
                        <a:rPr lang="en-IL" sz="900" kern="1200" dirty="0" err="1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setLedChannel</a:t>
                      </a:r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(PCA_RED, N, v);</a:t>
                      </a:r>
                    </a:p>
                    <a:p>
                      <a:r>
                        <a:rPr lang="en-IL" sz="900" kern="1200" dirty="0" err="1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lastV</a:t>
                      </a:r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 = v;</a:t>
                      </a:r>
                    </a:p>
                    <a:p>
                      <a:r>
                        <a:rPr lang="en-IL" sz="900" kern="1200" dirty="0">
                          <a:solidFill>
                            <a:schemeClr val="dk1"/>
                          </a:solidFill>
                          <a:latin typeface="Courier New"/>
                          <a:ea typeface="+mn-ea"/>
                          <a:cs typeface="Courier New"/>
                        </a:rPr>
                        <a:t>}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endParaRPr lang="en-US" sz="900" dirty="0">
                        <a:latin typeface="Courier New"/>
                        <a:cs typeface="Courier New"/>
                      </a:endParaRPr>
                    </a:p>
                  </a:txBody>
                  <a:tcPr marL="64008" marR="64008" marT="36576" marB="36576"/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900" dirty="0"/>
                        <a:t>This also.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900" dirty="0"/>
                        <a:t>Why is it better???</a:t>
                      </a:r>
                    </a:p>
                  </a:txBody>
                  <a:tcPr marL="64008" marR="64008" marT="36576" marB="36576"/>
                </a:tc>
                <a:extLst>
                  <a:ext uri="{0D108BD9-81ED-4DB2-BD59-A6C34878D82A}">
                    <a16:rowId xmlns:a16="http://schemas.microsoft.com/office/drawing/2014/main" val="2881907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0408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4  ·  23.11.2026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Timer interrupts and PWM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/>
              <a:t>The ISR and the HAL callback chain; three ways to make a PWM (polling, interrupt, hardware) and what each must fit in time.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From timer to callback: the whole chain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1F6E43"/>
                </a:solidFill>
              </a:rPr>
              <a:t>HARDWARE: runs by itself, costs no CPU time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123444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System clock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170 MHz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57984" y="123444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 dirty="0" err="1">
                <a:solidFill>
                  <a:srgbClr val="000000"/>
                </a:solidFill>
              </a:rPr>
              <a:t>Prescaler</a:t>
            </a:r>
            <a:endParaRPr sz="1300" b="1" dirty="0">
              <a:solidFill>
                <a:srgbClr val="000000"/>
              </a:solidFill>
            </a:endParaRPr>
          </a:p>
          <a:p>
            <a:pPr algn="ctr"/>
            <a:r>
              <a:rPr sz="1000" b="0" dirty="0">
                <a:solidFill>
                  <a:srgbClr val="000000"/>
                </a:solidFill>
              </a:rPr>
              <a:t>divides by PSC + 1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58768" y="123444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Counter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counts 0 to ARR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59552" y="123444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Update event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counter wraps to 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60336" y="123444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NVIC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raises the interrupt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883664" y="160020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584448" y="160020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285232" y="160020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986016" y="160020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973568" y="1965960"/>
            <a:ext cx="0" cy="54864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157984" y="2221992"/>
            <a:ext cx="5486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1F6E43"/>
                </a:solidFill>
              </a:rPr>
              <a:t>SOFTWARE: the CPU leaves the main loop, every step costs cycles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60336" y="251460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1F6E43"/>
          </a:solidFill>
          <a:ln w="9525">
            <a:solidFill>
              <a:srgbClr val="1F6E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ISR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TIM7_DAC_IRQHandler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59552" y="251460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1F6E43"/>
          </a:solidFill>
          <a:ln w="9525">
            <a:solidFill>
              <a:srgbClr val="1F6E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HAL handler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checks and clears the flag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58768" y="251460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1F6E43"/>
          </a:solidFill>
          <a:ln w="9525">
            <a:solidFill>
              <a:srgbClr val="1F6E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Your callback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PeriodElapsedCallback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57984" y="251460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F6E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Main loop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continues where it stopped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6986016" y="288036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5285232" y="288036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3584448" y="288036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457200" y="3474720"/>
            <a:ext cx="8229600" cy="868680"/>
          </a:xfrm>
          <a:prstGeom prst="roundRect">
            <a:avLst>
              <a:gd name="adj" fmla="val 8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F6E43"/>
                </a:solidFill>
              </a:rPr>
              <a:t>f</a:t>
            </a:r>
            <a:r>
              <a:rPr sz="1800" b="1" baseline="-25000">
                <a:solidFill>
                  <a:srgbClr val="1F6E43"/>
                </a:solidFill>
              </a:rPr>
              <a:t>interrupt</a:t>
            </a:r>
            <a:r>
              <a:rPr sz="1800" b="1">
                <a:solidFill>
                  <a:srgbClr val="1F6E43"/>
                </a:solidFill>
              </a:rPr>
              <a:t> = f</a:t>
            </a:r>
            <a:r>
              <a:rPr sz="1800" b="1" baseline="-25000">
                <a:solidFill>
                  <a:srgbClr val="1F6E43"/>
                </a:solidFill>
              </a:rPr>
              <a:t>clk</a:t>
            </a:r>
            <a:r>
              <a:rPr sz="1800" b="1">
                <a:solidFill>
                  <a:srgbClr val="1F6E43"/>
                </a:solidFill>
              </a:rPr>
              <a:t> / ((PSC + 1) · (ARR + 1))          T</a:t>
            </a:r>
            <a:r>
              <a:rPr sz="1800" b="1" baseline="-25000">
                <a:solidFill>
                  <a:srgbClr val="1F6E43"/>
                </a:solidFill>
              </a:rPr>
              <a:t>period</a:t>
            </a:r>
            <a:r>
              <a:rPr sz="1800" b="1">
                <a:solidFill>
                  <a:srgbClr val="1F6E43"/>
                </a:solidFill>
              </a:rPr>
              <a:t> = 1 / f</a:t>
            </a:r>
            <a:r>
              <a:rPr sz="1800" b="1" baseline="-25000">
                <a:solidFill>
                  <a:srgbClr val="1F6E43"/>
                </a:solidFill>
              </a:rPr>
              <a:t>interrupt</a:t>
            </a:r>
          </a:p>
          <a:p>
            <a:pPr algn="ctr"/>
            <a:r>
              <a:rPr sz="1300" b="0">
                <a:solidFill>
                  <a:srgbClr val="000000"/>
                </a:solidFill>
              </a:rPr>
              <a:t>CPU share used = t</a:t>
            </a:r>
            <a:r>
              <a:rPr sz="1300" b="0" baseline="-25000">
                <a:solidFill>
                  <a:srgbClr val="000000"/>
                </a:solidFill>
              </a:rPr>
              <a:t>ISR</a:t>
            </a:r>
            <a:r>
              <a:rPr sz="1300" b="0">
                <a:solidFill>
                  <a:srgbClr val="000000"/>
                </a:solidFill>
              </a:rPr>
              <a:t> / T</a:t>
            </a:r>
            <a:r>
              <a:rPr sz="1300" b="0" baseline="-25000">
                <a:solidFill>
                  <a:srgbClr val="000000"/>
                </a:solidFill>
              </a:rPr>
              <a:t>period</a:t>
            </a:r>
            <a:r>
              <a:rPr sz="1300" b="0">
                <a:solidFill>
                  <a:srgbClr val="000000"/>
                </a:solidFill>
              </a:rPr>
              <a:t>      (t</a:t>
            </a:r>
            <a:r>
              <a:rPr sz="1300" b="0" baseline="-25000">
                <a:solidFill>
                  <a:srgbClr val="000000"/>
                </a:solidFill>
              </a:rPr>
              <a:t>ISR</a:t>
            </a:r>
            <a:r>
              <a:rPr sz="1300" b="0">
                <a:solidFill>
                  <a:srgbClr val="000000"/>
                </a:solidFill>
              </a:rPr>
              <a:t>: one pass through ISR + HAL handler + callback)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The ISR: what runs when an interrupt fires</a:t>
            </a:r>
            <a:endParaRPr lang="en-US" sz="2600" dirty="0"/>
          </a:p>
        </p:txBody>
      </p:sp>
      <p:sp>
        <p:nvSpPr>
          <p:cNvPr id="3" name="rule bullets"/>
          <p:cNvSpPr txBox="1"/>
          <p:nvPr/>
        </p:nvSpPr>
        <p:spPr>
          <a:xfrm>
            <a:off x="457200" y="10972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An interrupt is a hardware event (a timer period ends, a pin changes, a byte arrives) that pauses the main loop.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6E43"/>
                </a:solidFill>
              </a:rPr>
              <a:t>The CPU runs one function, the ISR (Interrupt Service Routine), then returns to where it stopped.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The NVIC finds the ISR in the vector table. CubeMX writes it in stm32g4xx_it.c; it calls the HAL, which calls your callback.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Entering and leaving costs about a dozen cycles each way, plus the HAL code.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6E43"/>
                </a:solidFill>
              </a:rPr>
              <a:t>Keep it short: no HAL_Delay, printf or I2C. Set a counter or a flag; the main loop does the rest.</a:t>
            </a:r>
            <a:endParaRPr lang="en-US" sz="1500" dirty="0"/>
          </a:p>
        </p:txBody>
      </p:sp>
      <p:sp>
        <p:nvSpPr>
          <p:cNvPr id="4" name="rule box"/>
          <p:cNvSpPr/>
          <p:nvPr/>
        </p:nvSpPr>
        <p:spPr>
          <a:xfrm>
            <a:off x="4663440" y="1097280"/>
            <a:ext cx="4023360" cy="3383280"/>
          </a:xfrm>
          <a:prstGeom prst="roundRect">
            <a:avLst>
              <a:gd name="adj" fmla="val 2909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rule code"/>
          <p:cNvSpPr txBox="1"/>
          <p:nvPr/>
        </p:nvSpPr>
        <p:spPr>
          <a:xfrm>
            <a:off x="4800600" y="1188720"/>
            <a:ext cx="3749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stm32g4xx_it.c: the ISR (CubeMX)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TIM7_DAC_IRQHandler(void)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HAL_TIM_IRQHandler(&amp;htim7);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HAL: checks and clears the flag,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then calls the callback          */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main.c: your callback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volatile uint32_t ticks = 0;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HAL_TIM_PeriodElapsedCallback(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TIM_HandleTypeDef *htim)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(htim-&gt;Instance == TIM7)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ticks++;              /* short!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Three ways to make a PWM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26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1517904"/>
          <a:ext cx="8229600" cy="2174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6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6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6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1. Polling</a:t>
                      </a:r>
                    </a:p>
                    <a:p>
                      <a:r>
                        <a:rPr sz="900" b="0">
                          <a:solidFill>
                            <a:srgbClr val="FFFFFF"/>
                          </a:solidFill>
                        </a:rPr>
                        <a:t>main loop reads HAL_GetTick()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2. Interrupt</a:t>
                      </a:r>
                    </a:p>
                    <a:p>
                      <a:r>
                        <a:rPr sz="900" b="0">
                          <a:solidFill>
                            <a:srgbClr val="FFFFFF"/>
                          </a:solidFill>
                        </a:rPr>
                        <a:t>TIM7 callback, once per period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3. Hardware</a:t>
                      </a:r>
                    </a:p>
                    <a:p>
                      <a:r>
                        <a:rPr sz="900" b="0">
                          <a:solidFill>
                            <a:srgbClr val="FFFFFF"/>
                          </a:solidFill>
                        </a:rPr>
                        <a:t>TIM2 compares CNT with CCR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0000"/>
                          </a:solidFill>
                        </a:rPr>
                        <a:t>Who compares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the main loop, once per pass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the callback, once per period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the timer itself, on every count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0000"/>
                          </a:solidFill>
                        </a:rPr>
                        <a:t>Code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Consolas"/>
                        </a:rPr>
                        <a:t>pwm = (HAL_GetTick() % N) &lt; M;</a:t>
                      </a:r>
                    </a:p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Consolas"/>
                        </a:rPr>
                        <a:t>HAL_GPIO_WritePin(..., pwm);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Consolas"/>
                        </a:rPr>
                        <a:t>step = (step + 1) % N;</a:t>
                      </a:r>
                    </a:p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Consolas"/>
                        </a:rPr>
                        <a:t>HAL_GPIO_WritePin(..., step &lt; M);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Consolas"/>
                        </a:rPr>
                        <a:t>TIM2-&gt;CCR1 = M;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once; ARR = N − 1 is set in CubeMX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0000"/>
                          </a:solidFill>
                        </a:rPr>
                        <a:t>Step counter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HAL_GetTick() % N;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step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= 1 ms, the pin changes once per loop pass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step, +1 per callback;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step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=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period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of TIM7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CNT itself, 0 to ARR;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step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=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tick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0000"/>
                          </a:solidFill>
                        </a:rPr>
                        <a:t>PWM cycle T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PWM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 · 1 ms, if a loop pass is much shorter than 1 ms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 ·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period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 ·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tick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= (ARR + 1) ·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tick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0000"/>
                          </a:solidFill>
                        </a:rPr>
                        <a:t>CPU cost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the whole CPU (slide 16)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ISR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/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period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(slide 17)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6E43"/>
                          </a:solidFill>
                        </a:rPr>
                        <a:t>zero (slide 18)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0000"/>
                          </a:solidFill>
                        </a:rPr>
                        <a:t>Breaks when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any code makes the loop longer: the edges jitter by one loop pass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T</a:t>
                      </a:r>
                      <a:r>
                        <a:rPr sz="1000" b="0" baseline="-25000">
                          <a:solidFill>
                            <a:srgbClr val="B02A2A"/>
                          </a:solidFill>
                        </a:rPr>
                        <a:t>period</a:t>
                      </a:r>
                      <a:r>
                        <a:rPr sz="1000" b="0">
                          <a:solidFill>
                            <a:srgbClr val="B02A2A"/>
                          </a:solidFill>
                        </a:rPr>
                        <a:t> comes close to t</a:t>
                      </a:r>
                      <a:r>
                        <a:rPr sz="1000" b="0" baseline="-25000">
                          <a:solidFill>
                            <a:srgbClr val="B02A2A"/>
                          </a:solidFill>
                        </a:rPr>
                        <a:t>ISR</a:t>
                      </a:r>
                      <a:r>
                        <a:rPr sz="1000" b="0">
                          <a:solidFill>
                            <a:srgbClr val="B02A2A"/>
                          </a:solidFill>
                        </a:rPr>
                        <a:t>: fine steps or a fast PWM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the pin is not a timer channel pin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457200" y="886968"/>
            <a:ext cx="8229600" cy="457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1200" b="1">
                <a:solidFill>
                  <a:srgbClr val="1F6E43"/>
                </a:solidFill>
              </a:rPr>
              <a:t>One PWM cycle: a step counter goes 0, 1, ..., N − 1 and jumps back to 0. The output is on while the counter is below M.</a:t>
            </a:r>
          </a:p>
          <a:p>
            <a:r>
              <a:rPr sz="1100" b="0">
                <a:solidFill>
                  <a:srgbClr val="000000"/>
                </a:solidFill>
              </a:rPr>
              <a:t>N: steps per cycle.   M: steps on.   t</a:t>
            </a:r>
            <a:r>
              <a:rPr sz="1100" b="0" baseline="-25000">
                <a:solidFill>
                  <a:srgbClr val="000000"/>
                </a:solidFill>
              </a:rPr>
              <a:t>step</a:t>
            </a:r>
            <a:r>
              <a:rPr sz="1100" b="0">
                <a:solidFill>
                  <a:srgbClr val="000000"/>
                </a:solidFill>
              </a:rPr>
              <a:t>: one step.   T</a:t>
            </a:r>
            <a:r>
              <a:rPr sz="1100" b="0" baseline="-25000">
                <a:solidFill>
                  <a:srgbClr val="000000"/>
                </a:solidFill>
              </a:rPr>
              <a:t>PWM</a:t>
            </a:r>
            <a:r>
              <a:rPr sz="1100" b="0">
                <a:solidFill>
                  <a:srgbClr val="000000"/>
                </a:solidFill>
              </a:rPr>
              <a:t> = N · t</a:t>
            </a:r>
            <a:r>
              <a:rPr sz="1100" b="0" baseline="-25000">
                <a:solidFill>
                  <a:srgbClr val="000000"/>
                </a:solidFill>
              </a:rPr>
              <a:t>step</a:t>
            </a:r>
            <a:r>
              <a:rPr sz="1100" b="0">
                <a:solidFill>
                  <a:srgbClr val="000000"/>
                </a:solidFill>
              </a:rPr>
              <a:t>,   f</a:t>
            </a:r>
            <a:r>
              <a:rPr sz="1100" b="0" baseline="-25000">
                <a:solidFill>
                  <a:srgbClr val="000000"/>
                </a:solidFill>
              </a:rPr>
              <a:t>PWM</a:t>
            </a:r>
            <a:r>
              <a:rPr sz="1100" b="0">
                <a:solidFill>
                  <a:srgbClr val="000000"/>
                </a:solidFill>
              </a:rPr>
              <a:t> = 1 / T</a:t>
            </a:r>
            <a:r>
              <a:rPr sz="1100" b="0" baseline="-25000">
                <a:solidFill>
                  <a:srgbClr val="000000"/>
                </a:solidFill>
              </a:rPr>
              <a:t>PWM</a:t>
            </a:r>
            <a:r>
              <a:rPr sz="1100" b="0">
                <a:solidFill>
                  <a:srgbClr val="000000"/>
                </a:solidFill>
              </a:rPr>
              <a:t>,   duty = M / N.   Each method gets its step counter from a different source.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1200" b="1">
                <a:solidFill>
                  <a:srgbClr val="1F6E43"/>
                </a:solidFill>
              </a:rPr>
              <a:t>The CPU can read a counter at any moment, but it is never interrupted at each count.</a:t>
            </a:r>
          </a:p>
          <a:p>
            <a:r>
              <a:rPr sz="1100" b="0">
                <a:solidFill>
                  <a:srgbClr val="000000"/>
                </a:solidFill>
              </a:rPr>
              <a:t>HAL_GetTick() changes every 1 ms. TIM2-&gt;CNT changes every t</a:t>
            </a:r>
            <a:r>
              <a:rPr sz="1100" b="0" baseline="-25000">
                <a:solidFill>
                  <a:srgbClr val="000000"/>
                </a:solidFill>
              </a:rPr>
              <a:t>tick</a:t>
            </a:r>
            <a:r>
              <a:rPr sz="1100" b="0">
                <a:solidFill>
                  <a:srgbClr val="000000"/>
                </a:solidFill>
              </a:rPr>
              <a:t> (5.9 ns at PSC = 0), but the loop sees it only once per pass, so the step becomes t</a:t>
            </a:r>
            <a:r>
              <a:rPr sz="1100" b="0" baseline="-25000">
                <a:solidFill>
                  <a:srgbClr val="000000"/>
                </a:solidFill>
              </a:rPr>
              <a:t>loop</a:t>
            </a:r>
            <a:r>
              <a:rPr sz="1100" b="0">
                <a:solidFill>
                  <a:srgbClr val="000000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Polling: what must fit in one step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27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960120"/>
          <a:ext cx="8229600" cy="1563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Symbol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it is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Formula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Working example</a:t>
                      </a:r>
                    </a:p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FFFFFF"/>
                          </a:solidFill>
                        </a:rPr>
                        <a:t>PWM</a:t>
                      </a:r>
                      <a:r>
                        <a:rPr sz="1000" b="0">
                          <a:solidFill>
                            <a:srgbClr val="FFFFFF"/>
                          </a:solidFill>
                        </a:rPr>
                        <a:t> = 100 Hz, N = 10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Not working example</a:t>
                      </a:r>
                    </a:p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FFFFFF"/>
                          </a:solidFill>
                        </a:rPr>
                        <a:t>PWM</a:t>
                      </a:r>
                      <a:r>
                        <a:rPr sz="1000" b="0">
                          <a:solidFill>
                            <a:srgbClr val="FFFFFF"/>
                          </a:solidFill>
                        </a:rPr>
                        <a:t> = 100 Hz, N = 10</a:t>
                      </a:r>
                    </a:p>
                  </a:txBody>
                  <a:tcPr marL="64008" marR="64008" marT="18288" marB="18288" anchor="ctr">
                    <a:solidFill>
                      <a:srgbClr val="B0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step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One PWM step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HAL_GetTick(): fixed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 ms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 ms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Steps on, for 50 %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 / 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PWM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PWM cycle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 ·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step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10 ms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10 ms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loop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One pass of the main loop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cycles ·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clk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: measure it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about 1 µs: PWM lines only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about 1.9 ms: plus a printf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late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How late an edge can be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up to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loop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 µs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1.9 ms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180942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duty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Duty you get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M / 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50 %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31 to 69 %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6112722"/>
                  </a:ext>
                </a:extLst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57200" y="2600000"/>
            <a:ext cx="8229600" cy="457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1200" b="1">
                <a:solidFill>
                  <a:srgbClr val="1F6E43"/>
                </a:solidFill>
              </a:rPr>
              <a:t>Must hold: t</a:t>
            </a:r>
            <a:r>
              <a:rPr sz="1200" b="1" baseline="-25000">
                <a:solidFill>
                  <a:srgbClr val="1F6E43"/>
                </a:solidFill>
              </a:rPr>
              <a:t>loop</a:t>
            </a:r>
            <a:r>
              <a:rPr sz="1200" b="1">
                <a:solidFill>
                  <a:srgbClr val="1F6E43"/>
                </a:solidFill>
              </a:rPr>
              <a:t> much shorter than t</a:t>
            </a:r>
            <a:r>
              <a:rPr sz="1200" b="1" baseline="-25000">
                <a:solidFill>
                  <a:srgbClr val="1F6E43"/>
                </a:solidFill>
              </a:rPr>
              <a:t>step</a:t>
            </a:r>
            <a:r>
              <a:rPr sz="1200" b="1">
                <a:solidFill>
                  <a:srgbClr val="1F6E43"/>
                </a:solidFill>
              </a:rPr>
              <a:t>. Every line in the loop (printf, I2C, HAL_Delay) adds to t</a:t>
            </a:r>
            <a:r>
              <a:rPr sz="1200" b="1" baseline="-25000">
                <a:solidFill>
                  <a:srgbClr val="1F6E43"/>
                </a:solidFill>
              </a:rPr>
              <a:t>loop</a:t>
            </a:r>
            <a:r>
              <a:rPr sz="1200" b="1">
                <a:solidFill>
                  <a:srgbClr val="1F6E43"/>
                </a:solidFill>
              </a:rPr>
              <a:t>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900000"/>
            <a:ext cx="4023360" cy="1830000"/>
          </a:xfrm>
          <a:prstGeom prst="roundRect">
            <a:avLst>
              <a:gd name="adj" fmla="val 6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2954864"/>
            <a:ext cx="380390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6E43"/>
                </a:solidFill>
              </a:rPr>
              <a:t>Working example: f</a:t>
            </a:r>
            <a:r>
              <a:rPr sz="1150" b="1" baseline="-25000">
                <a:solidFill>
                  <a:srgbClr val="1F6E43"/>
                </a:solidFill>
              </a:rPr>
              <a:t>PWM</a:t>
            </a:r>
            <a:r>
              <a:rPr sz="1150" b="1">
                <a:solidFill>
                  <a:srgbClr val="1F6E43"/>
                </a:solidFill>
              </a:rPr>
              <a:t> = 100 Hz, N = 10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HAL_GetTick() goes up by 1 every 1 ms: that is one PWM step.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One pass of the loop takes about 1 µs, so the loop reads each tick value about 1000 times.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HAL_GetTick() % 10 is the step counter: 0, 1, ..., 9, then back to 0. One cycle lasts 10 ms (100 Hz).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For steps 0 to 4 (below M = 5) the pin is on, 5 ms; for steps 5 to 9 it is off.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Each change is seen at most 1 µs late, so the duty stays 50 %.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2900000"/>
            <a:ext cx="4023360" cy="1830000"/>
          </a:xfrm>
          <a:prstGeom prst="roundRect">
            <a:avLst>
              <a:gd name="adj" fmla="val 6000"/>
            </a:avLst>
          </a:prstGeom>
          <a:solidFill>
            <a:srgbClr val="FBF1F1"/>
          </a:solidFill>
          <a:ln w="9525">
            <a:solidFill>
              <a:srgbClr val="E6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73168" y="2954864"/>
            <a:ext cx="380390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B02A2A"/>
                </a:solidFill>
              </a:rPr>
              <a:t>Not working example: f</a:t>
            </a:r>
            <a:r>
              <a:rPr sz="1150" b="1" baseline="-25000">
                <a:solidFill>
                  <a:srgbClr val="B02A2A"/>
                </a:solidFill>
              </a:rPr>
              <a:t>PWM</a:t>
            </a:r>
            <a:r>
              <a:rPr sz="1150" b="1">
                <a:solidFill>
                  <a:srgbClr val="B02A2A"/>
                </a:solidFill>
              </a:rPr>
              <a:t> = 100 Hz, N = 10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The same PWM, plus one printf of 22 characters in the loop.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At 115 200 baud a character takes 87 µs, so the printf blocks for 22 · 87 µs ≈ 1.9 ms.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One pass now takes 1.9 ms: the loop reads the tick only about every second step.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The pin changes up to 1.9 ms late: the 5 ms on time becomes anything from 3.1 to 6.9 ms.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The duty jumps between 31 and 69 % from cycle to cycle: the LED flickers.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Interrupt: what must fit in one period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28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960120"/>
          <a:ext cx="8229600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Symbol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it is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Formula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Working example</a:t>
                      </a:r>
                    </a:p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FFFFFF"/>
                          </a:solidFill>
                        </a:rPr>
                        <a:t>PWM</a:t>
                      </a:r>
                      <a:r>
                        <a:rPr sz="1000" b="0">
                          <a:solidFill>
                            <a:srgbClr val="FFFFFF"/>
                          </a:solidFill>
                        </a:rPr>
                        <a:t> = 1 kHz, N = 100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Not working example</a:t>
                      </a:r>
                    </a:p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FFFFFF"/>
                          </a:solidFill>
                        </a:rPr>
                        <a:t>PWM</a:t>
                      </a:r>
                      <a:r>
                        <a:rPr sz="1000" b="0">
                          <a:solidFill>
                            <a:srgbClr val="FFFFFF"/>
                          </a:solidFill>
                        </a:rPr>
                        <a:t> = 20 kHz, N = 100</a:t>
                      </a:r>
                    </a:p>
                  </a:txBody>
                  <a:tcPr marL="64008" marR="64008" marT="18288" marB="18288" anchor="ctr">
                    <a:solidFill>
                      <a:srgbClr val="B0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PSC, ARR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TIM7 prescaler and auto-reload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set in CubeMX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169, 9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16, 4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tick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One count of TIM7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(PSC + 1) ·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clk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170 · 5.9 ns = 1 µs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17 · 5.9 ns = 0.1 µs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period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Between interrupts: one step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(ARR + 1) ·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tick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10 · 1 µs = 10 µs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 · 0.1 µs = 0.5 µs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Steps on, for 50 %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 / 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ISR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CPU time of one interrupt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cycles ·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clk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: measure it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170 cycles = 1 µs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 µs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free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Left for the main loop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period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−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ISR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9 µs (90 %)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0.5 − 1 &lt; 0: none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090483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PWM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PWM cycle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 ·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period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 ms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about 100 µs, not 50 µs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2397239"/>
                  </a:ext>
                </a:extLst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57200" y="2770000"/>
            <a:ext cx="8229600" cy="457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1200" b="1">
                <a:solidFill>
                  <a:srgbClr val="1F6E43"/>
                </a:solidFill>
              </a:rPr>
              <a:t>Must hold: t</a:t>
            </a:r>
            <a:r>
              <a:rPr sz="1200" b="1" baseline="-25000">
                <a:solidFill>
                  <a:srgbClr val="1F6E43"/>
                </a:solidFill>
              </a:rPr>
              <a:t>ISR</a:t>
            </a:r>
            <a:r>
              <a:rPr sz="1200" b="1">
                <a:solidFill>
                  <a:srgbClr val="1F6E43"/>
                </a:solidFill>
              </a:rPr>
              <a:t> &lt; T</a:t>
            </a:r>
            <a:r>
              <a:rPr sz="1200" b="1" baseline="-25000">
                <a:solidFill>
                  <a:srgbClr val="1F6E43"/>
                </a:solidFill>
              </a:rPr>
              <a:t>period</a:t>
            </a:r>
            <a:r>
              <a:rPr sz="1200" b="1">
                <a:solidFill>
                  <a:srgbClr val="1F6E43"/>
                </a:solidFill>
              </a:rPr>
              <a:t>, with a margin: keep t</a:t>
            </a:r>
            <a:r>
              <a:rPr sz="1200" b="1" baseline="-25000">
                <a:solidFill>
                  <a:srgbClr val="1F6E43"/>
                </a:solidFill>
              </a:rPr>
              <a:t>ISR</a:t>
            </a:r>
            <a:r>
              <a:rPr sz="1200" b="1">
                <a:solidFill>
                  <a:srgbClr val="1F6E43"/>
                </a:solidFill>
              </a:rPr>
              <a:t> below about 10 % of T</a:t>
            </a:r>
            <a:r>
              <a:rPr sz="1200" b="1" baseline="-25000">
                <a:solidFill>
                  <a:srgbClr val="1F6E43"/>
                </a:solidFill>
              </a:rPr>
              <a:t>period</a:t>
            </a:r>
            <a:r>
              <a:rPr sz="1200" b="1">
                <a:solidFill>
                  <a:srgbClr val="1F6E43"/>
                </a:solidFill>
              </a:rPr>
              <a:t>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060000"/>
            <a:ext cx="4023360" cy="1670000"/>
          </a:xfrm>
          <a:prstGeom prst="roundRect">
            <a:avLst>
              <a:gd name="adj" fmla="val 6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3114864"/>
            <a:ext cx="380390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6E43"/>
                </a:solidFill>
              </a:rPr>
              <a:t>Working example: f</a:t>
            </a:r>
            <a:r>
              <a:rPr sz="1150" b="1" baseline="-25000">
                <a:solidFill>
                  <a:srgbClr val="1F6E43"/>
                </a:solidFill>
              </a:rPr>
              <a:t>PWM</a:t>
            </a:r>
            <a:r>
              <a:rPr sz="1150" b="1">
                <a:solidFill>
                  <a:srgbClr val="1F6E43"/>
                </a:solidFill>
              </a:rPr>
              <a:t> = 1 kHz, N = 100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TIM7 counts every 1 µs (PSC = 169) and wraps after 10 counts (ARR = 9): an interrupt every 10 µs, which is one PWM step.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After 0.07 µs (12 cycles) the CPU is in the ISR. HAL clears the flag, and the callback runs step = (step + 1) % 100 and sets the pin on while step &lt; 50.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About 1 µs after the wrap the CPU is back in the main loop, with 9 µs (90 %) left.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100 steps of 10 µs make one cycle: 1 ms, so 1 kHz at 50 %.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3060000"/>
            <a:ext cx="4023360" cy="1670000"/>
          </a:xfrm>
          <a:prstGeom prst="roundRect">
            <a:avLst>
              <a:gd name="adj" fmla="val 6000"/>
            </a:avLst>
          </a:prstGeom>
          <a:solidFill>
            <a:srgbClr val="FBF1F1"/>
          </a:solidFill>
          <a:ln w="9525">
            <a:solidFill>
              <a:srgbClr val="E6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73168" y="3114864"/>
            <a:ext cx="380390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B02A2A"/>
                </a:solidFill>
              </a:rPr>
              <a:t>Not working example: f</a:t>
            </a:r>
            <a:r>
              <a:rPr sz="1150" b="1" baseline="-25000">
                <a:solidFill>
                  <a:srgbClr val="B02A2A"/>
                </a:solidFill>
              </a:rPr>
              <a:t>PWM</a:t>
            </a:r>
            <a:r>
              <a:rPr sz="1150" b="1">
                <a:solidFill>
                  <a:srgbClr val="B02A2A"/>
                </a:solidFill>
              </a:rPr>
              <a:t> = 20 kHz, N = 100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For 20 kHz with 100 steps, one step must last 50 µs / 100 = 0.5 µs: PSC = 16 (0.1 µs per count) and ARR = 4.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One interrupt takes about 1 µs, so the next wrap comes before the ISR ends.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The CPU re-enters the ISR at once and the main loop never runs: no printf, no buttons.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The flag cannot count twice, so every second interrupt is lost: step counts at half speed, and T</a:t>
            </a:r>
            <a:r>
              <a:rPr sz="1000" b="0" baseline="-25000">
                <a:solidFill>
                  <a:srgbClr val="000000"/>
                </a:solidFill>
              </a:rPr>
              <a:t>PWM</a:t>
            </a:r>
            <a:r>
              <a:rPr sz="1000" b="0">
                <a:solidFill>
                  <a:srgbClr val="000000"/>
                </a:solidFill>
              </a:rPr>
              <a:t> ≈ 100 µs (10 kHz).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Hardware: what limits the PWM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29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960120"/>
          <a:ext cx="8229600" cy="1563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Symbol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it is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Formula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Working example</a:t>
                      </a:r>
                    </a:p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FFFFFF"/>
                          </a:solidFill>
                        </a:rPr>
                        <a:t>PWM</a:t>
                      </a:r>
                      <a:r>
                        <a:rPr sz="1000" b="0">
                          <a:solidFill>
                            <a:srgbClr val="FFFFFF"/>
                          </a:solidFill>
                        </a:rPr>
                        <a:t> = 17 kHz, N = 10 000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Not working example</a:t>
                      </a:r>
                    </a:p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FFFFFF"/>
                          </a:solidFill>
                        </a:rPr>
                        <a:t>PWM</a:t>
                      </a:r>
                      <a:r>
                        <a:rPr sz="1000" b="0">
                          <a:solidFill>
                            <a:srgbClr val="FFFFFF"/>
                          </a:solidFill>
                        </a:rPr>
                        <a:t> = 100 kHz, N = 10 000</a:t>
                      </a:r>
                    </a:p>
                  </a:txBody>
                  <a:tcPr marL="64008" marR="64008" marT="18288" marB="18288" anchor="ctr">
                    <a:solidFill>
                      <a:srgbClr val="B0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PWM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PWM cycle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 / 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PWM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59 µs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10 µs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tick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One count of CNT: one step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PWM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/ 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5.9 ns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1 ns: shorter than t</a:t>
                      </a:r>
                      <a:r>
                        <a:rPr sz="1000" b="0" baseline="-25000">
                          <a:solidFill>
                            <a:srgbClr val="B02A2A"/>
                          </a:solidFill>
                        </a:rPr>
                        <a:t>clk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PSC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Prescaler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tick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/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clk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− 1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0.17 − 1 &lt; 0: impossible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ARR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Auto-reload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 − 1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9999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9999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M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CCR, for 50 %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 / 2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5000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5000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CPU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CPU time per cycle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none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0581616"/>
                  </a:ext>
                </a:extLst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57200" y="2600000"/>
            <a:ext cx="8229600" cy="457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1200" b="1">
                <a:solidFill>
                  <a:srgbClr val="1F6E43"/>
                </a:solidFill>
              </a:rPr>
              <a:t>Must hold: f</a:t>
            </a:r>
            <a:r>
              <a:rPr sz="1200" b="1" baseline="-25000">
                <a:solidFill>
                  <a:srgbClr val="1F6E43"/>
                </a:solidFill>
              </a:rPr>
              <a:t>PWM</a:t>
            </a:r>
            <a:r>
              <a:rPr sz="1200" b="1">
                <a:solidFill>
                  <a:srgbClr val="1F6E43"/>
                </a:solidFill>
              </a:rPr>
              <a:t> · N ≤ f</a:t>
            </a:r>
            <a:r>
              <a:rPr sz="1200" b="1" baseline="-25000">
                <a:solidFill>
                  <a:srgbClr val="1F6E43"/>
                </a:solidFill>
              </a:rPr>
              <a:t>clk</a:t>
            </a:r>
            <a:r>
              <a:rPr sz="1200" b="1">
                <a:solidFill>
                  <a:srgbClr val="1F6E43"/>
                </a:solidFill>
              </a:rPr>
              <a:t> = 170 MHz. The CPU is never involved: no t</a:t>
            </a:r>
            <a:r>
              <a:rPr sz="1200" b="1" baseline="-25000">
                <a:solidFill>
                  <a:srgbClr val="1F6E43"/>
                </a:solidFill>
              </a:rPr>
              <a:t>ISR</a:t>
            </a:r>
            <a:r>
              <a:rPr sz="1200" b="1">
                <a:solidFill>
                  <a:srgbClr val="1F6E43"/>
                </a:solidFill>
              </a:rPr>
              <a:t>, no t</a:t>
            </a:r>
            <a:r>
              <a:rPr sz="1200" b="1" baseline="-25000">
                <a:solidFill>
                  <a:srgbClr val="1F6E43"/>
                </a:solidFill>
              </a:rPr>
              <a:t>loop</a:t>
            </a:r>
            <a:r>
              <a:rPr sz="1200" b="1">
                <a:solidFill>
                  <a:srgbClr val="1F6E43"/>
                </a:solidFill>
              </a:rPr>
              <a:t>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900000"/>
            <a:ext cx="4023360" cy="1830000"/>
          </a:xfrm>
          <a:prstGeom prst="roundRect">
            <a:avLst>
              <a:gd name="adj" fmla="val 6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2954864"/>
            <a:ext cx="380390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6E43"/>
                </a:solidFill>
              </a:rPr>
              <a:t>Working example: f</a:t>
            </a:r>
            <a:r>
              <a:rPr sz="1150" b="1" baseline="-25000">
                <a:solidFill>
                  <a:srgbClr val="1F6E43"/>
                </a:solidFill>
              </a:rPr>
              <a:t>PWM</a:t>
            </a:r>
            <a:r>
              <a:rPr sz="1150" b="1">
                <a:solidFill>
                  <a:srgbClr val="1F6E43"/>
                </a:solidFill>
              </a:rPr>
              <a:t> = 17 kHz, N = 10 000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17 kHz means one cycle of 1 / 17 kHz = 59 µs. With N = 10 000, one step lasts 59 µs / 10 000 = 5.9 ns: exactly one clock, so PSC = 0 and ARR = N − 1 = 9999.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TIM2’s counter CNT counts 0 to 9999, one count per 5.9 ns, and wraps. The code writes TIM2-&gt;CCR1 = 5000 once.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On every count the timer compares CNT with CCR: the pin is on for counts 0 to 4999 (29.5 µs) and off for the rest. No code runs, the CPU is free.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2900000"/>
            <a:ext cx="4023360" cy="1830000"/>
          </a:xfrm>
          <a:prstGeom prst="roundRect">
            <a:avLst>
              <a:gd name="adj" fmla="val 6000"/>
            </a:avLst>
          </a:prstGeom>
          <a:solidFill>
            <a:srgbClr val="FBF1F1"/>
          </a:solidFill>
          <a:ln w="9525">
            <a:solidFill>
              <a:srgbClr val="E6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73168" y="2954864"/>
            <a:ext cx="380390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B02A2A"/>
                </a:solidFill>
              </a:rPr>
              <a:t>Not working example: f</a:t>
            </a:r>
            <a:r>
              <a:rPr sz="1150" b="1" baseline="-25000">
                <a:solidFill>
                  <a:srgbClr val="B02A2A"/>
                </a:solidFill>
              </a:rPr>
              <a:t>PWM</a:t>
            </a:r>
            <a:r>
              <a:rPr sz="1150" b="1">
                <a:solidFill>
                  <a:srgbClr val="B02A2A"/>
                </a:solidFill>
              </a:rPr>
              <a:t> = 100 kHz, N = 10 000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100 kHz means one cycle of 10 µs. With the same N = 10 000, one step would last 10 µs / 10 000 = 1 ns.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The shortest step is one clock, 5.9 ns. 1 ns would need PSC + 1 = 0.17, which is impossible.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The check: 100 kHz · 10 000 = 1 GHz, more than f</a:t>
            </a:r>
            <a:r>
              <a:rPr sz="1000" b="0" baseline="-25000">
                <a:solidFill>
                  <a:srgbClr val="000000"/>
                </a:solidFill>
              </a:rPr>
              <a:t>clk</a:t>
            </a:r>
            <a:r>
              <a:rPr sz="1000" b="0">
                <a:solidFill>
                  <a:srgbClr val="000000"/>
                </a:solidFill>
              </a:rPr>
              <a:t> = 170 MHz.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With PSC = 0 and ARR = 9999 the timer gives only 17 kHz. For 100 kHz, N must drop to 1700 (ARR = 1699).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5  ·  30.11.2026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I2C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6  ·  7.12.2026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.ioc file and SR04 reading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Creating a .ioc in STM32CubeMX, and starting Assignment 2 from ass1.ioc; reading the SR04 ultrasonic sensor; self-learning: blocking vs. non-blocking.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From a .ioc to a running project</a:t>
            </a:r>
            <a:endParaRPr lang="en-US" sz="2600" dirty="0"/>
          </a:p>
        </p:txBody>
      </p:sp>
      <p:sp>
        <p:nvSpPr>
          <p:cNvPr id="3" name="ioc flow card 1"/>
          <p:cNvSpPr/>
          <p:nvPr/>
        </p:nvSpPr>
        <p:spPr>
          <a:xfrm>
            <a:off x="457200" y="1097280"/>
            <a:ext cx="2560320" cy="228600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ioc flow card 1 title"/>
          <p:cNvSpPr txBox="1"/>
          <p:nvPr/>
        </p:nvSpPr>
        <p:spPr>
          <a:xfrm>
            <a:off x="640080" y="1188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E43"/>
                </a:solidFill>
              </a:rPr>
              <a:t>1. Configure</a:t>
            </a:r>
            <a:endParaRPr lang="en-US" sz="1800" dirty="0"/>
          </a:p>
        </p:txBody>
      </p:sp>
      <p:sp>
        <p:nvSpPr>
          <p:cNvPr id="5" name="ioc flow card 1 steps"/>
          <p:cNvSpPr txBox="1"/>
          <p:nvPr/>
        </p:nvSpPr>
        <p:spPr>
          <a:xfrm>
            <a:off x="640080" y="16459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STM32CubeMX, file </a:t>
            </a:r>
            <a:r>
              <a:rPr lang="en-US" sz="1300" dirty="0">
                <a:solidFill>
                  <a:srgbClr val="1C1C1C"/>
                </a:solidFill>
                <a:latin typeface="Courier New"/>
                <a:cs typeface="Courier New"/>
              </a:rPr>
              <a:t>ass1.ioc</a:t>
            </a:r>
            <a:endParaRPr lang="en-US" sz="1300" dirty="0"/>
          </a:p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The whole hardware setup: pins, peripherals, clock, interrupts</a:t>
            </a:r>
            <a:endParaRPr lang="en-US" sz="1300" dirty="0"/>
          </a:p>
        </p:txBody>
      </p:sp>
      <p:sp>
        <p:nvSpPr>
          <p:cNvPr id="6" name="ioc flow card 2"/>
          <p:cNvSpPr/>
          <p:nvPr/>
        </p:nvSpPr>
        <p:spPr>
          <a:xfrm>
            <a:off x="3291840" y="1097280"/>
            <a:ext cx="2560320" cy="228600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ioc flow card 2 title"/>
          <p:cNvSpPr txBox="1"/>
          <p:nvPr/>
        </p:nvSpPr>
        <p:spPr>
          <a:xfrm>
            <a:off x="3474720" y="1188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E43"/>
                </a:solidFill>
              </a:rPr>
              <a:t>2. Generate</a:t>
            </a:r>
            <a:endParaRPr lang="en-US" sz="1800" dirty="0"/>
          </a:p>
        </p:txBody>
      </p:sp>
      <p:sp>
        <p:nvSpPr>
          <p:cNvPr id="8" name="ioc flow card 2 steps"/>
          <p:cNvSpPr txBox="1"/>
          <p:nvPr/>
        </p:nvSpPr>
        <p:spPr>
          <a:xfrm>
            <a:off x="3474720" y="16459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GENERATE CODE writes </a:t>
            </a:r>
            <a:r>
              <a:rPr lang="en-US" sz="1300" dirty="0">
                <a:solidFill>
                  <a:srgbClr val="1C1C1C"/>
                </a:solidFill>
                <a:latin typeface="Courier New"/>
                <a:cs typeface="Courier New"/>
              </a:rPr>
              <a:t>main.c</a:t>
            </a:r>
            <a:r>
              <a:rPr lang="en-US" sz="1300" dirty="0">
                <a:solidFill>
                  <a:srgbClr val="1C1C1C"/>
                </a:solidFill>
              </a:rPr>
              <a:t> with </a:t>
            </a:r>
            <a:r>
              <a:rPr lang="en-US" sz="1300" dirty="0">
                <a:solidFill>
                  <a:srgbClr val="1C1C1C"/>
                </a:solidFill>
                <a:latin typeface="Courier New"/>
                <a:cs typeface="Courier New"/>
              </a:rPr>
              <a:t>MX_GPIO_Init()</a:t>
            </a:r>
            <a:r>
              <a:rPr lang="en-US" sz="1300" dirty="0">
                <a:solidFill>
                  <a:srgbClr val="1C1C1C"/>
                </a:solidFill>
              </a:rPr>
              <a:t>, </a:t>
            </a:r>
            <a:r>
              <a:rPr lang="en-US" sz="1300" dirty="0">
                <a:solidFill>
                  <a:srgbClr val="1C1C1C"/>
                </a:solidFill>
                <a:latin typeface="Courier New"/>
                <a:cs typeface="Courier New"/>
              </a:rPr>
              <a:t>MX_I2C1_Init()</a:t>
            </a:r>
            <a:r>
              <a:rPr lang="en-US" sz="1300" dirty="0">
                <a:solidFill>
                  <a:srgbClr val="1C1C1C"/>
                </a:solidFill>
              </a:rPr>
              <a:t>, ...</a:t>
            </a:r>
            <a:endParaRPr lang="en-US" sz="1300" dirty="0"/>
          </a:p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and copies the HAL drivers</a:t>
            </a:r>
            <a:endParaRPr lang="en-US" sz="1300" dirty="0"/>
          </a:p>
        </p:txBody>
      </p:sp>
      <p:sp>
        <p:nvSpPr>
          <p:cNvPr id="9" name="ioc flow card 3"/>
          <p:cNvSpPr/>
          <p:nvPr/>
        </p:nvSpPr>
        <p:spPr>
          <a:xfrm>
            <a:off x="6126480" y="1097280"/>
            <a:ext cx="2560320" cy="228600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ioc flow card 3 title"/>
          <p:cNvSpPr txBox="1"/>
          <p:nvPr/>
        </p:nvSpPr>
        <p:spPr>
          <a:xfrm>
            <a:off x="6309360" y="1188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E43"/>
                </a:solidFill>
              </a:rPr>
              <a:t>3. Import and code</a:t>
            </a:r>
            <a:endParaRPr lang="en-US" sz="1800" dirty="0"/>
          </a:p>
        </p:txBody>
      </p:sp>
      <p:sp>
        <p:nvSpPr>
          <p:cNvPr id="11" name="ioc flow card 3 steps"/>
          <p:cNvSpPr txBox="1"/>
          <p:nvPr/>
        </p:nvSpPr>
        <p:spPr>
          <a:xfrm>
            <a:off x="6309360" y="16459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STM32CubeIDE: File &gt; Import, then the wizard STM32CubeMX/ STM32CubeIDE Project</a:t>
            </a:r>
            <a:endParaRPr lang="en-US" sz="1300" dirty="0"/>
          </a:p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Your code goes only between USER CODE BEGIN and END</a:t>
            </a:r>
            <a:endParaRPr lang="en-US" sz="1300" dirty="0"/>
          </a:p>
        </p:txBody>
      </p:sp>
      <p:sp>
        <p:nvSpPr>
          <p:cNvPr id="12" name="ioc flow note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</a:rPr>
              <a:t>The .ioc is the source. Every GENERATE CODE rewrites the generated code and keeps only what is inside the USER CODE sections.</a:t>
            </a:r>
            <a:endParaRPr lang="en-US" sz="13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Rebuilding ass1.ioc: board and pins</a:t>
            </a:r>
            <a:endParaRPr lang="en-US" sz="2600" dirty="0"/>
          </a:p>
        </p:txBody>
      </p:sp>
      <p:graphicFrame>
        <p:nvGraphicFramePr>
          <p:cNvPr id="3" name="ioc pins table"/>
          <p:cNvGraphicFramePr>
            <a:graphicFrameLocks noGrp="1"/>
          </p:cNvGraphicFramePr>
          <p:nvPr/>
        </p:nvGraphicFramePr>
        <p:xfrm>
          <a:off x="457200" y="1051560"/>
          <a:ext cx="8229600" cy="283464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in CubeMX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Board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File &gt; New Project &gt; Board Selector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NUCLEO-G474RE; answer Yes to initialise all peripherals with their default mode (gives LD2, B1, LPUART1 and the debug pins)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IR sensor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Pinout view: click PA7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GPIO_Input; right-click &gt; Enter User Label: IR_SENSOR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I2C1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Connectivity &gt; I2C1 &gt; Mode: I2C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Check the pins: PB8 = SCL, PB9 = SDA. Ctrl+click a pin to see where else it can go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Debug pins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PA13, PA14, PB3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Never reassign them: they connect the ST-LINK debugger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ioc pins note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</a:rPr>
              <a:t>A user label becomes a name in main.h: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IR_SENSOR_Pin</a:t>
            </a:r>
            <a:r>
              <a:rPr lang="en-US" sz="1300" i="1" dirty="0">
                <a:solidFill>
                  <a:srgbClr val="5C5C5C"/>
                </a:solidFill>
              </a:rPr>
              <a:t>,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IR_SENSOR_GPIO_Port</a:t>
            </a:r>
            <a:r>
              <a:rPr lang="en-US" sz="1300" i="1" dirty="0">
                <a:solidFill>
                  <a:srgbClr val="5C5C5C"/>
                </a:solidFill>
              </a:rPr>
              <a:t>.</a:t>
            </a:r>
            <a:endParaRPr lang="en-US" sz="13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Peripherals, clock and interrupts</a:t>
            </a:r>
            <a:endParaRPr lang="en-US" sz="2600" dirty="0"/>
          </a:p>
        </p:txBody>
      </p:sp>
      <p:graphicFrame>
        <p:nvGraphicFramePr>
          <p:cNvPr id="3" name="ioc periph table"/>
          <p:cNvGraphicFramePr>
            <a:graphicFrameLocks noGrp="1"/>
          </p:cNvGraphicFramePr>
          <p:nvPr/>
        </p:nvGraphicFramePr>
        <p:xfrm>
          <a:off x="457200" y="1051560"/>
          <a:ext cx="8229600" cy="27432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in CubeMX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I2C1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Connectivity &gt; I2C1 &gt; Parameter Settings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Fast mode, 400 kHz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LPUART1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Connectivity &gt; LPUART1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Asynchronous, 115200 baud, 8 bits, no parity, 1 stop bit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Clock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Clock Configuration tab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HCLK = 170 MHz (PLL from HSI)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B1 interrupt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System Core &gt; NVIC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EXTI line[15:10] interrupts: Enabled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Project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Project Manager tab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Name ass1, Toolchain / IDE: STM32CubeIDE. Then GENERATE CODE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ioc periph note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</a:rPr>
              <a:t>Check: main.c calls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MX_GPIO_Init()</a:t>
            </a:r>
            <a:r>
              <a:rPr lang="en-US" sz="1300" i="1" dirty="0">
                <a:solidFill>
                  <a:srgbClr val="5C5C5C"/>
                </a:solidFill>
              </a:rPr>
              <a:t>,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MX_LPUART1_UART_Init()</a:t>
            </a:r>
            <a:r>
              <a:rPr lang="en-US" sz="1300" i="1" dirty="0">
                <a:solidFill>
                  <a:srgbClr val="5C5C5C"/>
                </a:solidFill>
              </a:rPr>
              <a:t> and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MX_I2C1_Init()</a:t>
            </a:r>
            <a:r>
              <a:rPr lang="en-US" sz="1300" i="1" dirty="0">
                <a:solidFill>
                  <a:srgbClr val="5C5C5C"/>
                </a:solidFill>
              </a:rPr>
              <a:t>, the same as the provided ass1.ioc.</a:t>
            </a:r>
            <a:endParaRPr lang="en-US" sz="13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Assignment 2: start from ass1.ioc</a:t>
            </a:r>
            <a:endParaRPr lang="en-US" sz="2600" dirty="0"/>
          </a:p>
        </p:txBody>
      </p:sp>
      <p:sp>
        <p:nvSpPr>
          <p:cNvPr id="3" name="ass2 card 1"/>
          <p:cNvSpPr/>
          <p:nvPr/>
        </p:nvSpPr>
        <p:spPr>
          <a:xfrm>
            <a:off x="457200" y="1097280"/>
            <a:ext cx="3977640" cy="210312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ass2 card 1 title"/>
          <p:cNvSpPr txBox="1"/>
          <p:nvPr/>
        </p:nvSpPr>
        <p:spPr>
          <a:xfrm>
            <a:off x="64008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E43"/>
                </a:solidFill>
              </a:rPr>
              <a:t>Duplicate</a:t>
            </a:r>
            <a:endParaRPr lang="en-US" sz="1800" dirty="0"/>
          </a:p>
        </p:txBody>
      </p:sp>
      <p:sp>
        <p:nvSpPr>
          <p:cNvPr id="5" name="ass2 card 1 steps"/>
          <p:cNvSpPr txBox="1"/>
          <p:nvPr/>
        </p:nvSpPr>
        <p:spPr>
          <a:xfrm>
            <a:off x="640080" y="16459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Open ass1.ioc in STM32CubeMX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File &gt; Save Project 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Choose a new folder named ass2: you get ass2.ioc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ass1.ioc stays unchanged</a:t>
            </a:r>
            <a:endParaRPr lang="en-US" sz="1300" dirty="0"/>
          </a:p>
        </p:txBody>
      </p:sp>
      <p:sp>
        <p:nvSpPr>
          <p:cNvPr id="6" name="ass2 card 2"/>
          <p:cNvSpPr/>
          <p:nvPr/>
        </p:nvSpPr>
        <p:spPr>
          <a:xfrm>
            <a:off x="4709160" y="1097280"/>
            <a:ext cx="3977640" cy="210312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ass2 card 2 title"/>
          <p:cNvSpPr txBox="1"/>
          <p:nvPr/>
        </p:nvSpPr>
        <p:spPr>
          <a:xfrm>
            <a:off x="489204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E43"/>
                </a:solidFill>
              </a:rPr>
              <a:t>Add only what is new</a:t>
            </a:r>
            <a:endParaRPr lang="en-US" sz="1800" dirty="0"/>
          </a:p>
        </p:txBody>
      </p:sp>
      <p:sp>
        <p:nvSpPr>
          <p:cNvPr id="8" name="ass2 card 2 steps"/>
          <p:cNvSpPr txBox="1"/>
          <p:nvPr/>
        </p:nvSpPr>
        <p:spPr>
          <a:xfrm>
            <a:off x="4892040" y="16459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Motors: TIM2 PWM CH1 to CH4, four DIR pins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Encoders: TIM1, TIM8, TIM3, TIM4 in encoder mode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Ultrasonic: TIM5 (TRIG by PWM, ECHO by input capture)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GENERATE CODE, then import the ass2 folder</a:t>
            </a:r>
            <a:endParaRPr lang="en-US" sz="1300" dirty="0"/>
          </a:p>
        </p:txBody>
      </p:sp>
      <p:sp>
        <p:nvSpPr>
          <p:cNvPr id="9" name="ass2 note"/>
          <p:cNvSpPr txBox="1"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</a:rPr>
              <a:t>Leave the Assignment 1 settings as they are. The full list is in the Assignment 2 configuration section of the assignment sheet.</a:t>
            </a:r>
            <a:endParaRPr lang="en-US" sz="13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Why some outputs are fast and others slow</a:t>
            </a:r>
            <a:endParaRPr lang="en-US" sz="2600" dirty="0"/>
          </a:p>
        </p:txBody>
      </p:sp>
      <p:sp>
        <p:nvSpPr>
          <p:cNvPr id="3" name="speed card 1"/>
          <p:cNvSpPr/>
          <p:nvPr/>
        </p:nvSpPr>
        <p:spPr>
          <a:xfrm>
            <a:off x="457200" y="1097280"/>
            <a:ext cx="3977640" cy="2606040"/>
          </a:xfrm>
          <a:prstGeom prst="roundRect">
            <a:avLst>
              <a:gd name="adj" fmla="val 350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peed card 1 head"/>
          <p:cNvSpPr txBox="1"/>
          <p:nvPr/>
        </p:nvSpPr>
        <p:spPr>
          <a:xfrm>
            <a:off x="685800" y="12344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3524"/>
                </a:solidFill>
              </a:rPr>
              <a:t>Wheel PWM: TIM2-&gt;CCR1 = value;</a:t>
            </a:r>
            <a:endParaRPr lang="en-US" sz="1600" dirty="0"/>
          </a:p>
        </p:txBody>
      </p:sp>
      <p:sp>
        <p:nvSpPr>
          <p:cNvPr id="5" name="speed card 1 stat"/>
          <p:cNvSpPr txBox="1"/>
          <p:nvPr/>
        </p:nvSpPr>
        <p:spPr>
          <a:xfrm>
            <a:off x="685800" y="1691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F6E43"/>
                </a:solidFill>
              </a:rPr>
              <a:t>~20</a:t>
            </a:r>
            <a:r>
              <a:rPr lang="en-US" sz="1800" dirty="0">
                <a:solidFill>
                  <a:srgbClr val="1F6E43"/>
                </a:solidFill>
              </a:rPr>
              <a:t>  ns</a:t>
            </a:r>
            <a:endParaRPr lang="en-US" sz="4400" dirty="0"/>
          </a:p>
        </p:txBody>
      </p:sp>
      <p:sp>
        <p:nvSpPr>
          <p:cNvPr id="6" name="speed card 1 body"/>
          <p:cNvSpPr txBox="1"/>
          <p:nvPr/>
        </p:nvSpPr>
        <p:spPr>
          <a:xfrm>
            <a:off x="685800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1C1C"/>
                </a:solidFill>
              </a:rPr>
              <a:t>The register is inside the STM32. It has a memory address, so one store instruction over the internal bus writes it: a few clock cycles at 170 MHz (1 cycle = 5.9 ns). TIM2 then makes the PWM by itself.</a:t>
            </a:r>
            <a:endParaRPr lang="en-US" sz="1300" dirty="0"/>
          </a:p>
        </p:txBody>
      </p:sp>
      <p:sp>
        <p:nvSpPr>
          <p:cNvPr id="7" name="speed card 2"/>
          <p:cNvSpPr/>
          <p:nvPr/>
        </p:nvSpPr>
        <p:spPr>
          <a:xfrm>
            <a:off x="4709160" y="1097280"/>
            <a:ext cx="3977640" cy="2606040"/>
          </a:xfrm>
          <a:prstGeom prst="roundRect">
            <a:avLst>
              <a:gd name="adj" fmla="val 350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peed card 2 head"/>
          <p:cNvSpPr txBox="1"/>
          <p:nvPr/>
        </p:nvSpPr>
        <p:spPr>
          <a:xfrm>
            <a:off x="4937760" y="12344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3524"/>
                </a:solidFill>
              </a:rPr>
              <a:t>LED brightness: HAL_I2C_Mem_Write</a:t>
            </a:r>
            <a:endParaRPr lang="en-US" sz="1600" dirty="0"/>
          </a:p>
        </p:txBody>
      </p:sp>
      <p:sp>
        <p:nvSpPr>
          <p:cNvPr id="9" name="speed card 2 stat"/>
          <p:cNvSpPr txBox="1"/>
          <p:nvPr/>
        </p:nvSpPr>
        <p:spPr>
          <a:xfrm>
            <a:off x="4937760" y="1691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B23A48"/>
                </a:solidFill>
              </a:rPr>
              <a:t>~0.08</a:t>
            </a:r>
            <a:r>
              <a:rPr lang="en-US" sz="1800" dirty="0">
                <a:solidFill>
                  <a:srgbClr val="B23A48"/>
                </a:solidFill>
              </a:rPr>
              <a:t>  ms</a:t>
            </a:r>
            <a:endParaRPr lang="en-US" sz="4400" dirty="0"/>
          </a:p>
        </p:txBody>
      </p:sp>
      <p:sp>
        <p:nvSpPr>
          <p:cNvPr id="10" name="speed card 2 body"/>
          <p:cNvSpPr txBox="1"/>
          <p:nvPr/>
        </p:nvSpPr>
        <p:spPr>
          <a:xfrm>
            <a:off x="4937760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1C1C"/>
                </a:solidFill>
              </a:rPr>
              <a:t>The register is inside the PCA9634, another chip. The only way in is the I2C bus at 400 kHz: 2.5 µs per bit. Address + register + data, each with an ACK, is about 29 bits (73 µs), plus the HAL code around it. The CPU waits all that 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9215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Blocking: updating all 24 LED registers at once</a:t>
            </a:r>
            <a:endParaRPr lang="en-US" sz="2600" dirty="0"/>
          </a:p>
        </p:txBody>
      </p:sp>
      <p:sp>
        <p:nvSpPr>
          <p:cNvPr id="3" name="blocking box"/>
          <p:cNvSpPr/>
          <p:nvPr/>
        </p:nvSpPr>
        <p:spPr>
          <a:xfrm>
            <a:off x="457200" y="1097280"/>
            <a:ext cx="4114800" cy="1508760"/>
          </a:xfrm>
          <a:prstGeom prst="roundRect">
            <a:avLst>
              <a:gd name="adj" fmla="val 4848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blocking code"/>
          <p:cNvSpPr txBox="1"/>
          <p:nvPr/>
        </p:nvSpPr>
        <p:spPr>
          <a:xfrm>
            <a:off x="594360" y="1188720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(ch = 0; ch &lt; 8; ch++)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setLedChannel(RED,   ch, r);  // 0.08 ms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setLedChannel(GREEN, ch, g);  // 0.08 ms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setLedChannel(BLUE,  ch, b);  // 0.08 ms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about 2 ms with the loop stuck here</a:t>
            </a:r>
            <a:endParaRPr lang="en-US" sz="1100" dirty="0"/>
          </a:p>
        </p:txBody>
      </p:sp>
      <p:sp>
        <p:nvSpPr>
          <p:cNvPr id="5" name="blocking bullets"/>
          <p:cNvSpPr txBox="1"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00000"/>
                </a:solidFill>
              </a:rPr>
              <a:t>While stuck, the main loop cannot: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see a new command or state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poll the IR obstacle sensor (an emergency stop!)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run the state's work or print status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6E43"/>
                </a:solidFill>
              </a:rPr>
              <a:t>Interrupts still run: TIM2 keeps the PWM going and TIM5 still captures the ultrasonic echo.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3012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Non-blocking: one register per loop pass</a:t>
            </a:r>
            <a:endParaRPr lang="en-US" sz="2600" dirty="0"/>
          </a:p>
        </p:txBody>
      </p:sp>
      <p:sp>
        <p:nvSpPr>
          <p:cNvPr id="3" name="service box"/>
          <p:cNvSpPr/>
          <p:nvPr/>
        </p:nvSpPr>
        <p:spPr>
          <a:xfrm>
            <a:off x="457200" y="1097280"/>
            <a:ext cx="4572000" cy="1828800"/>
          </a:xfrm>
          <a:prstGeom prst="roundRect">
            <a:avLst>
              <a:gd name="adj" fmla="val 4000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ervice code"/>
          <p:cNvSpPr txBox="1"/>
          <p:nvPr/>
        </p:nvSpPr>
        <p:spPr>
          <a:xfrm>
            <a:off x="594360" y="1188720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serviceRgbOutputs(void)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(micros() - lastUs &lt; 1200) return;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lastUs = micros();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write ONE of the 24 registers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setLedChannel(chip, channel, target);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index = (index + 1) % 24;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service bullets"/>
          <p:cNvSpPr txBox="1"/>
          <p:nvPr/>
        </p:nvSpPr>
        <p:spPr>
          <a:xfrm>
            <a:off x="5303520" y="1097280"/>
            <a:ext cx="3383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The logic writes the wanted colours into RAM arrays (rgbTarget...): instant.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serviceRgbOutputs copies them to the chips, at most one register per call.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Each loop pass pays at most 0.08 ms; a full refresh takes 24 x 1.2 ms = 29 ms, too fast for the eye.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What makes it non-blocking is the work per call, not where the call is placed.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9841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Three layers: decide, store, transport</a:t>
            </a:r>
            <a:endParaRPr lang="en-US" sz="2600" dirty="0"/>
          </a:p>
        </p:txBody>
      </p:sp>
      <p:graphicFrame>
        <p:nvGraphicFramePr>
          <p:cNvPr id="17" name="layers table"/>
          <p:cNvGraphicFramePr>
            <a:graphicFrameLocks noGrp="1"/>
          </p:cNvGraphicFramePr>
          <p:nvPr/>
        </p:nvGraphicFramePr>
        <p:xfrm>
          <a:off x="457200" y="1097280"/>
          <a:ext cx="8229600" cy="2267712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Layer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Wheels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RGB LEDs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Logic: what should the output be now?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runStateTick calls setWheelPwm(wheel, pwm)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runStateTick calls updateLedBlink / updateLedFade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Stored value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TIM2 CCR register (on chip)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rgbTarget arrays (RAM)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Transport: make the hardware show it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TIM2 hardware, continuously, no code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serviceRgbOutputs over I2C, gradually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layers note"/>
          <p:cNvSpPr txBox="1"/>
          <p:nvPr/>
        </p:nvSpPr>
        <p:spPr>
          <a:xfrm>
            <a:off x="457200" y="3657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C5C5C"/>
                </a:solidFill>
              </a:rPr>
              <a:t>serviceRgbOutputs is the software stand-in for what TIM2 does for the wheels. It belongs to the transport layer, so it is not part of runStateTick.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6295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The super loop: inputs, logic, services</a:t>
            </a:r>
            <a:endParaRPr lang="en-US" sz="2600" dirty="0"/>
          </a:p>
        </p:txBody>
      </p:sp>
      <p:sp>
        <p:nvSpPr>
          <p:cNvPr id="3" name="superloop box"/>
          <p:cNvSpPr/>
          <p:nvPr/>
        </p:nvSpPr>
        <p:spPr>
          <a:xfrm>
            <a:off x="457200" y="1097280"/>
            <a:ext cx="4572000" cy="2194560"/>
          </a:xfrm>
          <a:prstGeom prst="roundRect">
            <a:avLst>
              <a:gd name="adj" fmla="val 3333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uperloop code"/>
          <p:cNvSpPr txBox="1"/>
          <p:nvPr/>
        </p:nvSpPr>
        <p:spPr>
          <a:xfrm>
            <a:off x="594360" y="118872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(1)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updateEncoders();      /* 1. inputs  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updateIrSensor();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(state != applied)  /* 2. logic   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enterState(state);   /* once       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runStateTick(applied); /* every pass  */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serviceRgbOutputs();   /* 3. services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printPeriodicStatus();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superloop bullets"/>
          <p:cNvSpPr txBox="1"/>
          <p:nvPr/>
        </p:nvSpPr>
        <p:spPr>
          <a:xfrm>
            <a:off x="5303520" y="1097280"/>
            <a:ext cx="3383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Keep every pass short, so polled inputs stay responsive.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runStateTick: what the current state wants.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Services: make the hardware match, in every state.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B23A48"/>
                </a:solidFill>
              </a:rPr>
              <a:t>Calling a service from inside one state's case would freeze that output in all other states.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8255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7  ·  14.12.2026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One wheel in the air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Open-loop PWM; encoder counts to rad/s; record a run and export it to MATLAB.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8  ·  21.12.2026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Different encoder configurations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Encoder mode TI1 vs. TI1 and TI2: counts per revolution, resolution and count direction.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9  ·  28.12.2026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From model to PI controller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Model fit, sisotool, c2d; the difference equation in C; simulated vs. measured step response.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10  ·  4.1.2027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Kinematics (straight lines) and state machine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Wheel speeds for driving in straight lines; a state machine (enum + switch) for a driving sequence.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11  ·  11.1.2027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Simulink to C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Export a Simulink PI controller or filter to C and run it on the cart.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12  ·  18.1.2027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Project clinic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Open session for Assignment 3 questions.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SESSION 13  ·  25.1.2027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Lab meeting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Open questions.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P Tutorials">
  <a:themeElements>
    <a:clrScheme name="MP Tutorials">
      <a:dk1>
        <a:srgbClr val="1C1C1C"/>
      </a:dk1>
      <a:lt1>
        <a:srgbClr val="FFFFFF"/>
      </a:lt1>
      <a:dk2>
        <a:srgbClr val="123524"/>
      </a:dk2>
      <a:lt2>
        <a:srgbClr val="EEF3EF"/>
      </a:lt2>
      <a:accent1>
        <a:srgbClr val="1F6E43"/>
      </a:accent1>
      <a:accent2>
        <a:srgbClr val="C8772E"/>
      </a:accent2>
      <a:accent3>
        <a:srgbClr val="2E86AB"/>
      </a:accent3>
      <a:accent4>
        <a:srgbClr val="B23A48"/>
      </a:accent4>
      <a:accent5>
        <a:srgbClr val="6B8F71"/>
      </a:accent5>
      <a:accent6>
        <a:srgbClr val="5C5C5C"/>
      </a:accent6>
      <a:hlink>
        <a:srgbClr val="2E86AB"/>
      </a:hlink>
      <a:folHlink>
        <a:srgbClr val="6B8F71"/>
      </a:folHlink>
    </a:clrScheme>
    <a:fontScheme name="MP Tutorial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1020</TotalTime>
  <Words>6211</Words>
  <Application>Microsoft Office PowerPoint</Application>
  <PresentationFormat>On-screen Show (16:9)</PresentationFormat>
  <Paragraphs>869</Paragraphs>
  <Slides>47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2" baseType="lpstr">
      <vt:lpstr>Arial</vt:lpstr>
      <vt:lpstr>Calibri</vt:lpstr>
      <vt:lpstr>Consolas</vt:lpstr>
      <vt:lpstr>Courier New</vt:lpstr>
      <vt:lpstr>MP Tutorials</vt:lpstr>
      <vt:lpstr>Getting Started</vt:lpstr>
      <vt:lpstr>Course Policies </vt:lpstr>
      <vt:lpstr>From a .ioc file to a CubeIDE project</vt:lpstr>
      <vt:lpstr>Your code goes between USER CODE markers</vt:lpstr>
      <vt:lpstr>main.c sections before main()</vt:lpstr>
      <vt:lpstr>main.c sections inside and after main()</vt:lpstr>
      <vt:lpstr>PFP: why declare a function before defining it?</vt:lpstr>
      <vt:lpstr>Header (.h) and source (.c): the same idea across files</vt:lpstr>
      <vt:lpstr>The same rule in the other generated files</vt:lpstr>
      <vt:lpstr>Archive (both for Moving a project to another PC, and for submitting!)</vt:lpstr>
      <vt:lpstr>Live example</vt:lpstr>
      <vt:lpstr>Numbers and bits on the board</vt:lpstr>
      <vt:lpstr>Live example 1 - overflow</vt:lpstr>
      <vt:lpstr>Live example 1 - overflow</vt:lpstr>
      <vt:lpstr>Bit operations on a single bit</vt:lpstr>
      <vt:lpstr>The four bit idioms (LD2 = PA5 = bit 5 of GPIOA)</vt:lpstr>
      <vt:lpstr>Live example 2 – nucleo led</vt:lpstr>
      <vt:lpstr>Live example 3 – add a printing to putty</vt:lpstr>
      <vt:lpstr>HAL_UART_Transmit(&amp;hlpuart1,(uint8_t *)&amp;ch, 1, HAL_MAX_DELAY);  ???</vt:lpstr>
      <vt:lpstr>Timings, RGB leds</vt:lpstr>
      <vt:lpstr>Live example 1</vt:lpstr>
      <vt:lpstr>Live example 1</vt:lpstr>
      <vt:lpstr>Timer interrupts and PWM</vt:lpstr>
      <vt:lpstr>From timer to callback: the whole chain</vt:lpstr>
      <vt:lpstr>The ISR: what runs when an interrupt fires</vt:lpstr>
      <vt:lpstr>Three ways to make a PWM</vt:lpstr>
      <vt:lpstr>Polling: what must fit in one step</vt:lpstr>
      <vt:lpstr>Interrupt: what must fit in one period</vt:lpstr>
      <vt:lpstr>Hardware: what limits the PWM</vt:lpstr>
      <vt:lpstr>I2C</vt:lpstr>
      <vt:lpstr>.ioc file and SR04 reading</vt:lpstr>
      <vt:lpstr>From a .ioc to a running project</vt:lpstr>
      <vt:lpstr>Rebuilding ass1.ioc: board and pins</vt:lpstr>
      <vt:lpstr>Peripherals, clock and interrupts</vt:lpstr>
      <vt:lpstr>Assignment 2: start from ass1.ioc</vt:lpstr>
      <vt:lpstr>Why some outputs are fast and others slow</vt:lpstr>
      <vt:lpstr>Blocking: updating all 24 LED registers at once</vt:lpstr>
      <vt:lpstr>Non-blocking: one register per loop pass</vt:lpstr>
      <vt:lpstr>Three layers: decide, store, transport</vt:lpstr>
      <vt:lpstr>The super loop: inputs, logic, services</vt:lpstr>
      <vt:lpstr>One wheel in the air</vt:lpstr>
      <vt:lpstr>Different encoder configurations</vt:lpstr>
      <vt:lpstr>From model to PI controller</vt:lpstr>
      <vt:lpstr>Kinematics (straight lines) and state machine</vt:lpstr>
      <vt:lpstr>Simulink to C</vt:lpstr>
      <vt:lpstr>Project clinic</vt:lpstr>
      <vt:lpstr>Lab meeting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MP Tutorials 2026</dc:title>
  <dc:subject>PptxGenJS Presentation</dc:subject>
  <dc:creator>Yohai Ackerman</dc:creator>
  <cp:lastModifiedBy>Yohai Ackemran</cp:lastModifiedBy>
  <cp:revision>35</cp:revision>
  <dcterms:created xsi:type="dcterms:W3CDTF">2026-10-13T13:55:01Z</dcterms:created>
  <dcterms:modified xsi:type="dcterms:W3CDTF">2026-10-22T19:55:58Z</dcterms:modified>
</cp:coreProperties>
</file>