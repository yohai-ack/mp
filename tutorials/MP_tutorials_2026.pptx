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orial 1: Your first STM32 application" id="{e6b4c9aa-78c9-c597-0af6-f54424bc4b2f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utorial 2: Numbers and bits on the board" id="{c15f6201-075d-2e97-6e8b-8beb0dc12395}">
          <p14:sldIdLst>
            <p14:sldId id="265"/>
          </p14:sldIdLst>
        </p14:section>
        <p14:section name="Tutorial 3: RGB LEDs and buttons" id="{bccff75b-a899-9a0a-bd45-ed6e16cab61d}">
          <p14:sldIdLst>
            <p14:sldId id="266"/>
          </p14:sldIdLst>
        </p14:section>
        <p14:section name="Tutorial 4: Timer interrupts and state machines" id="{407214bd-1516-b47b-92d2-14a673110772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utorial 5: Inside the I2C bus" id="{cdafa046-4960-08d9-dade-13722ea2c76e}">
          <p14:sldIdLst>
            <p14:sldId id="273"/>
          </p14:sldIdLst>
        </p14:section>
        <p14:section name="Tutorial 6: PWM, input capture and EXTI" id="{22b1a7f2-0b5c-f1e2-f58f-3b4012e84f69}">
          <p14:sldIdLst>
            <p14:sldId id="274"/>
          </p14:sldIdLst>
        </p14:section>
        <p14:section name="Tutorial 7: One wheel in the air" id="{15a4c756-5aad-b6f4-4b54-3ae35a79c2d0}">
          <p14:sldIdLst>
            <p14:sldId id="275"/>
          </p14:sldIdLst>
        </p14:section>
        <p14:section name="Tutorial 8: From model to PI controller" id="{f0a30eb0-0238-282e-bfb9-8077164d9b37}">
          <p14:sldIdLst>
            <p14:sldId id="276"/>
          </p14:sldIdLst>
        </p14:section>
        <p14:section name="Tutorial 9: UART commands and a MATLAB GUI" id="{5034ba26-1181-15a1-324d-6297c420e1c5}">
          <p14:sldIdLst>
            <p14:sldId id="277"/>
          </p14:sldIdLst>
        </p14:section>
        <p14:section name="Tutorial 10: Driving the cart" id="{133b27ce-88cd-963a-fe03-1a971fcab7c4}">
          <p14:sldIdLst>
            <p14:sldId id="278"/>
          </p14:sldIdLst>
        </p14:section>
        <p14:section name="Tutorial 11: Simulink to C" id="{e4a56d23-8994-95f3-95f2-d791053739ae}">
          <p14:sldIdLst>
            <p14:sldId id="279"/>
          </p14:sldIdLst>
        </p14:section>
        <p14:section name="Tutorial 12: Project clinic" id="{1ab8d8b8-50ab-fd7e-3bc3-610a4896cc9c}">
          <p14:sldIdLst>
            <p14:sldId id="280"/>
          </p14:sldIdLst>
        </p14:section>
        <p14:section name="Session 13" id="{01631e87-6dbf-b331-4ea6-570b30e763d1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3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6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Microprocessor-Based Product Design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Tutorials 2026/27  ·  Yohai Ackerman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  ·  2.11.2026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Your first STM32 application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CubeMX configuration, build, flash and run; blink LD2; printf to PuTTY; the debugger: breakpoints, stepping, live expressions; where your code goes (USER CODE sections).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Your code goes between USER CODE markers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CubeMX generates main.c and the other project files from the .ioc.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Every time you change the .ioc and press Generate Code, the files are rewritten.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Code between USER CODE BEGIN and USER CODE END is kept.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B23A48"/>
                </a:solidFill>
              </a:rPr>
              <a:t>Code anywhere else is deleted, without a warning.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1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uint32_t counter = 0;   // kept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1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HAL_Init();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counter = 5;   // DELETED on regenerate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2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2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before main()</a:t>
            </a:r>
            <a:endParaRPr lang="en-US" sz="2600" dirty="0"/>
          </a:p>
        </p:txBody>
      </p:sp>
      <p:graphicFrame>
        <p:nvGraphicFramePr>
          <p:cNvPr id="5" name="sections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comment at the very 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the program does, author, 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Includes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#include lines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&lt;stdio.h&gt;, your own .h files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PTD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typedefs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typedef enum { IDLE, RUN } state_t;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defines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N_LEDS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macros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SET_BIT_N(x,n) ((x) |= 1u &lt;&lt; (n))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(global) variables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volatile uint8_t state = 0;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PFP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function prototypes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Your function definitions, before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 { ...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In the file each section looks like /* USER CODE BEGIN PV */ ... /* USER CODE END PV */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inside and after main()</a:t>
            </a:r>
            <a:endParaRPr lang="en-US" sz="2600" dirty="0"/>
          </a:p>
        </p:txBody>
      </p:sp>
      <p:graphicFrame>
        <p:nvGraphicFramePr>
          <p:cNvPr id="6" name="sections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Start of main(), before HAL_Init()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 variables of main()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HAL_Init(), before the clock setup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the clock setup, before peripheral init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all MX_..._Init() calls, before the loop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One-time setup: start timers, print a banner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first 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 main loop: your program's work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after END WHILE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Also runs every pass (CubeMX splits the loop in two)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Callbacks, e.g. HAL_TIM_PeriodElapsedCallback; more functions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2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Peripheral init functions have their own sections too, e.g. TIM2_Init 0, 1 and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PFP: why declare a function before defining it?</a:t>
            </a:r>
            <a:endParaRPr lang="en-US" sz="2600" dirty="0"/>
          </a:p>
        </p:txBody>
      </p:sp>
      <p:sp>
        <p:nvSpPr>
          <p:cNvPr id="3" name="pfp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compiler reads the file once, top to bottom.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function must be declared before the first line that calls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prototype in PFP announces name, inputs and output, so the full definition can come anywhere later.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Bonus: the PFP list is a table of contents of the file.</a:t>
            </a:r>
            <a:endParaRPr lang="en-US" sz="1500" dirty="0"/>
          </a:p>
        </p:txBody>
      </p:sp>
      <p:sp>
        <p:nvSpPr>
          <p:cNvPr id="4" name="pfp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pfp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PFP */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PFP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blinkLed(500);   // OK: already declared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4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 { ... 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4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Header (.h) and source (.c): the same idea across files</a:t>
            </a:r>
            <a:endParaRPr lang="en-US" sz="2600" dirty="0"/>
          </a:p>
        </p:txBody>
      </p:sp>
      <p:sp>
        <p:nvSpPr>
          <p:cNvPr id="3" name="fil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file card 1 title"/>
          <p:cNvSpPr txBox="1"/>
          <p:nvPr/>
        </p:nvSpPr>
        <p:spPr>
          <a:xfrm>
            <a:off x="64008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io_board.h</a:t>
            </a:r>
            <a:endParaRPr lang="en-US" sz="1600" dirty="0"/>
          </a:p>
        </p:txBody>
      </p:sp>
      <p:sp>
        <p:nvSpPr>
          <p:cNvPr id="5" name="file card 1 sub"/>
          <p:cNvSpPr txBox="1"/>
          <p:nvPr/>
        </p:nvSpPr>
        <p:spPr>
          <a:xfrm>
            <a:off x="64008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Declarations: what exists, how to call it</a:t>
            </a:r>
            <a:endParaRPr lang="en-US" sz="1300" dirty="0"/>
          </a:p>
        </p:txBody>
      </p:sp>
      <p:sp>
        <p:nvSpPr>
          <p:cNvPr id="6" name="file card 1 code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   allRgbOff(void);</a:t>
            </a:r>
            <a:endParaRPr lang="en-US" sz="1100" dirty="0"/>
          </a:p>
        </p:txBody>
      </p:sp>
      <p:sp>
        <p:nvSpPr>
          <p:cNvPr id="7" name="fil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file card 2 title"/>
          <p:cNvSpPr txBox="1"/>
          <p:nvPr/>
        </p:nvSpPr>
        <p:spPr>
          <a:xfrm>
            <a:off x="489204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io_board.c</a:t>
            </a:r>
            <a:endParaRPr lang="en-US" sz="1600" dirty="0"/>
          </a:p>
        </p:txBody>
      </p:sp>
      <p:sp>
        <p:nvSpPr>
          <p:cNvPr id="9" name="file card 2 sub"/>
          <p:cNvSpPr txBox="1"/>
          <p:nvPr/>
        </p:nvSpPr>
        <p:spPr>
          <a:xfrm>
            <a:off x="48920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Definitions: the code itself</a:t>
            </a:r>
            <a:endParaRPr lang="en-US" sz="1300" dirty="0"/>
          </a:p>
        </p:txBody>
      </p:sp>
      <p:sp>
        <p:nvSpPr>
          <p:cNvPr id="10" name="file card 2 code"/>
          <p:cNvSpPr txBox="1"/>
          <p:nvPr/>
        </p:nvSpPr>
        <p:spPr>
          <a:xfrm>
            <a:off x="489204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... HAL_I2C_Mem_Read ...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plit bullets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main.c: #include "io_board.h", the .h only, never the .c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CubeIDE compiles every .c in Core/Src by itself; the linker joins main.o and io_board.o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Including the .c compiles its functions twice: "multiple definition" error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same rule in the other generated files</a:t>
            </a:r>
            <a:endParaRPr lang="en-US" sz="2600" dirty="0"/>
          </a:p>
        </p:txBody>
      </p:sp>
      <p:sp>
        <p:nvSpPr>
          <p:cNvPr id="3" name="card 1"/>
          <p:cNvSpPr/>
          <p:nvPr/>
        </p:nvSpPr>
        <p:spPr>
          <a:xfrm>
            <a:off x="45720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card 1 title"/>
          <p:cNvSpPr txBox="1"/>
          <p:nvPr/>
        </p:nvSpPr>
        <p:spPr>
          <a:xfrm>
            <a:off x="64008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main.h</a:t>
            </a:r>
            <a:endParaRPr lang="en-US" sz="1600" dirty="0"/>
          </a:p>
        </p:txBody>
      </p:sp>
      <p:sp>
        <p:nvSpPr>
          <p:cNvPr id="5" name="card 1 text"/>
          <p:cNvSpPr txBox="1"/>
          <p:nvPr/>
        </p:nvSpPr>
        <p:spPr>
          <a:xfrm>
            <a:off x="64008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Includes, ET (exported types), EC (constants), EM (macros), EFP (function prototypes), Private defines. Things other .c files need to see.</a:t>
            </a:r>
            <a:endParaRPr lang="en-US" sz="1400" dirty="0"/>
          </a:p>
        </p:txBody>
      </p:sp>
      <p:sp>
        <p:nvSpPr>
          <p:cNvPr id="6" name="card 2"/>
          <p:cNvSpPr/>
          <p:nvPr/>
        </p:nvSpPr>
        <p:spPr>
          <a:xfrm>
            <a:off x="324612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card 2 title"/>
          <p:cNvSpPr txBox="1"/>
          <p:nvPr/>
        </p:nvSpPr>
        <p:spPr>
          <a:xfrm>
            <a:off x="342900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stm32g4xx_it.c</a:t>
            </a:r>
            <a:endParaRPr lang="en-US" sz="1600" dirty="0"/>
          </a:p>
        </p:txBody>
      </p:sp>
      <p:sp>
        <p:nvSpPr>
          <p:cNvPr id="8" name="card 2 text"/>
          <p:cNvSpPr txBox="1"/>
          <p:nvPr/>
        </p:nvSpPr>
        <p:spPr>
          <a:xfrm>
            <a:off x="342900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Interrupt handlers. Each has sections 0 (before the HAL handler) and 1 (after it). Usually leave them alone and use the HAL callbacks.</a:t>
            </a:r>
            <a:endParaRPr lang="en-US" sz="1400" dirty="0"/>
          </a:p>
        </p:txBody>
      </p:sp>
      <p:sp>
        <p:nvSpPr>
          <p:cNvPr id="9" name="card 3"/>
          <p:cNvSpPr/>
          <p:nvPr/>
        </p:nvSpPr>
        <p:spPr>
          <a:xfrm>
            <a:off x="603504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card 3 title"/>
          <p:cNvSpPr txBox="1"/>
          <p:nvPr/>
        </p:nvSpPr>
        <p:spPr>
          <a:xfrm>
            <a:off x="621792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files</a:t>
            </a:r>
            <a:endParaRPr lang="en-US" sz="1600" dirty="0"/>
          </a:p>
        </p:txBody>
      </p:sp>
      <p:sp>
        <p:nvSpPr>
          <p:cNvPr id="11" name="card 3 text"/>
          <p:cNvSpPr txBox="1"/>
          <p:nvPr/>
        </p:nvSpPr>
        <p:spPr>
          <a:xfrm>
            <a:off x="621792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New .c files in Core/Src and .h files in Core/Inc are never touched by CubeMX. The safest place for larger 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Moving a project to another PC</a:t>
            </a:r>
            <a:endParaRPr lang="en-US" sz="2600" dirty="0"/>
          </a:p>
        </p:txBody>
      </p:sp>
      <p:sp>
        <p:nvSpPr>
          <p:cNvPr id="3" name="mov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move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Pack (your PC)</a:t>
            </a:r>
            <a:endParaRPr lang="en-US" sz="1800" dirty="0"/>
          </a:p>
        </p:txBody>
      </p:sp>
      <p:sp>
        <p:nvSpPr>
          <p:cNvPr id="5" name="move card 1 steps"/>
          <p:cNvSpPr txBox="1"/>
          <p:nvPr/>
        </p:nvSpPr>
        <p:spPr>
          <a:xfrm>
            <a:off x="64008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Right-click the project &gt; Refresh (F5)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Right-click &gt; Export &gt; General &gt; Archive File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Untick the Debug folder (build output)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Save as project.zip, Finish</a:t>
            </a:r>
            <a:endParaRPr lang="en-US" sz="1300" dirty="0"/>
          </a:p>
        </p:txBody>
      </p:sp>
      <p:sp>
        <p:nvSpPr>
          <p:cNvPr id="6" name="mov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move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Open (other PC)</a:t>
            </a:r>
            <a:endParaRPr lang="en-US" sz="1800" dirty="0"/>
          </a:p>
        </p:txBody>
      </p:sp>
      <p:sp>
        <p:nvSpPr>
          <p:cNvPr id="8" name="move card 2 steps"/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File &gt; Import &gt; General &gt; Existing Projects into Workspace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Select archive file &gt; the .zip (do not unzip it)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Tick the project &gt; Finish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Build, then Debug</a:t>
            </a:r>
            <a:endParaRPr lang="en-US" sz="1300" dirty="0"/>
          </a:p>
        </p:txBody>
      </p:sp>
      <p:sp>
        <p:nvSpPr>
          <p:cNvPr id="9" name="move note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Project greyed out in the import list? A project with the same name is already in the workspace: delete it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2  ·  9.11.2026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Numbers and bits on the board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Predict-then-run wrap-around; signed and unsigned in the debugger; a binary printer; the four bit idioms: set, clear, toggle, test.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3  ·  16.11.2026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RGB LEDs and buttons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set_rgb helper; a walking dot with masks; saturating brightness up and down; one press = one action.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4  ·  23.11.2026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Timer interrupts and state machines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Multi-rate blinking from a timer interrupt (no HAL_Delay); a state-machine skeleton with enum and switch.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some outputs are fast and others slow</a:t>
            </a:r>
            <a:endParaRPr lang="en-US" sz="2600" dirty="0"/>
          </a:p>
        </p:txBody>
      </p:sp>
      <p:sp>
        <p:nvSpPr>
          <p:cNvPr id="3" name="speed card 1"/>
          <p:cNvSpPr/>
          <p:nvPr/>
        </p:nvSpPr>
        <p:spPr>
          <a:xfrm>
            <a:off x="45720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speed card 1 head"/>
          <p:cNvSpPr txBox="1"/>
          <p:nvPr/>
        </p:nvSpPr>
        <p:spPr>
          <a:xfrm>
            <a:off x="68580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Wheel PWM: TIM2-&gt;CCR1 = value;</a:t>
            </a:r>
            <a:endParaRPr lang="en-US" sz="1600" dirty="0"/>
          </a:p>
        </p:txBody>
      </p:sp>
      <p:sp>
        <p:nvSpPr>
          <p:cNvPr id="5" name="speed card 1 stat"/>
          <p:cNvSpPr txBox="1"/>
          <p:nvPr/>
        </p:nvSpPr>
        <p:spPr>
          <a:xfrm>
            <a:off x="68580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6E43"/>
                </a:solidFill>
              </a:rPr>
              <a:t>~20</a:t>
            </a:r>
            <a:pPr indent="0" marL="0">
              <a:buNone/>
            </a:pPr>
            <a:r>
              <a:rPr lang="en-US" sz="1800" dirty="0">
                <a:solidFill>
                  <a:srgbClr val="1F6E43"/>
                </a:solidFill>
              </a:rPr>
              <a:t>  ns</a:t>
            </a:r>
            <a:endParaRPr lang="en-US" sz="4400" dirty="0"/>
          </a:p>
        </p:txBody>
      </p:sp>
      <p:sp>
        <p:nvSpPr>
          <p:cNvPr id="6" name="speed card 1 body"/>
          <p:cNvSpPr txBox="1"/>
          <p:nvPr/>
        </p:nvSpPr>
        <p:spPr>
          <a:xfrm>
            <a:off x="68580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STM32. It has a memory address, so one store instruction over the internal bus writes it: a few clock cycles at 170 MHz (1 cycle = 5.9 ns). TIM2 then makes the PWM by itself.</a:t>
            </a:r>
            <a:endParaRPr lang="en-US" sz="1300" dirty="0"/>
          </a:p>
        </p:txBody>
      </p:sp>
      <p:sp>
        <p:nvSpPr>
          <p:cNvPr id="7" name="speed card 2"/>
          <p:cNvSpPr/>
          <p:nvPr/>
        </p:nvSpPr>
        <p:spPr>
          <a:xfrm>
            <a:off x="470916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speed card 2 head"/>
          <p:cNvSpPr txBox="1"/>
          <p:nvPr/>
        </p:nvSpPr>
        <p:spPr>
          <a:xfrm>
            <a:off x="493776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LED brightness: HAL_I2C_Mem_Write</a:t>
            </a:r>
            <a:endParaRPr lang="en-US" sz="1600" dirty="0"/>
          </a:p>
        </p:txBody>
      </p:sp>
      <p:sp>
        <p:nvSpPr>
          <p:cNvPr id="9" name="speed card 2 stat"/>
          <p:cNvSpPr txBox="1"/>
          <p:nvPr/>
        </p:nvSpPr>
        <p:spPr>
          <a:xfrm>
            <a:off x="493776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23A48"/>
                </a:solidFill>
              </a:rPr>
              <a:t>~0.3</a:t>
            </a:r>
            <a:pPr indent="0" marL="0">
              <a:buNone/>
            </a:pPr>
            <a:r>
              <a:rPr lang="en-US" sz="1800" dirty="0">
                <a:solidFill>
                  <a:srgbClr val="B23A48"/>
                </a:solidFill>
              </a:rPr>
              <a:t>  ms</a:t>
            </a:r>
            <a:endParaRPr lang="en-US" sz="4400" dirty="0"/>
          </a:p>
        </p:txBody>
      </p:sp>
      <p:sp>
        <p:nvSpPr>
          <p:cNvPr id="10" name="speed card 2 body"/>
          <p:cNvSpPr txBox="1"/>
          <p:nvPr/>
        </p:nvSpPr>
        <p:spPr>
          <a:xfrm>
            <a:off x="493776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PCA9634, another chip. The only way in is the I2C bus at 100 kHz: 10 µs per bit. Address + register + data, each with an ACK, is about 29 bits. The CPU waits all that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Blocking: updating all 24 LED registers at once</a:t>
            </a:r>
            <a:endParaRPr lang="en-US" sz="2600" dirty="0"/>
          </a:p>
        </p:txBody>
      </p:sp>
      <p:sp>
        <p:nvSpPr>
          <p:cNvPr id="3" name="blocking box"/>
          <p:cNvSpPr/>
          <p:nvPr/>
        </p:nvSpPr>
        <p:spPr>
          <a:xfrm>
            <a:off x="457200" y="109728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blocking code"/>
          <p:cNvSpPr txBox="1"/>
          <p:nvPr/>
        </p:nvSpPr>
        <p:spPr>
          <a:xfrm>
            <a:off x="594360" y="118872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(ch = 0; ch &lt; 8; ch++)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setLedChannel(RED,   ch, r);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setLedChannel(GREEN, ch, g);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setLedChannel(BLUE,  ch, b);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about 7 to 9 ms with the loop stuck here</a:t>
            </a:r>
            <a:endParaRPr lang="en-US" sz="1100" dirty="0"/>
          </a:p>
        </p:txBody>
      </p:sp>
      <p:sp>
        <p:nvSpPr>
          <p:cNvPr id="5" name="blocking bullets"/>
          <p:cNvSpPr txBox="1"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0000"/>
                </a:solidFill>
              </a:rPr>
              <a:t>While stuck, the main loop cannot: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see a new command or state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poll the IR obstacle sensor (an emergency stop!)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 the state's work or print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6E43"/>
                </a:solidFill>
              </a:rPr>
              <a:t>Interrupts still run: TIM2 keeps the PWM going and TIM5 still captures the ultrasonic echo.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Non-blocking: one register per loop pass</a:t>
            </a:r>
            <a:endParaRPr lang="en-US" sz="2600" dirty="0"/>
          </a:p>
        </p:txBody>
      </p:sp>
      <p:sp>
        <p:nvSpPr>
          <p:cNvPr id="3" name="service box"/>
          <p:cNvSpPr/>
          <p:nvPr/>
        </p:nvSpPr>
        <p:spPr>
          <a:xfrm>
            <a:off x="457200" y="109728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ervice code"/>
          <p:cNvSpPr txBox="1"/>
          <p:nvPr/>
        </p:nvSpPr>
        <p:spPr>
          <a:xfrm>
            <a:off x="594360" y="118872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serviceRgbOutputs(void)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(micros() - lastUs &lt; 1200) return;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lastUs = micros();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write ONE of the 24 registers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setLedChannel(chip, channel, target);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 = (index + 1) % 24;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ervice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logic writes the wanted colours into RAM arrays (rgbTarget...): instant.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serviceRgbOutputs copies them to the chips, at most one register per call.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Each loop pass pays at most 0.3 ms; a full refresh takes 24 x 1.2 ms = 29 ms, too fast for the eye.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What makes it non-blocking is the work per call, not where the call is 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layers: decide, store, transport</a:t>
            </a:r>
            <a:endParaRPr lang="en-US" sz="2600" dirty="0"/>
          </a:p>
        </p:txBody>
      </p:sp>
      <p:graphicFrame>
        <p:nvGraphicFramePr>
          <p:cNvPr id="17" name="layer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Layer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Wheels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RGB LEDs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Logic: what should the output be now?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setWheelPwm(wheel, pwm)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updateLedBlink / updateLedFade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Stored 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CCR register (on chip)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rgbTarget arrays (RAM)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Transport: make the hardware show 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hardware, continuously, no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serviceRgbOutputs over I2C, gradually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layers note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</a:rPr>
              <a:t>serviceRgbOutputs is the software stand-in for what TIM2 does for the wheels. It belongs to the transport layer, so it is not part of runStateTick.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super loop: inputs, logic, services</a:t>
            </a:r>
            <a:endParaRPr lang="en-US" sz="2600" dirty="0"/>
          </a:p>
        </p:txBody>
      </p:sp>
      <p:sp>
        <p:nvSpPr>
          <p:cNvPr id="3" name="superloop box"/>
          <p:cNvSpPr/>
          <p:nvPr/>
        </p:nvSpPr>
        <p:spPr>
          <a:xfrm>
            <a:off x="457200" y="109728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uperloop code"/>
          <p:cNvSpPr txBox="1"/>
          <p:nvPr/>
        </p:nvSpPr>
        <p:spPr>
          <a:xfrm>
            <a:off x="594360" y="11887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updateEncoders();      /* 1. inputs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updateIrSensor();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(state != applied)  /* 2. logic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enterState(state);   /* once    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runStateTick(applied); /* every pass 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serviceRgbOutputs();   /* 3. services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printPeriodicStatus();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uperloop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Keep every pass short, so polled inputs stay responsive.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runStateTick: what the current state wants.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Services: make the hardware match, in every state.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Calling a service from inside one state's case would freeze that output in all other 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5  ·  30.11.2026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Inside the I2C bus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I2C bus scan: detect the five IO-board chips; set_rgb rewritten on raw HAL_I2C_Mem_Write; servo sweep.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6  ·  7.12.2026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PWM, input capture and EXTI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ultrasonic distance measurement; an EXTI interrupt with a counter; PWM on one motor channel.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7  ·  14.12.2026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wheel in the air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Open-loop PWM; encoder counts to rad/s; record a run and export it to MATLAB.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8  ·  21.12.2026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model to PI controller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Model fit, sisotool, c2d; the difference equation in C; simulated vs. measured step response.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9  ·  28.12.2026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UART commands and a MATLAB GUI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 interrupt-driven UART command parser; a minimal MATLAB GUI that sends commands and plots telemetry.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10  ·  4.1.2027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Driving the cart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Kinematics exercises; driving on the floor; a trajectory array generated in MATLAB and sent to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11  ·  11.1.2027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Simulink to 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Export a Simulink PI controller or filter to C and run it on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12  ·  18.1.2027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Project clinic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session for Assignment 3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SESSION 13  ·  25.1.2027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Lab meeting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P Tutorials">
  <a:themeElements>
    <a:clrScheme name="MP Tutorials">
      <a:dk1>
        <a:srgbClr val="1C1C1C"/>
      </a:dk1>
      <a:lt1>
        <a:srgbClr val="FFFFFF"/>
      </a:lt1>
      <a:dk2>
        <a:srgbClr val="123524"/>
      </a:dk2>
      <a:lt2>
        <a:srgbClr val="EEF3EF"/>
      </a:lt2>
      <a:accent1>
        <a:srgbClr val="1F6E43"/>
      </a:accent1>
      <a:accent2>
        <a:srgbClr val="C8772E"/>
      </a:accent2>
      <a:accent3>
        <a:srgbClr val="2E86AB"/>
      </a:accent3>
      <a:accent4>
        <a:srgbClr val="B23A48"/>
      </a:accent4>
      <a:accent5>
        <a:srgbClr val="6B8F71"/>
      </a:accent5>
      <a:accent6>
        <a:srgbClr val="5C5C5C"/>
      </a:accent6>
      <a:hlink>
        <a:srgbClr val="2E86AB"/>
      </a:hlink>
      <a:folHlink>
        <a:srgbClr val="6B8F71"/>
      </a:folHlink>
    </a:clrScheme>
    <a:fontScheme name="MP Tutorial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 Tutorials 2026</dc:title>
  <dc:subject>PptxGenJS Presentation</dc:subject>
  <dc:creator>Yohai Ackerman</dc:creator>
  <cp:lastModifiedBy>Yohai Ackerman</cp:lastModifiedBy>
  <cp:revision>1</cp:revision>
  <dcterms:created xsi:type="dcterms:W3CDTF">2026-10-13T13:55:01Z</dcterms:created>
  <dcterms:modified xsi:type="dcterms:W3CDTF">2026-10-13T13:55:01Z</dcterms:modified>
</cp:coreProperties>
</file>