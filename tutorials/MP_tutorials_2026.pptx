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7" r:id="rId14"/>
    <p:sldId id="286" r:id="rId15"/>
    <p:sldId id="290" r:id="rId16"/>
    <p:sldId id="291" r:id="rId17"/>
    <p:sldId id="289" r:id="rId18"/>
    <p:sldId id="292" r:id="rId19"/>
    <p:sldId id="273" r:id="rId20"/>
    <p:sldId id="282" r:id="rId21"/>
    <p:sldId id="283" r:id="rId22"/>
    <p:sldId id="284" r:id="rId23"/>
    <p:sldId id="285" r:id="rId24"/>
    <p:sldId id="274" r:id="rId25"/>
    <p:sldId id="268" r:id="rId26"/>
    <p:sldId id="269" r:id="rId27"/>
    <p:sldId id="270" r:id="rId28"/>
    <p:sldId id="271" r:id="rId29"/>
    <p:sldId id="272" r:id="rId30"/>
    <p:sldId id="275" r:id="rId31"/>
    <p:sldId id="276" r:id="rId32"/>
    <p:sldId id="277" r:id="rId33"/>
    <p:sldId id="278" r:id="rId34"/>
    <p:sldId id="279" r:id="rId35"/>
    <p:sldId id="280" r:id="rId36"/>
    <p:sldId id="281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utorial 1: Your first STM32 application" id="{E6B4C9AA-78C9-C597-0AF6-F54424BC4B2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Tutorial 2: Numbers and bits on the board" id="{C15F6201-075D-2E97-6E8B-8BEB0DC12395}">
          <p14:sldIdLst>
            <p14:sldId id="265"/>
          </p14:sldIdLst>
        </p14:section>
        <p14:section name="Tutorial 3: RGB LEDs and buttons" id="{BCCFF75B-A899-9A0A-BD45-ED6E16CAB61D}">
          <p14:sldIdLst>
            <p14:sldId id="266"/>
          </p14:sldIdLst>
        </p14:section>
        <p14:section name="Tutorial 4: Timer interrupts and PWM" id="{407214BD-1516-B47B-92D2-14A673110772}">
          <p14:sldIdLst>
            <p14:sldId id="267"/>
            <p14:sldId id="287"/>
            <p14:sldId id="286"/>
            <p14:sldId id="290"/>
            <p14:sldId id="291"/>
            <p14:sldId id="289"/>
            <p14:sldId id="292"/>
          </p14:sldIdLst>
        </p14:section>
        <p14:section name="Tutorial 5: Inside the I2C bus" id="{CDAFA046-4960-08D9-DADE-13722EA2C76E}">
          <p14:sldIdLst>
            <p14:sldId id="273"/>
            <p14:sldId id="282"/>
            <p14:sldId id="283"/>
            <p14:sldId id="284"/>
            <p14:sldId id="285"/>
          </p14:sldIdLst>
        </p14:section>
        <p14:section name="Tutorial 6: Blocking vs. non-blocking" id="{22B1A7F2-0B5C-F1E2-F58F-3B4012E84F69}">
          <p14:sldIdLst>
            <p14:sldId id="274"/>
            <p14:sldId id="268"/>
            <p14:sldId id="269"/>
            <p14:sldId id="270"/>
            <p14:sldId id="271"/>
            <p14:sldId id="272"/>
          </p14:sldIdLst>
        </p14:section>
        <p14:section name="Tutorial 7: One wheel in the air" id="{15A4C756-5AAD-B6F4-4B54-3AE35A79C2D0}">
          <p14:sldIdLst>
            <p14:sldId id="275"/>
          </p14:sldIdLst>
        </p14:section>
        <p14:section name="Tutorial 8: Different encoder configurations" id="{F0A30EB0-0238-282E-BFB9-8077164D9B37}">
          <p14:sldIdLst>
            <p14:sldId id="276"/>
          </p14:sldIdLst>
        </p14:section>
        <p14:section name="Tutorial 9: From model to PI controller" id="{5034BA26-1181-15A1-324D-6297C420E1C5}">
          <p14:sldIdLst>
            <p14:sldId id="277"/>
          </p14:sldIdLst>
        </p14:section>
        <p14:section name="Tutorial 10: Kinematics (straight lines) and state machine" id="{133B27CE-88CD-963A-FE03-1A971FCAB7C4}">
          <p14:sldIdLst>
            <p14:sldId id="278"/>
          </p14:sldIdLst>
        </p14:section>
        <p14:section name="Tutorial 11: Simulink to C" id="{E4A56D23-8994-95F3-95F2-D791053739AE}">
          <p14:sldIdLst>
            <p14:sldId id="279"/>
          </p14:sldIdLst>
        </p14:section>
        <p14:section name="Tutorial 12: Project clinic" id="{1AB8D8B8-50AB-FD7E-3BC3-610A4896CC9C}">
          <p14:sldIdLst>
            <p14:sldId id="280"/>
          </p14:sldIdLst>
        </p14:section>
        <p14:section name="Session 13" id="{01631E87-6DBF-B331-4EA6-570B30E763D1}">
          <p14:sldIdLst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5034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302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8586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7047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1459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6787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23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69748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F6E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b="1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2743200"/>
            <a:ext cx="8046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Microprocessor-Based Product Design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6974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Tutorials 2026/27  ·  Yohai Ackerman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2"/>
                </a:solidFill>
              </a:rPr>
              <a:t>TUTORIAL 1  ·  2.11.2026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Your first STM32 application</a:t>
            </a: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27432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</a:rPr>
              <a:t>CubeMX configuration, build, flash and run; blink LD2; printf to PuTTY; the debugger: breakpoints, stepping, live expressions; where your code goes (USER CODE sections).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Your code goes between USER CODE markers</a:t>
            </a:r>
            <a:endParaRPr lang="en-US" sz="2600" dirty="0"/>
          </a:p>
        </p:txBody>
      </p:sp>
      <p:sp>
        <p:nvSpPr>
          <p:cNvPr id="3" name="rule bullets"/>
          <p:cNvSpPr txBox="1"/>
          <p:nvPr/>
        </p:nvSpPr>
        <p:spPr>
          <a:xfrm>
            <a:off x="457200" y="109728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CubeMX generates main.c and the other project files from the .ioc.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Every time you change the .ioc and press Generate Code, the files are rewritten.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6E43"/>
                </a:solidFill>
              </a:rPr>
              <a:t>Code between USER CODE BEGIN and USER CODE END is kept.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B23A48"/>
                </a:solidFill>
              </a:rPr>
              <a:t>Code anywhere else is deleted, without a warning.</a:t>
            </a:r>
            <a:endParaRPr lang="en-US" sz="1500" dirty="0"/>
          </a:p>
        </p:txBody>
      </p:sp>
      <p:sp>
        <p:nvSpPr>
          <p:cNvPr id="4" name="rule box"/>
          <p:cNvSpPr/>
          <p:nvPr/>
        </p:nvSpPr>
        <p:spPr>
          <a:xfrm>
            <a:off x="4663440" y="109728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4F6F4"/>
          </a:solidFill>
          <a:ln w="9525">
            <a:solidFill>
              <a:srgbClr val="D5DDD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rule code"/>
          <p:cNvSpPr txBox="1"/>
          <p:nvPr/>
        </p:nvSpPr>
        <p:spPr>
          <a:xfrm>
            <a:off x="4800600" y="1188720"/>
            <a:ext cx="3749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F6E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USER CODE BEGIN 1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6E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uint32_t counter = 0;   // kept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F6E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USER CODE END 1 */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HAL_Init();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counter = 5;   // DELETED on regenerate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F6E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USER CODE BEGIN 2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6E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F6E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USER CODE END 2 */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main.c sections before main()</a:t>
            </a:r>
            <a:endParaRPr lang="en-US" sz="2600" dirty="0"/>
          </a:p>
        </p:txBody>
      </p:sp>
      <p:graphicFrame>
        <p:nvGraphicFramePr>
          <p:cNvPr id="5" name="sections 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EF3EF"/>
                          </a:solidFill>
                        </a:rPr>
                        <a:t>Section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E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EF3EF"/>
                          </a:solidFill>
                        </a:rPr>
                        <a:t>Where it sits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E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EF3EF"/>
                          </a:solidFill>
                        </a:rPr>
                        <a:t>What goes there (example)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E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5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Header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File comment at the very top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What the program does, author, date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5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Includes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#include lines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#include &lt;stdio.h&gt;, your own .h files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5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PTD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Private typedefs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typedef enum { IDLE, RUN } state_t;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5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Private defines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#define N_LEDS 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5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Private macros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#define SET_BIT_N(x,n) ((x) |= 1u &lt;&lt; (n))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5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PV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Private (global) variables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volatile uint8_t state = 0;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5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PFP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Private function prototypes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static void blinkLed(uint32_t ms);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5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Your function definitions, before main()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static void blinkLed(uint32_t ms) { ... 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sections note 1"/>
          <p:cNvSpPr txBox="1"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5C5C"/>
                </a:solidFill>
              </a:rPr>
              <a:t>In the file each section looks like /* USER CODE BEGIN PV */ ... /* USER CODE END PV */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main.c sections inside and after main()</a:t>
            </a:r>
            <a:endParaRPr lang="en-US" sz="2600" dirty="0"/>
          </a:p>
        </p:txBody>
      </p:sp>
      <p:graphicFrame>
        <p:nvGraphicFramePr>
          <p:cNvPr id="6" name="sections 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EF3EF"/>
                          </a:solidFill>
                        </a:rPr>
                        <a:t>Section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E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EF3EF"/>
                          </a:solidFill>
                        </a:rPr>
                        <a:t>Where it sits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E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EF3EF"/>
                          </a:solidFill>
                        </a:rPr>
                        <a:t>What goes there (example)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E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5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Start of main(), before HAL_Init()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Local variables of main()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5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Init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After HAL_Init(), before the clock setup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Rarely used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5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SysInit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After the clock setup, before peripheral init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Rarely used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5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After all MX_..._Init() calls, before the loop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One-time setup: start timers, print a banner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5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WHILE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Inside while (1), first part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The main loop: your program's work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5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Inside while (1), after END WHILE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Also runs every pass (CubeMX splits the loop in two)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5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After main()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Callbacks, e.g. HAL_TIM_PeriodElapsedCallback; more functions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ections note 2"/>
          <p:cNvSpPr txBox="1"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5C5C"/>
                </a:solidFill>
              </a:rPr>
              <a:t>Peripheral init functions have their own sections too, e.g. TIM2_Init 0, 1 and 2.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PFP: why declare a function before defining it?</a:t>
            </a:r>
            <a:endParaRPr lang="en-US" sz="2600" dirty="0"/>
          </a:p>
        </p:txBody>
      </p:sp>
      <p:sp>
        <p:nvSpPr>
          <p:cNvPr id="3" name="pfp bullets"/>
          <p:cNvSpPr txBox="1"/>
          <p:nvPr/>
        </p:nvSpPr>
        <p:spPr>
          <a:xfrm>
            <a:off x="457200" y="109728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The compiler reads the file once, top to bottom.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A function must be declared before the first line that calls 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A prototype in PFP announces name, inputs and output, so the full definition can come anywhere later.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Bonus: the PFP list is a table of contents of the file.</a:t>
            </a:r>
            <a:endParaRPr lang="en-US" sz="1500" dirty="0"/>
          </a:p>
        </p:txBody>
      </p:sp>
      <p:sp>
        <p:nvSpPr>
          <p:cNvPr id="4" name="pfp box"/>
          <p:cNvSpPr/>
          <p:nvPr/>
        </p:nvSpPr>
        <p:spPr>
          <a:xfrm>
            <a:off x="4663440" y="109728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4F6F4"/>
          </a:solidFill>
          <a:ln w="9525">
            <a:solidFill>
              <a:srgbClr val="D5DDD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pfp code"/>
          <p:cNvSpPr txBox="1"/>
          <p:nvPr/>
        </p:nvSpPr>
        <p:spPr>
          <a:xfrm>
            <a:off x="4800600" y="1188720"/>
            <a:ext cx="3749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6E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USER CODE BEGIN PFP */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23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blinkLed(uint32_t ms);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F6E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USER CODE END PFP */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blinkLed(500);   // OK: already declared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F6E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USER CODE BEGIN 4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blinkLed(uint32_t ms) { ... }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F6E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USER CODE END 4 */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Header (.h) and source (.c): the same idea across files</a:t>
            </a:r>
            <a:endParaRPr lang="en-US" sz="2600" dirty="0"/>
          </a:p>
        </p:txBody>
      </p:sp>
      <p:sp>
        <p:nvSpPr>
          <p:cNvPr id="3" name="file card 1"/>
          <p:cNvSpPr/>
          <p:nvPr/>
        </p:nvSpPr>
        <p:spPr>
          <a:xfrm>
            <a:off x="457200" y="1097280"/>
            <a:ext cx="3977640" cy="2011680"/>
          </a:xfrm>
          <a:prstGeom prst="roundRect">
            <a:avLst>
              <a:gd name="adj" fmla="val 4545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file card 1 title"/>
          <p:cNvSpPr txBox="1"/>
          <p:nvPr/>
        </p:nvSpPr>
        <p:spPr>
          <a:xfrm>
            <a:off x="640080" y="11887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E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io_board.h</a:t>
            </a:r>
            <a:endParaRPr lang="en-US" sz="1600" dirty="0"/>
          </a:p>
        </p:txBody>
      </p:sp>
      <p:sp>
        <p:nvSpPr>
          <p:cNvPr id="5" name="file card 1 sub"/>
          <p:cNvSpPr txBox="1"/>
          <p:nvPr/>
        </p:nvSpPr>
        <p:spPr>
          <a:xfrm>
            <a:off x="640080" y="15544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5C5C"/>
                </a:solidFill>
              </a:rPr>
              <a:t>Declarations: what exists, how to call it</a:t>
            </a:r>
            <a:endParaRPr lang="en-US" sz="1300" dirty="0"/>
          </a:p>
        </p:txBody>
      </p:sp>
      <p:sp>
        <p:nvSpPr>
          <p:cNvPr id="6" name="file card 1 code"/>
          <p:cNvSpPr txBox="1"/>
          <p:nvPr/>
        </p:nvSpPr>
        <p:spPr>
          <a:xfrm>
            <a:off x="640080" y="192024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23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uint8_t readButtonsRaw(void);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23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   allRgbOff(void);</a:t>
            </a:r>
            <a:endParaRPr lang="en-US" sz="1100" dirty="0"/>
          </a:p>
        </p:txBody>
      </p:sp>
      <p:sp>
        <p:nvSpPr>
          <p:cNvPr id="7" name="file card 2"/>
          <p:cNvSpPr/>
          <p:nvPr/>
        </p:nvSpPr>
        <p:spPr>
          <a:xfrm>
            <a:off x="4709160" y="1097280"/>
            <a:ext cx="3977640" cy="2011680"/>
          </a:xfrm>
          <a:prstGeom prst="roundRect">
            <a:avLst>
              <a:gd name="adj" fmla="val 4545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file card 2 title"/>
          <p:cNvSpPr txBox="1"/>
          <p:nvPr/>
        </p:nvSpPr>
        <p:spPr>
          <a:xfrm>
            <a:off x="4892040" y="11887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E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io_board.c</a:t>
            </a:r>
            <a:endParaRPr lang="en-US" sz="1600" dirty="0"/>
          </a:p>
        </p:txBody>
      </p:sp>
      <p:sp>
        <p:nvSpPr>
          <p:cNvPr id="9" name="file card 2 sub"/>
          <p:cNvSpPr txBox="1"/>
          <p:nvPr/>
        </p:nvSpPr>
        <p:spPr>
          <a:xfrm>
            <a:off x="4892040" y="15544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5C5C"/>
                </a:solidFill>
              </a:rPr>
              <a:t>Definitions: the code itself</a:t>
            </a:r>
            <a:endParaRPr lang="en-US" sz="1300" dirty="0"/>
          </a:p>
        </p:txBody>
      </p:sp>
      <p:sp>
        <p:nvSpPr>
          <p:cNvPr id="10" name="file card 2 code"/>
          <p:cNvSpPr txBox="1"/>
          <p:nvPr/>
        </p:nvSpPr>
        <p:spPr>
          <a:xfrm>
            <a:off x="4892040" y="192024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23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uint8_t readButtonsRaw(void)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23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/* ... HAL_I2C_Mem_Read ...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23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split bullets"/>
          <p:cNvSpPr txBox="1"/>
          <p:nvPr/>
        </p:nvSpPr>
        <p:spPr>
          <a:xfrm>
            <a:off x="457200" y="3291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6E43"/>
                </a:solidFill>
              </a:rPr>
              <a:t>main.c: #include "io_board.h", the .h only, never the .c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CubeIDE compiles every .c in Core/Src by itself; the linker joins main.o and io_board.o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23A48"/>
                </a:solidFill>
              </a:rPr>
              <a:t>Including the .c compiles its functions twice: "multiple definition" error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The same rule in the other generated files</a:t>
            </a:r>
            <a:endParaRPr lang="en-US" sz="2600" dirty="0"/>
          </a:p>
        </p:txBody>
      </p:sp>
      <p:sp>
        <p:nvSpPr>
          <p:cNvPr id="3" name="card 1"/>
          <p:cNvSpPr/>
          <p:nvPr/>
        </p:nvSpPr>
        <p:spPr>
          <a:xfrm>
            <a:off x="457200" y="114300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card 1 title"/>
          <p:cNvSpPr txBox="1"/>
          <p:nvPr/>
        </p:nvSpPr>
        <p:spPr>
          <a:xfrm>
            <a:off x="640080" y="1280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E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main.h</a:t>
            </a:r>
            <a:endParaRPr lang="en-US" sz="1600" dirty="0"/>
          </a:p>
        </p:txBody>
      </p:sp>
      <p:sp>
        <p:nvSpPr>
          <p:cNvPr id="5" name="card 1 text"/>
          <p:cNvSpPr txBox="1"/>
          <p:nvPr/>
        </p:nvSpPr>
        <p:spPr>
          <a:xfrm>
            <a:off x="640080" y="178308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1C1C"/>
                </a:solidFill>
              </a:rPr>
              <a:t>Includes, ET (exported types), EC (constants), EM (macros), EFP (function prototypes), Private defines. Things other .c files need to see.</a:t>
            </a:r>
            <a:endParaRPr lang="en-US" sz="1400" dirty="0"/>
          </a:p>
        </p:txBody>
      </p:sp>
      <p:sp>
        <p:nvSpPr>
          <p:cNvPr id="6" name="card 2"/>
          <p:cNvSpPr/>
          <p:nvPr/>
        </p:nvSpPr>
        <p:spPr>
          <a:xfrm>
            <a:off x="3246120" y="114300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card 2 title"/>
          <p:cNvSpPr txBox="1"/>
          <p:nvPr/>
        </p:nvSpPr>
        <p:spPr>
          <a:xfrm>
            <a:off x="3429000" y="1280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E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stm32g4xx_it.c</a:t>
            </a:r>
            <a:endParaRPr lang="en-US" sz="1600" dirty="0"/>
          </a:p>
        </p:txBody>
      </p:sp>
      <p:sp>
        <p:nvSpPr>
          <p:cNvPr id="8" name="card 2 text"/>
          <p:cNvSpPr txBox="1"/>
          <p:nvPr/>
        </p:nvSpPr>
        <p:spPr>
          <a:xfrm>
            <a:off x="3429000" y="178308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1C1C"/>
                </a:solidFill>
              </a:rPr>
              <a:t>Interrupt handlers. Each has sections 0 (before the HAL handler) and 1 (after it). Usually leave them alone and use the HAL callbacks.</a:t>
            </a:r>
            <a:endParaRPr lang="en-US" sz="1400" dirty="0"/>
          </a:p>
        </p:txBody>
      </p:sp>
      <p:sp>
        <p:nvSpPr>
          <p:cNvPr id="9" name="card 3"/>
          <p:cNvSpPr/>
          <p:nvPr/>
        </p:nvSpPr>
        <p:spPr>
          <a:xfrm>
            <a:off x="6035040" y="114300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card 3 title"/>
          <p:cNvSpPr txBox="1"/>
          <p:nvPr/>
        </p:nvSpPr>
        <p:spPr>
          <a:xfrm>
            <a:off x="6217920" y="1280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E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own files</a:t>
            </a:r>
            <a:endParaRPr lang="en-US" sz="1600" dirty="0"/>
          </a:p>
        </p:txBody>
      </p:sp>
      <p:sp>
        <p:nvSpPr>
          <p:cNvPr id="11" name="card 3 text"/>
          <p:cNvSpPr txBox="1"/>
          <p:nvPr/>
        </p:nvSpPr>
        <p:spPr>
          <a:xfrm>
            <a:off x="6217920" y="178308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1C1C"/>
                </a:solidFill>
              </a:rPr>
              <a:t>New .c files in Core/Src and .h files in Core/Inc are never touched by CubeMX. The safest place for larger code.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Moving a project to another PC</a:t>
            </a:r>
            <a:endParaRPr lang="en-US" sz="2600" dirty="0"/>
          </a:p>
        </p:txBody>
      </p:sp>
      <p:sp>
        <p:nvSpPr>
          <p:cNvPr id="3" name="move card 1"/>
          <p:cNvSpPr/>
          <p:nvPr/>
        </p:nvSpPr>
        <p:spPr>
          <a:xfrm>
            <a:off x="457200" y="1097280"/>
            <a:ext cx="3977640" cy="2011680"/>
          </a:xfrm>
          <a:prstGeom prst="roundRect">
            <a:avLst>
              <a:gd name="adj" fmla="val 4545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move card 1 title"/>
          <p:cNvSpPr txBox="1"/>
          <p:nvPr/>
        </p:nvSpPr>
        <p:spPr>
          <a:xfrm>
            <a:off x="640080" y="11887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E43"/>
                </a:solidFill>
              </a:rPr>
              <a:t>Pack (your PC)</a:t>
            </a:r>
            <a:endParaRPr lang="en-US" sz="1800" dirty="0"/>
          </a:p>
        </p:txBody>
      </p:sp>
      <p:sp>
        <p:nvSpPr>
          <p:cNvPr id="5" name="move card 1 steps"/>
          <p:cNvSpPr txBox="1"/>
          <p:nvPr/>
        </p:nvSpPr>
        <p:spPr>
          <a:xfrm>
            <a:off x="640080" y="164592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C1C1C"/>
                </a:solidFill>
              </a:rPr>
              <a:t>Right-click the project &gt; Refresh (F5)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C1C1C"/>
                </a:solidFill>
              </a:rPr>
              <a:t>Right-click &gt; Export &gt; General &gt; Archive File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C1C1C"/>
                </a:solidFill>
              </a:rPr>
              <a:t>Untick the Debug folder (build output)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C1C1C"/>
                </a:solidFill>
              </a:rPr>
              <a:t>Save as project.zip, Finish</a:t>
            </a:r>
            <a:endParaRPr lang="en-US" sz="1300" dirty="0"/>
          </a:p>
        </p:txBody>
      </p:sp>
      <p:sp>
        <p:nvSpPr>
          <p:cNvPr id="6" name="move card 2"/>
          <p:cNvSpPr/>
          <p:nvPr/>
        </p:nvSpPr>
        <p:spPr>
          <a:xfrm>
            <a:off x="4709160" y="1097280"/>
            <a:ext cx="3977640" cy="2011680"/>
          </a:xfrm>
          <a:prstGeom prst="roundRect">
            <a:avLst>
              <a:gd name="adj" fmla="val 4545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move card 2 title"/>
          <p:cNvSpPr txBox="1"/>
          <p:nvPr/>
        </p:nvSpPr>
        <p:spPr>
          <a:xfrm>
            <a:off x="4892040" y="11887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E43"/>
                </a:solidFill>
              </a:rPr>
              <a:t>Open (other PC)</a:t>
            </a:r>
            <a:endParaRPr lang="en-US" sz="1800" dirty="0"/>
          </a:p>
        </p:txBody>
      </p:sp>
      <p:sp>
        <p:nvSpPr>
          <p:cNvPr id="8" name="move card 2 steps"/>
          <p:cNvSpPr txBox="1"/>
          <p:nvPr/>
        </p:nvSpPr>
        <p:spPr>
          <a:xfrm>
            <a:off x="4892040" y="164592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C1C1C"/>
                </a:solidFill>
              </a:rPr>
              <a:t>File &gt; Import &gt; General &gt; Existing Projects into Workspace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C1C1C"/>
                </a:solidFill>
              </a:rPr>
              <a:t>Select archive file &gt; the .zip (do not unzip it)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C1C1C"/>
                </a:solidFill>
              </a:rPr>
              <a:t>Tick the project &gt; Finish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C1C1C"/>
                </a:solidFill>
              </a:rPr>
              <a:t>Build, then Debug</a:t>
            </a:r>
            <a:endParaRPr lang="en-US" sz="1300" dirty="0"/>
          </a:p>
        </p:txBody>
      </p:sp>
      <p:sp>
        <p:nvSpPr>
          <p:cNvPr id="9" name="move note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5C5C"/>
                </a:solidFill>
              </a:rPr>
              <a:t>Project greyed out in the import list? A project with the same name is already in the workspace: delete it first.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2"/>
                </a:solidFill>
              </a:rPr>
              <a:t>TUTORIAL 2  ·  9.11.2026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Numbers and bits on the board</a:t>
            </a: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27432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</a:rPr>
              <a:t>Predict-then-run wrap-around; signed and unsigned in the debugger; a binary printer; the four bit idioms: set, clear, toggle, test.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2"/>
                </a:solidFill>
              </a:rPr>
              <a:t>TUTORIAL 3  ·  16.11.2026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RGB LEDs and buttons</a:t>
            </a: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27432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</a:rPr>
              <a:t>A set_rgb helper; a walking dot with masks; saturating brightness up and down; one press = one action.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2"/>
                </a:solidFill>
              </a:rPr>
              <a:t>TUTORIAL 4  ·  23.11.2026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Timer interrupts and PWM</a:t>
            </a: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27432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/>
              <a:t>The ISR and the HAL callback chain; three ways to make a PWM (polling, interrupt, hardware) and what each must fit in time.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From timer to callback: the whole chain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941832"/>
            <a:ext cx="82296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1F6E43"/>
                </a:solidFill>
              </a:rPr>
              <a:t>HARDWARE: runs by itself, costs no CPU time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1234440"/>
            <a:ext cx="1426464" cy="731520"/>
          </a:xfrm>
          <a:prstGeom prst="roundRect">
            <a:avLst>
              <a:gd name="adj" fmla="val 12000"/>
            </a:avLst>
          </a:prstGeom>
          <a:solidFill>
            <a:srgbClr val="F4F6F4"/>
          </a:solidFill>
          <a:ln w="9525">
            <a:solidFill>
              <a:srgbClr val="D5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000000"/>
                </a:solidFill>
              </a:rPr>
              <a:t>System clock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170 MHz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57984" y="1234440"/>
            <a:ext cx="1426464" cy="731520"/>
          </a:xfrm>
          <a:prstGeom prst="roundRect">
            <a:avLst>
              <a:gd name="adj" fmla="val 12000"/>
            </a:avLst>
          </a:prstGeom>
          <a:solidFill>
            <a:srgbClr val="F4F6F4"/>
          </a:solidFill>
          <a:ln w="9525">
            <a:solidFill>
              <a:srgbClr val="D5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000000"/>
                </a:solidFill>
              </a:rPr>
              <a:t>Prescaler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divides by PSC + 1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58768" y="1234440"/>
            <a:ext cx="1426464" cy="731520"/>
          </a:xfrm>
          <a:prstGeom prst="roundRect">
            <a:avLst>
              <a:gd name="adj" fmla="val 12000"/>
            </a:avLst>
          </a:prstGeom>
          <a:solidFill>
            <a:srgbClr val="F4F6F4"/>
          </a:solidFill>
          <a:ln w="9525">
            <a:solidFill>
              <a:srgbClr val="D5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000000"/>
                </a:solidFill>
              </a:rPr>
              <a:t>Counter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counts 0 to ARR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59552" y="1234440"/>
            <a:ext cx="1426464" cy="731520"/>
          </a:xfrm>
          <a:prstGeom prst="roundRect">
            <a:avLst>
              <a:gd name="adj" fmla="val 12000"/>
            </a:avLst>
          </a:prstGeom>
          <a:solidFill>
            <a:srgbClr val="F4F6F4"/>
          </a:solidFill>
          <a:ln w="9525">
            <a:solidFill>
              <a:srgbClr val="D5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000000"/>
                </a:solidFill>
              </a:rPr>
              <a:t>Update event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counter wraps to 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60336" y="1234440"/>
            <a:ext cx="1426464" cy="731520"/>
          </a:xfrm>
          <a:prstGeom prst="roundRect">
            <a:avLst>
              <a:gd name="adj" fmla="val 12000"/>
            </a:avLst>
          </a:prstGeom>
          <a:solidFill>
            <a:srgbClr val="F4F6F4"/>
          </a:solidFill>
          <a:ln w="9525">
            <a:solidFill>
              <a:srgbClr val="D5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000000"/>
                </a:solidFill>
              </a:rPr>
              <a:t>NVIC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raises the interrupt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883664" y="1600200"/>
            <a:ext cx="274320" cy="0"/>
          </a:xfrm>
          <a:prstGeom prst="line">
            <a:avLst/>
          </a:prstGeom>
          <a:ln w="25400">
            <a:solidFill>
              <a:srgbClr val="1F6E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584448" y="1600200"/>
            <a:ext cx="274320" cy="0"/>
          </a:xfrm>
          <a:prstGeom prst="line">
            <a:avLst/>
          </a:prstGeom>
          <a:ln w="25400">
            <a:solidFill>
              <a:srgbClr val="1F6E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285232" y="1600200"/>
            <a:ext cx="274320" cy="0"/>
          </a:xfrm>
          <a:prstGeom prst="line">
            <a:avLst/>
          </a:prstGeom>
          <a:ln w="25400">
            <a:solidFill>
              <a:srgbClr val="1F6E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986016" y="1600200"/>
            <a:ext cx="274320" cy="0"/>
          </a:xfrm>
          <a:prstGeom prst="line">
            <a:avLst/>
          </a:prstGeom>
          <a:ln w="25400">
            <a:solidFill>
              <a:srgbClr val="1F6E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973568" y="1965960"/>
            <a:ext cx="0" cy="548640"/>
          </a:xfrm>
          <a:prstGeom prst="line">
            <a:avLst/>
          </a:prstGeom>
          <a:ln w="25400">
            <a:solidFill>
              <a:srgbClr val="1F6E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157984" y="2221992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1F6E43"/>
                </a:solidFill>
              </a:rPr>
              <a:t>SOFTWARE: the CPU leaves the main loop, every step costs cycles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60336" y="2514600"/>
            <a:ext cx="1426464" cy="731520"/>
          </a:xfrm>
          <a:prstGeom prst="roundRect">
            <a:avLst>
              <a:gd name="adj" fmla="val 12000"/>
            </a:avLst>
          </a:prstGeom>
          <a:solidFill>
            <a:srgbClr val="1F6E43"/>
          </a:solidFill>
          <a:ln w="9525">
            <a:solidFill>
              <a:srgbClr val="1F6E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ISR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TIM7_DAC_IRQHandler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559552" y="2514600"/>
            <a:ext cx="1426464" cy="731520"/>
          </a:xfrm>
          <a:prstGeom prst="roundRect">
            <a:avLst>
              <a:gd name="adj" fmla="val 12000"/>
            </a:avLst>
          </a:prstGeom>
          <a:solidFill>
            <a:srgbClr val="1F6E43"/>
          </a:solidFill>
          <a:ln w="9525">
            <a:solidFill>
              <a:srgbClr val="1F6E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HAL handler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checks and clears the flag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58768" y="2514600"/>
            <a:ext cx="1426464" cy="731520"/>
          </a:xfrm>
          <a:prstGeom prst="roundRect">
            <a:avLst>
              <a:gd name="adj" fmla="val 12000"/>
            </a:avLst>
          </a:prstGeom>
          <a:solidFill>
            <a:srgbClr val="1F6E43"/>
          </a:solidFill>
          <a:ln w="9525">
            <a:solidFill>
              <a:srgbClr val="1F6E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Your callback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PeriodElapsedCallback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157984" y="2514600"/>
            <a:ext cx="1426464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6E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000000"/>
                </a:solidFill>
              </a:rPr>
              <a:t>Main loop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continues where it stopped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6986016" y="2880360"/>
            <a:ext cx="274320" cy="0"/>
          </a:xfrm>
          <a:prstGeom prst="line">
            <a:avLst/>
          </a:prstGeom>
          <a:ln w="25400">
            <a:solidFill>
              <a:srgbClr val="1F6E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5285232" y="2880360"/>
            <a:ext cx="274320" cy="0"/>
          </a:xfrm>
          <a:prstGeom prst="line">
            <a:avLst/>
          </a:prstGeom>
          <a:ln w="25400">
            <a:solidFill>
              <a:srgbClr val="1F6E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3584448" y="2880360"/>
            <a:ext cx="274320" cy="0"/>
          </a:xfrm>
          <a:prstGeom prst="line">
            <a:avLst/>
          </a:prstGeom>
          <a:ln w="25400">
            <a:solidFill>
              <a:srgbClr val="1F6E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457200" y="3474720"/>
            <a:ext cx="8229600" cy="868680"/>
          </a:xfrm>
          <a:prstGeom prst="roundRect">
            <a:avLst>
              <a:gd name="adj" fmla="val 8000"/>
            </a:avLst>
          </a:prstGeom>
          <a:solidFill>
            <a:srgbClr val="F4F6F4"/>
          </a:solidFill>
          <a:ln w="9525">
            <a:solidFill>
              <a:srgbClr val="D5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F6E43"/>
                </a:solidFill>
              </a:rPr>
              <a:t>f</a:t>
            </a:r>
            <a:r>
              <a:rPr sz="1800" b="1" baseline="-25000">
                <a:solidFill>
                  <a:srgbClr val="1F6E43"/>
                </a:solidFill>
              </a:rPr>
              <a:t>interrupt</a:t>
            </a:r>
            <a:r>
              <a:rPr sz="1800" b="1">
                <a:solidFill>
                  <a:srgbClr val="1F6E43"/>
                </a:solidFill>
              </a:rPr>
              <a:t> = f</a:t>
            </a:r>
            <a:r>
              <a:rPr sz="1800" b="1" baseline="-25000">
                <a:solidFill>
                  <a:srgbClr val="1F6E43"/>
                </a:solidFill>
              </a:rPr>
              <a:t>clk</a:t>
            </a:r>
            <a:r>
              <a:rPr sz="1800" b="1">
                <a:solidFill>
                  <a:srgbClr val="1F6E43"/>
                </a:solidFill>
              </a:rPr>
              <a:t> / ((PSC + 1) · (ARR + 1))          T</a:t>
            </a:r>
            <a:r>
              <a:rPr sz="1800" b="1" baseline="-25000">
                <a:solidFill>
                  <a:srgbClr val="1F6E43"/>
                </a:solidFill>
              </a:rPr>
              <a:t>period</a:t>
            </a:r>
            <a:r>
              <a:rPr sz="1800" b="1">
                <a:solidFill>
                  <a:srgbClr val="1F6E43"/>
                </a:solidFill>
              </a:rPr>
              <a:t> = 1 / f</a:t>
            </a:r>
            <a:r>
              <a:rPr sz="1800" b="1" baseline="-25000">
                <a:solidFill>
                  <a:srgbClr val="1F6E43"/>
                </a:solidFill>
              </a:rPr>
              <a:t>interrupt</a:t>
            </a:r>
          </a:p>
          <a:p>
            <a:pPr algn="ctr"/>
            <a:r>
              <a:rPr sz="1300" b="0">
                <a:solidFill>
                  <a:srgbClr val="000000"/>
                </a:solidFill>
              </a:rPr>
              <a:t>CPU share used = t</a:t>
            </a:r>
            <a:r>
              <a:rPr sz="1300" b="0" baseline="-25000">
                <a:solidFill>
                  <a:srgbClr val="000000"/>
                </a:solidFill>
              </a:rPr>
              <a:t>ISR</a:t>
            </a:r>
            <a:r>
              <a:rPr sz="1300" b="0">
                <a:solidFill>
                  <a:srgbClr val="000000"/>
                </a:solidFill>
              </a:rPr>
              <a:t> / T</a:t>
            </a:r>
            <a:r>
              <a:rPr sz="1300" b="0" baseline="-25000">
                <a:solidFill>
                  <a:srgbClr val="000000"/>
                </a:solidFill>
              </a:rPr>
              <a:t>period</a:t>
            </a:r>
            <a:r>
              <a:rPr sz="1300" b="0">
                <a:solidFill>
                  <a:srgbClr val="000000"/>
                </a:solidFill>
              </a:rPr>
              <a:t>      (t</a:t>
            </a:r>
            <a:r>
              <a:rPr sz="1300" b="0" baseline="-25000">
                <a:solidFill>
                  <a:srgbClr val="000000"/>
                </a:solidFill>
              </a:rPr>
              <a:t>ISR</a:t>
            </a:r>
            <a:r>
              <a:rPr sz="1300" b="0">
                <a:solidFill>
                  <a:srgbClr val="000000"/>
                </a:solidFill>
              </a:rPr>
              <a:t>: one pass through ISR + HAL handler + callback)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The ISR: what runs when an interrupt fires</a:t>
            </a:r>
            <a:endParaRPr lang="en-US" sz="2600" dirty="0"/>
          </a:p>
        </p:txBody>
      </p:sp>
      <p:sp>
        <p:nvSpPr>
          <p:cNvPr id="3" name="rule bullets"/>
          <p:cNvSpPr txBox="1"/>
          <p:nvPr/>
        </p:nvSpPr>
        <p:spPr>
          <a:xfrm>
            <a:off x="457200" y="109728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An interrupt is a hardware event (a timer period ends, a pin changes, a byte arrives) that pauses the main loop.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6E43"/>
                </a:solidFill>
              </a:rPr>
              <a:t>The CPU runs one function, the ISR (Interrupt Service Routine), then returns to where it stopped.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The NVIC finds the ISR in the vector table. CubeMX writes it in stm32g4xx_it.c; it calls the HAL, which calls your callback.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Entering and leaving costs about a dozen cycles each way, plus the HAL code.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6E43"/>
                </a:solidFill>
              </a:rPr>
              <a:t>Keep it short: no HAL_Delay, printf or I2C. Set a counter or a flag; the main loop does the rest.</a:t>
            </a:r>
            <a:endParaRPr lang="en-US" sz="1500" dirty="0"/>
          </a:p>
        </p:txBody>
      </p:sp>
      <p:sp>
        <p:nvSpPr>
          <p:cNvPr id="4" name="rule box"/>
          <p:cNvSpPr/>
          <p:nvPr/>
        </p:nvSpPr>
        <p:spPr>
          <a:xfrm>
            <a:off x="4663440" y="1097280"/>
            <a:ext cx="4023360" cy="3383280"/>
          </a:xfrm>
          <a:prstGeom prst="roundRect">
            <a:avLst>
              <a:gd name="adj" fmla="val 2909"/>
            </a:avLst>
          </a:prstGeom>
          <a:solidFill>
            <a:srgbClr val="F4F6F4"/>
          </a:solidFill>
          <a:ln w="9525">
            <a:solidFill>
              <a:srgbClr val="D5DDD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rule code"/>
          <p:cNvSpPr txBox="1"/>
          <p:nvPr/>
        </p:nvSpPr>
        <p:spPr>
          <a:xfrm>
            <a:off x="4800600" y="118872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6E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stm32g4xx_it.c: the ISR (CubeMX)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TIM7_DAC_IRQHandler(void)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HAL_TIM_IRQHandler(&amp;htim7);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HAL: checks and clears the flag,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then calls the callback          */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F6E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main.c: your callback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volatile uint32_t ticks = 0;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HAL_TIM_PeriodElapsedCallback(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TIM_HandleTypeDef *htim)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(htim-&gt;Instance == TIM7)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ticks++;              /* short!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Three ways to make a PWM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517904"/>
          <a:ext cx="8229600" cy="2174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6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6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6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18288" marB="18288" anchor="ctr">
                    <a:solidFill>
                      <a:srgbClr val="1F6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1. Polling</a:t>
                      </a:r>
                    </a:p>
                    <a:p>
                      <a:r>
                        <a:rPr sz="900" b="0">
                          <a:solidFill>
                            <a:srgbClr val="FFFFFF"/>
                          </a:solidFill>
                        </a:rPr>
                        <a:t>main loop reads HAL_GetTick()</a:t>
                      </a:r>
                    </a:p>
                  </a:txBody>
                  <a:tcPr marL="64008" marR="64008" marT="18288" marB="18288" anchor="ctr">
                    <a:solidFill>
                      <a:srgbClr val="1F6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2. Interrupt</a:t>
                      </a:r>
                    </a:p>
                    <a:p>
                      <a:r>
                        <a:rPr sz="900" b="0">
                          <a:solidFill>
                            <a:srgbClr val="FFFFFF"/>
                          </a:solidFill>
                        </a:rPr>
                        <a:t>TIM7 callback, once per period</a:t>
                      </a:r>
                    </a:p>
                  </a:txBody>
                  <a:tcPr marL="64008" marR="64008" marT="18288" marB="18288" anchor="ctr">
                    <a:solidFill>
                      <a:srgbClr val="1F6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3. Hardware</a:t>
                      </a:r>
                    </a:p>
                    <a:p>
                      <a:r>
                        <a:rPr sz="900" b="0">
                          <a:solidFill>
                            <a:srgbClr val="FFFFFF"/>
                          </a:solidFill>
                        </a:rPr>
                        <a:t>TIM2 compares CNT with CCR</a:t>
                      </a:r>
                    </a:p>
                  </a:txBody>
                  <a:tcPr marL="64008" marR="64008" marT="18288" marB="18288" anchor="ctr">
                    <a:solidFill>
                      <a:srgbClr val="1F6E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0000"/>
                          </a:solidFill>
                        </a:rPr>
                        <a:t>Who compares</a:t>
                      </a:r>
                    </a:p>
                  </a:txBody>
                  <a:tcPr marL="64008" marR="64008" marT="18288" marB="18288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the main loop, once per pass</a:t>
                      </a:r>
                    </a:p>
                  </a:txBody>
                  <a:tcPr marL="64008" marR="64008" marT="18288" marB="18288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the callback, once per period</a:t>
                      </a:r>
                    </a:p>
                  </a:txBody>
                  <a:tcPr marL="64008" marR="64008" marT="18288" marB="18288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the timer itself, on every count</a:t>
                      </a:r>
                    </a:p>
                  </a:txBody>
                  <a:tcPr marL="64008" marR="64008" marT="18288" marB="18288">
                    <a:solidFill>
                      <a:srgbClr val="F4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0000"/>
                          </a:solidFill>
                        </a:rPr>
                        <a:t>Code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Consolas"/>
                        </a:rPr>
                        <a:t>pwm = (HAL_GetTick() % N) &lt; M;</a:t>
                      </a:r>
                    </a:p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Consolas"/>
                        </a:rPr>
                        <a:t>HAL_GPIO_WritePin(..., pwm);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Consolas"/>
                        </a:rPr>
                        <a:t>step = (step + 1) % N;</a:t>
                      </a:r>
                    </a:p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Consolas"/>
                        </a:rPr>
                        <a:t>HAL_GPIO_WritePin(..., step &lt; M);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Consolas"/>
                        </a:rPr>
                        <a:t>TIM2-&gt;CCR1 = M;</a:t>
                      </a:r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once; ARR = N − 1 is set in CubeMX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0000"/>
                          </a:solidFill>
                        </a:rPr>
                        <a:t>Step counter</a:t>
                      </a:r>
                    </a:p>
                  </a:txBody>
                  <a:tcPr marL="64008" marR="64008" marT="18288" marB="18288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HAL_GetTick() % N; t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step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= 1 ms, the pin changes once per loop pass</a:t>
                      </a:r>
                    </a:p>
                  </a:txBody>
                  <a:tcPr marL="64008" marR="64008" marT="18288" marB="18288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step, +1 per callback; t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step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= T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period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of TIM7</a:t>
                      </a:r>
                    </a:p>
                  </a:txBody>
                  <a:tcPr marL="64008" marR="64008" marT="18288" marB="18288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CNT itself, 0 to ARR; t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step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= t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tick</a:t>
                      </a:r>
                    </a:p>
                  </a:txBody>
                  <a:tcPr marL="64008" marR="64008" marT="18288" marB="18288">
                    <a:solidFill>
                      <a:srgbClr val="F4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0000"/>
                          </a:solidFill>
                        </a:rPr>
                        <a:t>PWM cycle T</a:t>
                      </a:r>
                      <a:r>
                        <a:rPr sz="1050" b="1" baseline="-25000">
                          <a:solidFill>
                            <a:srgbClr val="000000"/>
                          </a:solidFill>
                        </a:rPr>
                        <a:t>PWM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N · 1 ms, if a loop pass is much shorter than 1 ms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N · T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period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N · t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tick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= (ARR + 1) · t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tick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0000"/>
                          </a:solidFill>
                        </a:rPr>
                        <a:t>CPU cost</a:t>
                      </a:r>
                    </a:p>
                  </a:txBody>
                  <a:tcPr marL="64008" marR="64008" marT="18288" marB="18288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the whole CPU (slide 16)</a:t>
                      </a:r>
                    </a:p>
                  </a:txBody>
                  <a:tcPr marL="64008" marR="64008" marT="18288" marB="18288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t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ISR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/ T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period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(slide 17)</a:t>
                      </a:r>
                    </a:p>
                  </a:txBody>
                  <a:tcPr marL="64008" marR="64008" marT="18288" marB="18288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6E43"/>
                          </a:solidFill>
                        </a:rPr>
                        <a:t>zero (slide 18)</a:t>
                      </a:r>
                    </a:p>
                  </a:txBody>
                  <a:tcPr marL="64008" marR="64008" marT="18288" marB="18288">
                    <a:solidFill>
                      <a:srgbClr val="F4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0000"/>
                          </a:solidFill>
                        </a:rPr>
                        <a:t>Breaks when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B02A2A"/>
                          </a:solidFill>
                        </a:rPr>
                        <a:t>any code makes the loop longer: the edges jitter by one loop pass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B02A2A"/>
                          </a:solidFill>
                        </a:rPr>
                        <a:t>T</a:t>
                      </a:r>
                      <a:r>
                        <a:rPr sz="1000" b="0" baseline="-25000">
                          <a:solidFill>
                            <a:srgbClr val="B02A2A"/>
                          </a:solidFill>
                        </a:rPr>
                        <a:t>period</a:t>
                      </a:r>
                      <a:r>
                        <a:rPr sz="1000" b="0">
                          <a:solidFill>
                            <a:srgbClr val="B02A2A"/>
                          </a:solidFill>
                        </a:rPr>
                        <a:t> comes close to t</a:t>
                      </a:r>
                      <a:r>
                        <a:rPr sz="1000" b="0" baseline="-25000">
                          <a:solidFill>
                            <a:srgbClr val="B02A2A"/>
                          </a:solidFill>
                        </a:rPr>
                        <a:t>ISR</a:t>
                      </a:r>
                      <a:r>
                        <a:rPr sz="1000" b="0">
                          <a:solidFill>
                            <a:srgbClr val="B02A2A"/>
                          </a:solidFill>
                        </a:rPr>
                        <a:t>: fine steps or a fast PWM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B02A2A"/>
                          </a:solidFill>
                        </a:rPr>
                        <a:t>the pin is not a timer channel pin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457200" y="886968"/>
            <a:ext cx="822960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200" b="1">
                <a:solidFill>
                  <a:srgbClr val="1F6E43"/>
                </a:solidFill>
              </a:rPr>
              <a:t>One PWM cycle: a step counter goes 0, 1, ..., N − 1 and jumps back to 0. The output is on while the counter is below M.</a:t>
            </a:r>
          </a:p>
          <a:p>
            <a:r>
              <a:rPr sz="1100" b="0">
                <a:solidFill>
                  <a:srgbClr val="000000"/>
                </a:solidFill>
              </a:rPr>
              <a:t>N: steps per cycle.   M: steps on.   t</a:t>
            </a:r>
            <a:r>
              <a:rPr sz="1100" b="0" baseline="-25000">
                <a:solidFill>
                  <a:srgbClr val="000000"/>
                </a:solidFill>
              </a:rPr>
              <a:t>step</a:t>
            </a:r>
            <a:r>
              <a:rPr sz="1100" b="0">
                <a:solidFill>
                  <a:srgbClr val="000000"/>
                </a:solidFill>
              </a:rPr>
              <a:t>: one step.   T</a:t>
            </a:r>
            <a:r>
              <a:rPr sz="1100" b="0" baseline="-25000">
                <a:solidFill>
                  <a:srgbClr val="000000"/>
                </a:solidFill>
              </a:rPr>
              <a:t>PWM</a:t>
            </a:r>
            <a:r>
              <a:rPr sz="1100" b="0">
                <a:solidFill>
                  <a:srgbClr val="000000"/>
                </a:solidFill>
              </a:rPr>
              <a:t> = N · t</a:t>
            </a:r>
            <a:r>
              <a:rPr sz="1100" b="0" baseline="-25000">
                <a:solidFill>
                  <a:srgbClr val="000000"/>
                </a:solidFill>
              </a:rPr>
              <a:t>step</a:t>
            </a:r>
            <a:r>
              <a:rPr sz="1100" b="0">
                <a:solidFill>
                  <a:srgbClr val="000000"/>
                </a:solidFill>
              </a:rPr>
              <a:t>,   f</a:t>
            </a:r>
            <a:r>
              <a:rPr sz="1100" b="0" baseline="-25000">
                <a:solidFill>
                  <a:srgbClr val="000000"/>
                </a:solidFill>
              </a:rPr>
              <a:t>PWM</a:t>
            </a:r>
            <a:r>
              <a:rPr sz="1100" b="0">
                <a:solidFill>
                  <a:srgbClr val="000000"/>
                </a:solidFill>
              </a:rPr>
              <a:t> = 1 / T</a:t>
            </a:r>
            <a:r>
              <a:rPr sz="1100" b="0" baseline="-25000">
                <a:solidFill>
                  <a:srgbClr val="000000"/>
                </a:solidFill>
              </a:rPr>
              <a:t>PWM</a:t>
            </a:r>
            <a:r>
              <a:rPr sz="1100" b="0">
                <a:solidFill>
                  <a:srgbClr val="000000"/>
                </a:solidFill>
              </a:rPr>
              <a:t>,   duty = M / N.   Each method gets its step counter from a different source.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200" b="1">
                <a:solidFill>
                  <a:srgbClr val="1F6E43"/>
                </a:solidFill>
              </a:rPr>
              <a:t>The CPU can read a counter at any moment, but it is never interrupted at each count.</a:t>
            </a:r>
          </a:p>
          <a:p>
            <a:r>
              <a:rPr sz="1100" b="0">
                <a:solidFill>
                  <a:srgbClr val="000000"/>
                </a:solidFill>
              </a:rPr>
              <a:t>HAL_GetTick() changes every 1 ms. TIM2-&gt;CNT changes every t</a:t>
            </a:r>
            <a:r>
              <a:rPr sz="1100" b="0" baseline="-25000">
                <a:solidFill>
                  <a:srgbClr val="000000"/>
                </a:solidFill>
              </a:rPr>
              <a:t>tick</a:t>
            </a:r>
            <a:r>
              <a:rPr sz="1100" b="0">
                <a:solidFill>
                  <a:srgbClr val="000000"/>
                </a:solidFill>
              </a:rPr>
              <a:t> (5.9 ns at PSC = 0), but the loop sees it only once per pass, so the step becomes t</a:t>
            </a:r>
            <a:r>
              <a:rPr sz="1100" b="0" baseline="-25000">
                <a:solidFill>
                  <a:srgbClr val="000000"/>
                </a:solidFill>
              </a:rPr>
              <a:t>loop</a:t>
            </a:r>
            <a:r>
              <a:rPr sz="1100" b="0">
                <a:solidFill>
                  <a:srgbClr val="00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Polling: what must fit in one step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960120"/>
          <a:ext cx="8229600" cy="1563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Symbol</a:t>
                      </a:r>
                    </a:p>
                  </a:txBody>
                  <a:tcPr marL="64008" marR="64008" marT="18288" marB="18288" anchor="ctr">
                    <a:solidFill>
                      <a:srgbClr val="1F6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What it is</a:t>
                      </a:r>
                    </a:p>
                  </a:txBody>
                  <a:tcPr marL="64008" marR="64008" marT="18288" marB="18288" anchor="ctr">
                    <a:solidFill>
                      <a:srgbClr val="1F6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Formula</a:t>
                      </a:r>
                    </a:p>
                  </a:txBody>
                  <a:tcPr marL="64008" marR="64008" marT="18288" marB="18288" anchor="ctr">
                    <a:solidFill>
                      <a:srgbClr val="1F6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Working example</a:t>
                      </a:r>
                    </a:p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f</a:t>
                      </a:r>
                      <a:r>
                        <a:rPr sz="1000" b="0" baseline="-25000">
                          <a:solidFill>
                            <a:srgbClr val="FFFFFF"/>
                          </a:solidFill>
                        </a:rPr>
                        <a:t>PWM</a:t>
                      </a:r>
                      <a:r>
                        <a:rPr sz="1000" b="0">
                          <a:solidFill>
                            <a:srgbClr val="FFFFFF"/>
                          </a:solidFill>
                        </a:rPr>
                        <a:t> = 100 Hz, N = 10</a:t>
                      </a:r>
                    </a:p>
                  </a:txBody>
                  <a:tcPr marL="64008" marR="64008" marT="18288" marB="18288" anchor="ctr">
                    <a:solidFill>
                      <a:srgbClr val="1F6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Not working example</a:t>
                      </a:r>
                    </a:p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f</a:t>
                      </a:r>
                      <a:r>
                        <a:rPr sz="1000" b="0" baseline="-25000">
                          <a:solidFill>
                            <a:srgbClr val="FFFFFF"/>
                          </a:solidFill>
                        </a:rPr>
                        <a:t>PWM</a:t>
                      </a:r>
                      <a:r>
                        <a:rPr sz="1000" b="0">
                          <a:solidFill>
                            <a:srgbClr val="FFFFFF"/>
                          </a:solidFill>
                        </a:rPr>
                        <a:t> = 100 Hz, N = 10</a:t>
                      </a:r>
                    </a:p>
                  </a:txBody>
                  <a:tcPr marL="64008" marR="64008" marT="18288" marB="18288" anchor="ctr">
                    <a:solidFill>
                      <a:srgbClr val="B0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t</a:t>
                      </a:r>
                      <a:r>
                        <a:rPr sz="1000" b="1" baseline="-25000">
                          <a:solidFill>
                            <a:srgbClr val="000000"/>
                          </a:solidFill>
                        </a:rPr>
                        <a:t>step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One PWM step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HAL_GetTick(): fixed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1 ms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1 ms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Steps on, for 50 %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N / 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T</a:t>
                      </a:r>
                      <a:r>
                        <a:rPr sz="1000" b="1" baseline="-25000">
                          <a:solidFill>
                            <a:srgbClr val="000000"/>
                          </a:solidFill>
                        </a:rPr>
                        <a:t>PWM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PWM cycle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N · t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step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10 ms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10 ms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t</a:t>
                      </a:r>
                      <a:r>
                        <a:rPr sz="1000" b="1" baseline="-25000">
                          <a:solidFill>
                            <a:srgbClr val="000000"/>
                          </a:solidFill>
                        </a:rPr>
                        <a:t>loop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One pass of the main loop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cycles · t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clk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: measure it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about 1 µs: PWM lines only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B02A2A"/>
                          </a:solidFill>
                        </a:rPr>
                        <a:t>about 1.9 ms: plus a printf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t</a:t>
                      </a:r>
                      <a:r>
                        <a:rPr sz="1000" b="1" baseline="-25000">
                          <a:solidFill>
                            <a:srgbClr val="000000"/>
                          </a:solidFill>
                        </a:rPr>
                        <a:t>late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How late an edge can be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up to t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loop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1 µs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B02A2A"/>
                          </a:solidFill>
                        </a:rPr>
                        <a:t>1.9 ms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80942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duty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Duty you get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M / 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50 %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B02A2A"/>
                          </a:solidFill>
                        </a:rPr>
                        <a:t>31 to 69 %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112722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57200" y="2600000"/>
            <a:ext cx="822960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200" b="1">
                <a:solidFill>
                  <a:srgbClr val="1F6E43"/>
                </a:solidFill>
              </a:rPr>
              <a:t>Must hold: t</a:t>
            </a:r>
            <a:r>
              <a:rPr sz="1200" b="1" baseline="-25000">
                <a:solidFill>
                  <a:srgbClr val="1F6E43"/>
                </a:solidFill>
              </a:rPr>
              <a:t>loop</a:t>
            </a:r>
            <a:r>
              <a:rPr sz="1200" b="1">
                <a:solidFill>
                  <a:srgbClr val="1F6E43"/>
                </a:solidFill>
              </a:rPr>
              <a:t> much shorter than t</a:t>
            </a:r>
            <a:r>
              <a:rPr sz="1200" b="1" baseline="-25000">
                <a:solidFill>
                  <a:srgbClr val="1F6E43"/>
                </a:solidFill>
              </a:rPr>
              <a:t>step</a:t>
            </a:r>
            <a:r>
              <a:rPr sz="1200" b="1">
                <a:solidFill>
                  <a:srgbClr val="1F6E43"/>
                </a:solidFill>
              </a:rPr>
              <a:t>. Every line in the loop (printf, I2C, HAL_Delay) adds to t</a:t>
            </a:r>
            <a:r>
              <a:rPr sz="1200" b="1" baseline="-25000">
                <a:solidFill>
                  <a:srgbClr val="1F6E43"/>
                </a:solidFill>
              </a:rPr>
              <a:t>loop</a:t>
            </a:r>
            <a:r>
              <a:rPr sz="1200" b="1">
                <a:solidFill>
                  <a:srgbClr val="1F6E43"/>
                </a:solidFill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900000"/>
            <a:ext cx="4023360" cy="1830000"/>
          </a:xfrm>
          <a:prstGeom prst="roundRect">
            <a:avLst>
              <a:gd name="adj" fmla="val 6000"/>
            </a:avLst>
          </a:prstGeom>
          <a:solidFill>
            <a:srgbClr val="F4F6F4"/>
          </a:solidFill>
          <a:ln w="9525">
            <a:solidFill>
              <a:srgbClr val="D5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2954864"/>
            <a:ext cx="380390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6E43"/>
                </a:solidFill>
              </a:rPr>
              <a:t>Working example: f</a:t>
            </a:r>
            <a:r>
              <a:rPr sz="1150" b="1" baseline="-25000">
                <a:solidFill>
                  <a:srgbClr val="1F6E43"/>
                </a:solidFill>
              </a:rPr>
              <a:t>PWM</a:t>
            </a:r>
            <a:r>
              <a:rPr sz="1150" b="1">
                <a:solidFill>
                  <a:srgbClr val="1F6E43"/>
                </a:solidFill>
              </a:rPr>
              <a:t> = 100 Hz, N = 10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000000"/>
                </a:solidFill>
              </a:rPr>
              <a:t>HAL_GetTick() goes up by 1 every 1 ms: that is one PWM step.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000000"/>
                </a:solidFill>
              </a:rPr>
              <a:t>One pass of the loop takes about 1 µs, so the loop reads each tick value about 1000 times.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000000"/>
                </a:solidFill>
              </a:rPr>
              <a:t>HAL_GetTick() % 10 is the step counter: 0, 1, ..., 9, then back to 0. One cycle lasts 10 ms (100 Hz).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000000"/>
                </a:solidFill>
              </a:rPr>
              <a:t>For steps 0 to 4 (below M = 5) the pin is on, 5 ms; for steps 5 to 9 it is off.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000000"/>
                </a:solidFill>
              </a:rPr>
              <a:t>Each change is seen at most 1 µs late, so the duty stays 50 %.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2900000"/>
            <a:ext cx="4023360" cy="1830000"/>
          </a:xfrm>
          <a:prstGeom prst="roundRect">
            <a:avLst>
              <a:gd name="adj" fmla="val 6000"/>
            </a:avLst>
          </a:prstGeom>
          <a:solidFill>
            <a:srgbClr val="FBF1F1"/>
          </a:solidFill>
          <a:ln w="9525">
            <a:solidFill>
              <a:srgbClr val="E6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73168" y="2954864"/>
            <a:ext cx="380390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B02A2A"/>
                </a:solidFill>
              </a:rPr>
              <a:t>Not working example: f</a:t>
            </a:r>
            <a:r>
              <a:rPr sz="1150" b="1" baseline="-25000">
                <a:solidFill>
                  <a:srgbClr val="B02A2A"/>
                </a:solidFill>
              </a:rPr>
              <a:t>PWM</a:t>
            </a:r>
            <a:r>
              <a:rPr sz="1150" b="1">
                <a:solidFill>
                  <a:srgbClr val="B02A2A"/>
                </a:solidFill>
              </a:rPr>
              <a:t> = 100 Hz, N = 10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000000"/>
                </a:solidFill>
              </a:rPr>
              <a:t>The same PWM, plus one printf of 22 characters in the loop.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000000"/>
                </a:solidFill>
              </a:rPr>
              <a:t>At 115 200 baud a character takes 87 µs, so the printf blocks for 22 · 87 µs ≈ 1.9 ms.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000000"/>
                </a:solidFill>
              </a:rPr>
              <a:t>One pass now takes 1.9 ms: the loop reads the tick only about every second step.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000000"/>
                </a:solidFill>
              </a:rPr>
              <a:t>The pin changes up to 1.9 ms late: the 5 ms on time becomes anything from 3.1 to 6.9 ms.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000000"/>
                </a:solidFill>
              </a:rPr>
              <a:t>The duty jumps between 31 and 69 % from cycle to cycle: the LED flickers.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Interrupt: what must fit in one period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960120"/>
          <a:ext cx="8229600" cy="1764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Symbol</a:t>
                      </a:r>
                    </a:p>
                  </a:txBody>
                  <a:tcPr marL="64008" marR="64008" marT="18288" marB="18288" anchor="ctr">
                    <a:solidFill>
                      <a:srgbClr val="1F6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What it is</a:t>
                      </a:r>
                    </a:p>
                  </a:txBody>
                  <a:tcPr marL="64008" marR="64008" marT="18288" marB="18288" anchor="ctr">
                    <a:solidFill>
                      <a:srgbClr val="1F6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Formula</a:t>
                      </a:r>
                    </a:p>
                  </a:txBody>
                  <a:tcPr marL="64008" marR="64008" marT="18288" marB="18288" anchor="ctr">
                    <a:solidFill>
                      <a:srgbClr val="1F6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Working example</a:t>
                      </a:r>
                    </a:p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f</a:t>
                      </a:r>
                      <a:r>
                        <a:rPr sz="1000" b="0" baseline="-25000">
                          <a:solidFill>
                            <a:srgbClr val="FFFFFF"/>
                          </a:solidFill>
                        </a:rPr>
                        <a:t>PWM</a:t>
                      </a:r>
                      <a:r>
                        <a:rPr sz="1000" b="0">
                          <a:solidFill>
                            <a:srgbClr val="FFFFFF"/>
                          </a:solidFill>
                        </a:rPr>
                        <a:t> = 1 kHz, N = 100</a:t>
                      </a:r>
                    </a:p>
                  </a:txBody>
                  <a:tcPr marL="64008" marR="64008" marT="18288" marB="18288" anchor="ctr">
                    <a:solidFill>
                      <a:srgbClr val="1F6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Not working example</a:t>
                      </a:r>
                    </a:p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f</a:t>
                      </a:r>
                      <a:r>
                        <a:rPr sz="1000" b="0" baseline="-25000">
                          <a:solidFill>
                            <a:srgbClr val="FFFFFF"/>
                          </a:solidFill>
                        </a:rPr>
                        <a:t>PWM</a:t>
                      </a:r>
                      <a:r>
                        <a:rPr sz="1000" b="0">
                          <a:solidFill>
                            <a:srgbClr val="FFFFFF"/>
                          </a:solidFill>
                        </a:rPr>
                        <a:t> = 20 kHz, N = 100</a:t>
                      </a:r>
                    </a:p>
                  </a:txBody>
                  <a:tcPr marL="64008" marR="64008" marT="18288" marB="18288" anchor="ctr">
                    <a:solidFill>
                      <a:srgbClr val="B0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PSC, ARR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TIM7 prescaler and auto-reload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set in CubeMX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169, 9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16, 4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t</a:t>
                      </a:r>
                      <a:r>
                        <a:rPr sz="1000" b="1" baseline="-25000">
                          <a:solidFill>
                            <a:srgbClr val="000000"/>
                          </a:solidFill>
                        </a:rPr>
                        <a:t>tick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One count of TIM7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(PSC + 1) · t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clk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170 · 5.9 ns = 1 µs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17 · 5.9 ns = 0.1 µs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T</a:t>
                      </a:r>
                      <a:r>
                        <a:rPr sz="1000" b="1" baseline="-25000">
                          <a:solidFill>
                            <a:srgbClr val="000000"/>
                          </a:solidFill>
                        </a:rPr>
                        <a:t>period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Between interrupts: one step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(ARR + 1) · t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tick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10 · 1 µs = 10 µs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5 · 0.1 µs = 0.5 µs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Steps on, for 50 %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N / 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50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50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t</a:t>
                      </a:r>
                      <a:r>
                        <a:rPr sz="1000" b="1" baseline="-25000">
                          <a:solidFill>
                            <a:srgbClr val="000000"/>
                          </a:solidFill>
                        </a:rPr>
                        <a:t>ISR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CPU time of one interrupt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cycles · t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clk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: measure it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170 cycles = 1 µs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1 µs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t</a:t>
                      </a:r>
                      <a:r>
                        <a:rPr sz="1000" b="1" baseline="-25000">
                          <a:solidFill>
                            <a:srgbClr val="000000"/>
                          </a:solidFill>
                        </a:rPr>
                        <a:t>free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Left for the main loop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T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period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− t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ISR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9 µs (90 %)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B02A2A"/>
                          </a:solidFill>
                        </a:rPr>
                        <a:t>0.5 − 1 &lt; 0: none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090483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T</a:t>
                      </a:r>
                      <a:r>
                        <a:rPr sz="1000" b="1" baseline="-25000">
                          <a:solidFill>
                            <a:srgbClr val="000000"/>
                          </a:solidFill>
                        </a:rPr>
                        <a:t>PWM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PWM cycle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N · T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period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1 ms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B02A2A"/>
                          </a:solidFill>
                        </a:rPr>
                        <a:t>about 100 µs, not 50 µs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397239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57200" y="2770000"/>
            <a:ext cx="822960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200" b="1">
                <a:solidFill>
                  <a:srgbClr val="1F6E43"/>
                </a:solidFill>
              </a:rPr>
              <a:t>Must hold: t</a:t>
            </a:r>
            <a:r>
              <a:rPr sz="1200" b="1" baseline="-25000">
                <a:solidFill>
                  <a:srgbClr val="1F6E43"/>
                </a:solidFill>
              </a:rPr>
              <a:t>ISR</a:t>
            </a:r>
            <a:r>
              <a:rPr sz="1200" b="1">
                <a:solidFill>
                  <a:srgbClr val="1F6E43"/>
                </a:solidFill>
              </a:rPr>
              <a:t> &lt; T</a:t>
            </a:r>
            <a:r>
              <a:rPr sz="1200" b="1" baseline="-25000">
                <a:solidFill>
                  <a:srgbClr val="1F6E43"/>
                </a:solidFill>
              </a:rPr>
              <a:t>period</a:t>
            </a:r>
            <a:r>
              <a:rPr sz="1200" b="1">
                <a:solidFill>
                  <a:srgbClr val="1F6E43"/>
                </a:solidFill>
              </a:rPr>
              <a:t>, with a margin: keep t</a:t>
            </a:r>
            <a:r>
              <a:rPr sz="1200" b="1" baseline="-25000">
                <a:solidFill>
                  <a:srgbClr val="1F6E43"/>
                </a:solidFill>
              </a:rPr>
              <a:t>ISR</a:t>
            </a:r>
            <a:r>
              <a:rPr sz="1200" b="1">
                <a:solidFill>
                  <a:srgbClr val="1F6E43"/>
                </a:solidFill>
              </a:rPr>
              <a:t> below about 10 % of T</a:t>
            </a:r>
            <a:r>
              <a:rPr sz="1200" b="1" baseline="-25000">
                <a:solidFill>
                  <a:srgbClr val="1F6E43"/>
                </a:solidFill>
              </a:rPr>
              <a:t>period</a:t>
            </a:r>
            <a:r>
              <a:rPr sz="1200" b="1">
                <a:solidFill>
                  <a:srgbClr val="1F6E43"/>
                </a:solidFill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060000"/>
            <a:ext cx="4023360" cy="1670000"/>
          </a:xfrm>
          <a:prstGeom prst="roundRect">
            <a:avLst>
              <a:gd name="adj" fmla="val 6000"/>
            </a:avLst>
          </a:prstGeom>
          <a:solidFill>
            <a:srgbClr val="F4F6F4"/>
          </a:solidFill>
          <a:ln w="9525">
            <a:solidFill>
              <a:srgbClr val="D5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3114864"/>
            <a:ext cx="380390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6E43"/>
                </a:solidFill>
              </a:rPr>
              <a:t>Working example: f</a:t>
            </a:r>
            <a:r>
              <a:rPr sz="1150" b="1" baseline="-25000">
                <a:solidFill>
                  <a:srgbClr val="1F6E43"/>
                </a:solidFill>
              </a:rPr>
              <a:t>PWM</a:t>
            </a:r>
            <a:r>
              <a:rPr sz="1150" b="1">
                <a:solidFill>
                  <a:srgbClr val="1F6E43"/>
                </a:solidFill>
              </a:rPr>
              <a:t> = 1 kHz, N = 100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000000"/>
                </a:solidFill>
              </a:rPr>
              <a:t>TIM7 counts every 1 µs (PSC = 169) and wraps after 10 counts (ARR = 9): an interrupt every 10 µs, which is one PWM step.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000000"/>
                </a:solidFill>
              </a:rPr>
              <a:t>After 0.07 µs (12 cycles) the CPU is in the ISR. HAL clears the flag, and the callback runs step = (step + 1) % 100 and sets the pin on while step &lt; 50.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000000"/>
                </a:solidFill>
              </a:rPr>
              <a:t>About 1 µs after the wrap the CPU is back in the main loop, with 9 µs (90 %) left.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000000"/>
                </a:solidFill>
              </a:rPr>
              <a:t>100 steps of 10 µs make one cycle: 1 ms, so 1 kHz at 50 %.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3060000"/>
            <a:ext cx="4023360" cy="1670000"/>
          </a:xfrm>
          <a:prstGeom prst="roundRect">
            <a:avLst>
              <a:gd name="adj" fmla="val 6000"/>
            </a:avLst>
          </a:prstGeom>
          <a:solidFill>
            <a:srgbClr val="FBF1F1"/>
          </a:solidFill>
          <a:ln w="9525">
            <a:solidFill>
              <a:srgbClr val="E6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73168" y="3114864"/>
            <a:ext cx="380390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B02A2A"/>
                </a:solidFill>
              </a:rPr>
              <a:t>Not working example: f</a:t>
            </a:r>
            <a:r>
              <a:rPr sz="1150" b="1" baseline="-25000">
                <a:solidFill>
                  <a:srgbClr val="B02A2A"/>
                </a:solidFill>
              </a:rPr>
              <a:t>PWM</a:t>
            </a:r>
            <a:r>
              <a:rPr sz="1150" b="1">
                <a:solidFill>
                  <a:srgbClr val="B02A2A"/>
                </a:solidFill>
              </a:rPr>
              <a:t> = 20 kHz, N = 100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000000"/>
                </a:solidFill>
              </a:rPr>
              <a:t>For 20 kHz with 100 steps, one step must last 50 µs / 100 = 0.5 µs: PSC = 16 (0.1 µs per count) and ARR = 4.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000000"/>
                </a:solidFill>
              </a:rPr>
              <a:t>One interrupt takes about 1 µs, so the next wrap comes before the ISR ends.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000000"/>
                </a:solidFill>
              </a:rPr>
              <a:t>The CPU re-enters the ISR at once and the main loop never runs: no printf, no buttons.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000000"/>
                </a:solidFill>
              </a:rPr>
              <a:t>The flag cannot count twice, so every second interrupt is lost: step counts at half speed, and T</a:t>
            </a:r>
            <a:r>
              <a:rPr sz="1000" b="0" baseline="-25000">
                <a:solidFill>
                  <a:srgbClr val="000000"/>
                </a:solidFill>
              </a:rPr>
              <a:t>PWM</a:t>
            </a:r>
            <a:r>
              <a:rPr sz="1000" b="0">
                <a:solidFill>
                  <a:srgbClr val="000000"/>
                </a:solidFill>
              </a:rPr>
              <a:t> ≈ 100 µs (10 kHz).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Hardware: what limits the PWM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960120"/>
          <a:ext cx="8229600" cy="1563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Symbol</a:t>
                      </a:r>
                    </a:p>
                  </a:txBody>
                  <a:tcPr marL="64008" marR="64008" marT="18288" marB="18288" anchor="ctr">
                    <a:solidFill>
                      <a:srgbClr val="1F6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What it is</a:t>
                      </a:r>
                    </a:p>
                  </a:txBody>
                  <a:tcPr marL="64008" marR="64008" marT="18288" marB="18288" anchor="ctr">
                    <a:solidFill>
                      <a:srgbClr val="1F6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Formula</a:t>
                      </a:r>
                    </a:p>
                  </a:txBody>
                  <a:tcPr marL="64008" marR="64008" marT="18288" marB="18288" anchor="ctr">
                    <a:solidFill>
                      <a:srgbClr val="1F6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Working example</a:t>
                      </a:r>
                    </a:p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f</a:t>
                      </a:r>
                      <a:r>
                        <a:rPr sz="1000" b="0" baseline="-25000">
                          <a:solidFill>
                            <a:srgbClr val="FFFFFF"/>
                          </a:solidFill>
                        </a:rPr>
                        <a:t>PWM</a:t>
                      </a:r>
                      <a:r>
                        <a:rPr sz="1000" b="0">
                          <a:solidFill>
                            <a:srgbClr val="FFFFFF"/>
                          </a:solidFill>
                        </a:rPr>
                        <a:t> = 17 kHz, N = 10 000</a:t>
                      </a:r>
                    </a:p>
                  </a:txBody>
                  <a:tcPr marL="64008" marR="64008" marT="18288" marB="18288" anchor="ctr">
                    <a:solidFill>
                      <a:srgbClr val="1F6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Not working example</a:t>
                      </a:r>
                    </a:p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f</a:t>
                      </a:r>
                      <a:r>
                        <a:rPr sz="1000" b="0" baseline="-25000">
                          <a:solidFill>
                            <a:srgbClr val="FFFFFF"/>
                          </a:solidFill>
                        </a:rPr>
                        <a:t>PWM</a:t>
                      </a:r>
                      <a:r>
                        <a:rPr sz="1000" b="0">
                          <a:solidFill>
                            <a:srgbClr val="FFFFFF"/>
                          </a:solidFill>
                        </a:rPr>
                        <a:t> = 100 kHz, N = 10 000</a:t>
                      </a:r>
                    </a:p>
                  </a:txBody>
                  <a:tcPr marL="64008" marR="64008" marT="18288" marB="18288" anchor="ctr">
                    <a:solidFill>
                      <a:srgbClr val="B0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T</a:t>
                      </a:r>
                      <a:r>
                        <a:rPr sz="1000" b="1" baseline="-25000">
                          <a:solidFill>
                            <a:srgbClr val="000000"/>
                          </a:solidFill>
                        </a:rPr>
                        <a:t>PWM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PWM cycle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1 / f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PWM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59 µs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10 µs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t</a:t>
                      </a:r>
                      <a:r>
                        <a:rPr sz="1000" b="1" baseline="-25000">
                          <a:solidFill>
                            <a:srgbClr val="000000"/>
                          </a:solidFill>
                        </a:rPr>
                        <a:t>tick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One count of CNT: one step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T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PWM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/ 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5.9 ns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B02A2A"/>
                          </a:solidFill>
                        </a:rPr>
                        <a:t>1 ns: shorter than t</a:t>
                      </a:r>
                      <a:r>
                        <a:rPr sz="1000" b="0" baseline="-25000">
                          <a:solidFill>
                            <a:srgbClr val="B02A2A"/>
                          </a:solidFill>
                        </a:rPr>
                        <a:t>clk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PSC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Prescaler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t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tick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/ t</a:t>
                      </a:r>
                      <a:r>
                        <a:rPr sz="1000" b="0" baseline="-25000">
                          <a:solidFill>
                            <a:srgbClr val="000000"/>
                          </a:solidFill>
                        </a:rPr>
                        <a:t>clk</a:t>
                      </a:r>
                      <a:r>
                        <a:rPr sz="1000" b="0">
                          <a:solidFill>
                            <a:srgbClr val="000000"/>
                          </a:solidFill>
                        </a:rPr>
                        <a:t> − 1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B02A2A"/>
                          </a:solidFill>
                        </a:rPr>
                        <a:t>0.17 − 1 &lt; 0: impossible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ARR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Auto-reload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N − 1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9999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9999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M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CCR, for 50 %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N / 2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5000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5000</a:t>
                      </a:r>
                    </a:p>
                  </a:txBody>
                  <a:tcPr marL="64008" marR="64008" marT="18288" marB="18288" anchor="ctr">
                    <a:solidFill>
                      <a:srgbClr val="F4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</a:rPr>
                        <a:t>CPU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CPU time per cycle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none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581616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57200" y="2600000"/>
            <a:ext cx="822960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200" b="1">
                <a:solidFill>
                  <a:srgbClr val="1F6E43"/>
                </a:solidFill>
              </a:rPr>
              <a:t>Must hold: f</a:t>
            </a:r>
            <a:r>
              <a:rPr sz="1200" b="1" baseline="-25000">
                <a:solidFill>
                  <a:srgbClr val="1F6E43"/>
                </a:solidFill>
              </a:rPr>
              <a:t>PWM</a:t>
            </a:r>
            <a:r>
              <a:rPr sz="1200" b="1">
                <a:solidFill>
                  <a:srgbClr val="1F6E43"/>
                </a:solidFill>
              </a:rPr>
              <a:t> · N ≤ f</a:t>
            </a:r>
            <a:r>
              <a:rPr sz="1200" b="1" baseline="-25000">
                <a:solidFill>
                  <a:srgbClr val="1F6E43"/>
                </a:solidFill>
              </a:rPr>
              <a:t>clk</a:t>
            </a:r>
            <a:r>
              <a:rPr sz="1200" b="1">
                <a:solidFill>
                  <a:srgbClr val="1F6E43"/>
                </a:solidFill>
              </a:rPr>
              <a:t> = 170 MHz. The CPU is never involved: no t</a:t>
            </a:r>
            <a:r>
              <a:rPr sz="1200" b="1" baseline="-25000">
                <a:solidFill>
                  <a:srgbClr val="1F6E43"/>
                </a:solidFill>
              </a:rPr>
              <a:t>ISR</a:t>
            </a:r>
            <a:r>
              <a:rPr sz="1200" b="1">
                <a:solidFill>
                  <a:srgbClr val="1F6E43"/>
                </a:solidFill>
              </a:rPr>
              <a:t>, no t</a:t>
            </a:r>
            <a:r>
              <a:rPr sz="1200" b="1" baseline="-25000">
                <a:solidFill>
                  <a:srgbClr val="1F6E43"/>
                </a:solidFill>
              </a:rPr>
              <a:t>loop</a:t>
            </a:r>
            <a:r>
              <a:rPr sz="1200" b="1">
                <a:solidFill>
                  <a:srgbClr val="1F6E43"/>
                </a:solidFill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900000"/>
            <a:ext cx="4023360" cy="1830000"/>
          </a:xfrm>
          <a:prstGeom prst="roundRect">
            <a:avLst>
              <a:gd name="adj" fmla="val 6000"/>
            </a:avLst>
          </a:prstGeom>
          <a:solidFill>
            <a:srgbClr val="F4F6F4"/>
          </a:solidFill>
          <a:ln w="9525">
            <a:solidFill>
              <a:srgbClr val="D5D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2954864"/>
            <a:ext cx="380390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6E43"/>
                </a:solidFill>
              </a:rPr>
              <a:t>Working example: f</a:t>
            </a:r>
            <a:r>
              <a:rPr sz="1150" b="1" baseline="-25000">
                <a:solidFill>
                  <a:srgbClr val="1F6E43"/>
                </a:solidFill>
              </a:rPr>
              <a:t>PWM</a:t>
            </a:r>
            <a:r>
              <a:rPr sz="1150" b="1">
                <a:solidFill>
                  <a:srgbClr val="1F6E43"/>
                </a:solidFill>
              </a:rPr>
              <a:t> = 17 kHz, N = 10 000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000000"/>
                </a:solidFill>
              </a:rPr>
              <a:t>17 kHz means one cycle of 1 / 17 kHz = 59 µs. With N = 10 000, one step lasts 59 µs / 10 000 = 5.9 ns: exactly one clock, so PSC = 0 and ARR = N − 1 = 9999.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000000"/>
                </a:solidFill>
              </a:rPr>
              <a:t>TIM2’s counter CNT counts 0 to 9999, one count per 5.9 ns, and wraps. The code writes TIM2-&gt;CCR1 = 5000 once.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000000"/>
                </a:solidFill>
              </a:rPr>
              <a:t>On every count the timer compares CNT with CCR: the pin is on for counts 0 to 4999 (29.5 µs) and off for the rest. No code runs, the CPU is free.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2900000"/>
            <a:ext cx="4023360" cy="1830000"/>
          </a:xfrm>
          <a:prstGeom prst="roundRect">
            <a:avLst>
              <a:gd name="adj" fmla="val 6000"/>
            </a:avLst>
          </a:prstGeom>
          <a:solidFill>
            <a:srgbClr val="FBF1F1"/>
          </a:solidFill>
          <a:ln w="9525">
            <a:solidFill>
              <a:srgbClr val="E6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73168" y="2954864"/>
            <a:ext cx="380390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B02A2A"/>
                </a:solidFill>
              </a:rPr>
              <a:t>Not working example: f</a:t>
            </a:r>
            <a:r>
              <a:rPr sz="1150" b="1" baseline="-25000">
                <a:solidFill>
                  <a:srgbClr val="B02A2A"/>
                </a:solidFill>
              </a:rPr>
              <a:t>PWM</a:t>
            </a:r>
            <a:r>
              <a:rPr sz="1150" b="1">
                <a:solidFill>
                  <a:srgbClr val="B02A2A"/>
                </a:solidFill>
              </a:rPr>
              <a:t> = 100 kHz, N = 10 000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000000"/>
                </a:solidFill>
              </a:rPr>
              <a:t>100 kHz means one cycle of 10 µs. With the same N = 10 000, one step would last 10 µs / 10 000 = 1 ns.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000000"/>
                </a:solidFill>
              </a:rPr>
              <a:t>The shortest step is one clock, 5.9 ns. 1 ns would need PSC + 1 = 0.17, which is impossible.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000000"/>
                </a:solidFill>
              </a:rPr>
              <a:t>The check: 100 kHz · 10 000 = 1 GHz, more than f</a:t>
            </a:r>
            <a:r>
              <a:rPr sz="1000" b="0" baseline="-25000">
                <a:solidFill>
                  <a:srgbClr val="000000"/>
                </a:solidFill>
              </a:rPr>
              <a:t>clk</a:t>
            </a:r>
            <a:r>
              <a:rPr sz="1000" b="0">
                <a:solidFill>
                  <a:srgbClr val="000000"/>
                </a:solidFill>
              </a:rPr>
              <a:t> = 170 MHz.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000000"/>
                </a:solidFill>
              </a:rPr>
              <a:t>With PSC = 0 and ARR = 9999 the timer gives only 17 kHz. For 100 kHz, N must drop to 1700 (ARR = 1699).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2"/>
                </a:solidFill>
              </a:rPr>
              <a:t>TUTORIAL 5  ·  30.11.2026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Inside the I2C bus</a:t>
            </a: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27432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</a:rPr>
              <a:t>I2C bus scan: detect the five IO-board chips; set_rgb rewritten on raw HAL_I2C_Mem_Write; servo sweep. Short part: creating a .ioc in STM32CubeMX, and starting Assignment 2 from 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From a .ioc to a running project</a:t>
            </a:r>
            <a:endParaRPr lang="en-US" sz="2600" dirty="0"/>
          </a:p>
        </p:txBody>
      </p:sp>
      <p:sp>
        <p:nvSpPr>
          <p:cNvPr id="3" name="ioc flow card 1"/>
          <p:cNvSpPr/>
          <p:nvPr/>
        </p:nvSpPr>
        <p:spPr>
          <a:xfrm>
            <a:off x="457200" y="1097280"/>
            <a:ext cx="2560320" cy="2286000"/>
          </a:xfrm>
          <a:prstGeom prst="roundRect">
            <a:avLst>
              <a:gd name="adj" fmla="val 4545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ioc flow card 1 title"/>
          <p:cNvSpPr txBox="1"/>
          <p:nvPr/>
        </p:nvSpPr>
        <p:spPr>
          <a:xfrm>
            <a:off x="640080" y="1188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E43"/>
                </a:solidFill>
              </a:rPr>
              <a:t>1. Configure</a:t>
            </a:r>
            <a:endParaRPr lang="en-US" sz="1800" dirty="0"/>
          </a:p>
        </p:txBody>
      </p:sp>
      <p:sp>
        <p:nvSpPr>
          <p:cNvPr id="5" name="ioc flow card 1 steps"/>
          <p:cNvSpPr txBox="1"/>
          <p:nvPr/>
        </p:nvSpPr>
        <p:spPr>
          <a:xfrm>
            <a:off x="640080" y="16459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Font typeface="Arial"/>
              <a:buChar char="•"/>
            </a:pPr>
            <a:r>
              <a:rPr lang="en-US" sz="1300" dirty="0">
                <a:solidFill>
                  <a:srgbClr val="1C1C1C"/>
                </a:solidFill>
              </a:rPr>
              <a:t>STM32CubeMX, file </a:t>
            </a:r>
            <a:r>
              <a:rPr lang="en-US" sz="1300" dirty="0">
                <a:solidFill>
                  <a:srgbClr val="1C1C1C"/>
                </a:solidFill>
                <a:latin typeface="Courier New"/>
                <a:cs typeface="Courier New"/>
              </a:rPr>
              <a:t>ass1.ioc</a:t>
            </a:r>
            <a:endParaRPr lang="en-US" sz="1300" dirty="0"/>
          </a:p>
          <a:p>
            <a:pPr marL="228600" indent="-228600">
              <a:spcAft>
                <a:spcPts val="500"/>
              </a:spcAft>
              <a:buSzPct val="100000"/>
              <a:buFont typeface="Arial"/>
              <a:buChar char="•"/>
            </a:pPr>
            <a:r>
              <a:rPr lang="en-US" sz="1300" dirty="0">
                <a:solidFill>
                  <a:srgbClr val="1C1C1C"/>
                </a:solidFill>
              </a:rPr>
              <a:t>The whole hardware setup: pins, peripherals, clock, interrupts</a:t>
            </a:r>
            <a:endParaRPr lang="en-US" sz="1300" dirty="0"/>
          </a:p>
        </p:txBody>
      </p:sp>
      <p:sp>
        <p:nvSpPr>
          <p:cNvPr id="6" name="ioc flow card 2"/>
          <p:cNvSpPr/>
          <p:nvPr/>
        </p:nvSpPr>
        <p:spPr>
          <a:xfrm>
            <a:off x="3291840" y="1097280"/>
            <a:ext cx="2560320" cy="2286000"/>
          </a:xfrm>
          <a:prstGeom prst="roundRect">
            <a:avLst>
              <a:gd name="adj" fmla="val 4545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ioc flow card 2 title"/>
          <p:cNvSpPr txBox="1"/>
          <p:nvPr/>
        </p:nvSpPr>
        <p:spPr>
          <a:xfrm>
            <a:off x="3474720" y="1188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E43"/>
                </a:solidFill>
              </a:rPr>
              <a:t>2. Generate</a:t>
            </a:r>
            <a:endParaRPr lang="en-US" sz="1800" dirty="0"/>
          </a:p>
        </p:txBody>
      </p:sp>
      <p:sp>
        <p:nvSpPr>
          <p:cNvPr id="8" name="ioc flow card 2 steps"/>
          <p:cNvSpPr txBox="1"/>
          <p:nvPr/>
        </p:nvSpPr>
        <p:spPr>
          <a:xfrm>
            <a:off x="3474720" y="16459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Font typeface="Arial"/>
              <a:buChar char="•"/>
            </a:pPr>
            <a:r>
              <a:rPr lang="en-US" sz="1300" dirty="0">
                <a:solidFill>
                  <a:srgbClr val="1C1C1C"/>
                </a:solidFill>
              </a:rPr>
              <a:t>GENERATE CODE writes </a:t>
            </a:r>
            <a:r>
              <a:rPr lang="en-US" sz="1300" dirty="0">
                <a:solidFill>
                  <a:srgbClr val="1C1C1C"/>
                </a:solidFill>
                <a:latin typeface="Courier New"/>
                <a:cs typeface="Courier New"/>
              </a:rPr>
              <a:t>main.c</a:t>
            </a:r>
            <a:r>
              <a:rPr lang="en-US" sz="1300" dirty="0">
                <a:solidFill>
                  <a:srgbClr val="1C1C1C"/>
                </a:solidFill>
              </a:rPr>
              <a:t> with </a:t>
            </a:r>
            <a:r>
              <a:rPr lang="en-US" sz="1300" dirty="0">
                <a:solidFill>
                  <a:srgbClr val="1C1C1C"/>
                </a:solidFill>
                <a:latin typeface="Courier New"/>
                <a:cs typeface="Courier New"/>
              </a:rPr>
              <a:t>MX_GPIO_Init()</a:t>
            </a:r>
            <a:r>
              <a:rPr lang="en-US" sz="1300" dirty="0">
                <a:solidFill>
                  <a:srgbClr val="1C1C1C"/>
                </a:solidFill>
              </a:rPr>
              <a:t>, </a:t>
            </a:r>
            <a:r>
              <a:rPr lang="en-US" sz="1300" dirty="0">
                <a:solidFill>
                  <a:srgbClr val="1C1C1C"/>
                </a:solidFill>
                <a:latin typeface="Courier New"/>
                <a:cs typeface="Courier New"/>
              </a:rPr>
              <a:t>MX_I2C1_Init()</a:t>
            </a:r>
            <a:r>
              <a:rPr lang="en-US" sz="1300" dirty="0">
                <a:solidFill>
                  <a:srgbClr val="1C1C1C"/>
                </a:solidFill>
              </a:rPr>
              <a:t>, ...</a:t>
            </a:r>
            <a:endParaRPr lang="en-US" sz="1300" dirty="0"/>
          </a:p>
          <a:p>
            <a:pPr marL="228600" indent="-228600">
              <a:spcAft>
                <a:spcPts val="500"/>
              </a:spcAft>
              <a:buSzPct val="100000"/>
              <a:buFont typeface="Arial"/>
              <a:buChar char="•"/>
            </a:pPr>
            <a:r>
              <a:rPr lang="en-US" sz="1300" dirty="0">
                <a:solidFill>
                  <a:srgbClr val="1C1C1C"/>
                </a:solidFill>
              </a:rPr>
              <a:t>and copies the HAL drivers</a:t>
            </a:r>
            <a:endParaRPr lang="en-US" sz="1300" dirty="0"/>
          </a:p>
        </p:txBody>
      </p:sp>
      <p:sp>
        <p:nvSpPr>
          <p:cNvPr id="9" name="ioc flow card 3"/>
          <p:cNvSpPr/>
          <p:nvPr/>
        </p:nvSpPr>
        <p:spPr>
          <a:xfrm>
            <a:off x="6126480" y="1097280"/>
            <a:ext cx="2560320" cy="2286000"/>
          </a:xfrm>
          <a:prstGeom prst="roundRect">
            <a:avLst>
              <a:gd name="adj" fmla="val 4545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ioc flow card 3 title"/>
          <p:cNvSpPr txBox="1"/>
          <p:nvPr/>
        </p:nvSpPr>
        <p:spPr>
          <a:xfrm>
            <a:off x="6309360" y="1188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E43"/>
                </a:solidFill>
              </a:rPr>
              <a:t>3. Import and code</a:t>
            </a:r>
            <a:endParaRPr lang="en-US" sz="1800" dirty="0"/>
          </a:p>
        </p:txBody>
      </p:sp>
      <p:sp>
        <p:nvSpPr>
          <p:cNvPr id="11" name="ioc flow card 3 steps"/>
          <p:cNvSpPr txBox="1"/>
          <p:nvPr/>
        </p:nvSpPr>
        <p:spPr>
          <a:xfrm>
            <a:off x="6309360" y="16459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Font typeface="Arial"/>
              <a:buChar char="•"/>
            </a:pPr>
            <a:r>
              <a:rPr lang="en-US" sz="1300" dirty="0">
                <a:solidFill>
                  <a:srgbClr val="1C1C1C"/>
                </a:solidFill>
              </a:rPr>
              <a:t>STM32CubeIDE: File &gt; Import, then the wizard STM32CubeMX/ STM32CubeIDE Project</a:t>
            </a:r>
            <a:endParaRPr lang="en-US" sz="1300" dirty="0"/>
          </a:p>
          <a:p>
            <a:pPr marL="228600" indent="-228600">
              <a:spcAft>
                <a:spcPts val="500"/>
              </a:spcAft>
              <a:buSzPct val="100000"/>
              <a:buFont typeface="Arial"/>
              <a:buChar char="•"/>
            </a:pPr>
            <a:r>
              <a:rPr lang="en-US" sz="1300" dirty="0">
                <a:solidFill>
                  <a:srgbClr val="1C1C1C"/>
                </a:solidFill>
              </a:rPr>
              <a:t>Your code goes only between USER CODE BEGIN and END</a:t>
            </a:r>
            <a:endParaRPr lang="en-US" sz="1300" dirty="0"/>
          </a:p>
        </p:txBody>
      </p:sp>
      <p:sp>
        <p:nvSpPr>
          <p:cNvPr id="12" name="ioc flow note"/>
          <p:cNvSpPr txBox="1"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5C5C"/>
                </a:solidFill>
              </a:rPr>
              <a:t>The .ioc is the source. Every GENERATE CODE rewrites the generated code and keeps only what is inside the USER CODE sections.</a:t>
            </a:r>
            <a:endParaRPr lang="en-US" sz="13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Rebuilding ass1.ioc: board and pins</a:t>
            </a:r>
            <a:endParaRPr lang="en-US" sz="2600" dirty="0"/>
          </a:p>
        </p:txBody>
      </p:sp>
      <p:graphicFrame>
        <p:nvGraphicFramePr>
          <p:cNvPr id="3" name="ioc pins table"/>
          <p:cNvGraphicFramePr>
            <a:graphicFrameLocks noGrp="1"/>
          </p:cNvGraphicFramePr>
          <p:nvPr/>
        </p:nvGraphicFramePr>
        <p:xfrm>
          <a:off x="457200" y="1051560"/>
          <a:ext cx="8229600" cy="27432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EF3EF"/>
                          </a:solidFill>
                        </a:rPr>
                        <a:t>What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E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EF3EF"/>
                          </a:solidFill>
                        </a:rPr>
                        <a:t>Where in CubeMX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E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EF3EF"/>
                          </a:solidFill>
                        </a:rPr>
                        <a:t>Set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E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524"/>
                          </a:solidFill>
                        </a:rPr>
                        <a:t>Board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File &gt; New Project &gt; Board Selector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NUCLEO-G474RE; answer Yes to initialise all peripherals with their default mode (gives LD2, B1, LPUART1 and the debug pins)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524"/>
                          </a:solidFill>
                        </a:rPr>
                        <a:t>IR sensor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Pinout view: click PA7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GPIO_Input; right-click &gt; Enter User Label: IR_SENSOR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524"/>
                          </a:solidFill>
                        </a:rPr>
                        <a:t>I2C1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Connectivity &gt; I2C1 &gt; Mode: I2C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Check the pins: PB8 = SCL, PB9 = SDA. Ctrl+click a pin to see where else it can go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524"/>
                          </a:solidFill>
                        </a:rPr>
                        <a:t>Debug pins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PA13, PA14, PB3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Never reassign them: they connect the ST-LINK debugger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ioc pins note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5C5C"/>
                </a:solidFill>
              </a:rPr>
              <a:t>A user label becomes a name in main.h: </a:t>
            </a:r>
            <a:r>
              <a:rPr lang="en-US" sz="1300" i="1" dirty="0">
                <a:solidFill>
                  <a:srgbClr val="5C5C5C"/>
                </a:solidFill>
                <a:latin typeface="Courier New"/>
                <a:cs typeface="Courier New"/>
              </a:rPr>
              <a:t>IR_SENSOR_Pin</a:t>
            </a:r>
            <a:r>
              <a:rPr lang="en-US" sz="1300" i="1" dirty="0">
                <a:solidFill>
                  <a:srgbClr val="5C5C5C"/>
                </a:solidFill>
              </a:rPr>
              <a:t>, </a:t>
            </a:r>
            <a:r>
              <a:rPr lang="en-US" sz="1300" i="1" dirty="0">
                <a:solidFill>
                  <a:srgbClr val="5C5C5C"/>
                </a:solidFill>
                <a:latin typeface="Courier New"/>
                <a:cs typeface="Courier New"/>
              </a:rPr>
              <a:t>IR_SENSOR_GPIO_Port</a:t>
            </a:r>
            <a:r>
              <a:rPr lang="en-US" sz="1300" i="1" dirty="0">
                <a:solidFill>
                  <a:srgbClr val="5C5C5C"/>
                </a:solidFill>
              </a:rPr>
              <a:t>.</a:t>
            </a:r>
            <a:endParaRPr lang="en-US" sz="13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Peripherals, clock and interrupts</a:t>
            </a:r>
            <a:endParaRPr lang="en-US" sz="2600" dirty="0"/>
          </a:p>
        </p:txBody>
      </p:sp>
      <p:graphicFrame>
        <p:nvGraphicFramePr>
          <p:cNvPr id="3" name="ioc periph table"/>
          <p:cNvGraphicFramePr>
            <a:graphicFrameLocks noGrp="1"/>
          </p:cNvGraphicFramePr>
          <p:nvPr/>
        </p:nvGraphicFramePr>
        <p:xfrm>
          <a:off x="457200" y="1051560"/>
          <a:ext cx="8229600" cy="27432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EF3EF"/>
                          </a:solidFill>
                        </a:rPr>
                        <a:t>What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E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EF3EF"/>
                          </a:solidFill>
                        </a:rPr>
                        <a:t>Where in CubeMX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E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EF3EF"/>
                          </a:solidFill>
                        </a:rPr>
                        <a:t>Set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E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524"/>
                          </a:solidFill>
                        </a:rPr>
                        <a:t>I2C1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Connectivity &gt; I2C1 &gt; Parameter Settings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Standard mode, 100 kHz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524"/>
                          </a:solidFill>
                        </a:rPr>
                        <a:t>LPUART1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Connectivity &gt; LPUART1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Asynchronous, 115200 baud, 8 bits, no parity, 1 stop bit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524"/>
                          </a:solidFill>
                        </a:rPr>
                        <a:t>Clock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Clock Configuration tab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HCLK = 170 MHz (PLL from HSI)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524"/>
                          </a:solidFill>
                        </a:rPr>
                        <a:t>B1 interrupt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System Core &gt; NVIC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EXTI line[15:10] interrupts: Enabled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3524"/>
                          </a:solidFill>
                        </a:rPr>
                        <a:t>Project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Project Manager tab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</a:rPr>
                        <a:t>Name ass1, Toolchain / IDE: STM32CubeIDE. Then GENERATE CODE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ioc periph note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5C5C"/>
                </a:solidFill>
              </a:rPr>
              <a:t>Check: main.c calls </a:t>
            </a:r>
            <a:r>
              <a:rPr lang="en-US" sz="1300" i="1" dirty="0">
                <a:solidFill>
                  <a:srgbClr val="5C5C5C"/>
                </a:solidFill>
                <a:latin typeface="Courier New"/>
                <a:cs typeface="Courier New"/>
              </a:rPr>
              <a:t>MX_GPIO_Init()</a:t>
            </a:r>
            <a:r>
              <a:rPr lang="en-US" sz="1300" i="1" dirty="0">
                <a:solidFill>
                  <a:srgbClr val="5C5C5C"/>
                </a:solidFill>
              </a:rPr>
              <a:t>, </a:t>
            </a:r>
            <a:r>
              <a:rPr lang="en-US" sz="1300" i="1" dirty="0">
                <a:solidFill>
                  <a:srgbClr val="5C5C5C"/>
                </a:solidFill>
                <a:latin typeface="Courier New"/>
                <a:cs typeface="Courier New"/>
              </a:rPr>
              <a:t>MX_LPUART1_UART_Init()</a:t>
            </a:r>
            <a:r>
              <a:rPr lang="en-US" sz="1300" i="1" dirty="0">
                <a:solidFill>
                  <a:srgbClr val="5C5C5C"/>
                </a:solidFill>
              </a:rPr>
              <a:t> and </a:t>
            </a:r>
            <a:r>
              <a:rPr lang="en-US" sz="1300" i="1" dirty="0">
                <a:solidFill>
                  <a:srgbClr val="5C5C5C"/>
                </a:solidFill>
                <a:latin typeface="Courier New"/>
                <a:cs typeface="Courier New"/>
              </a:rPr>
              <a:t>MX_I2C1_Init()</a:t>
            </a:r>
            <a:r>
              <a:rPr lang="en-US" sz="1300" i="1" dirty="0">
                <a:solidFill>
                  <a:srgbClr val="5C5C5C"/>
                </a:solidFill>
              </a:rPr>
              <a:t>, the same as the provided ass1.ioc.</a:t>
            </a:r>
            <a:endParaRPr lang="en-US" sz="13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Assignment 2: start from ass1.ioc</a:t>
            </a:r>
            <a:endParaRPr lang="en-US" sz="2600" dirty="0"/>
          </a:p>
        </p:txBody>
      </p:sp>
      <p:sp>
        <p:nvSpPr>
          <p:cNvPr id="3" name="ass2 card 1"/>
          <p:cNvSpPr/>
          <p:nvPr/>
        </p:nvSpPr>
        <p:spPr>
          <a:xfrm>
            <a:off x="457200" y="1097280"/>
            <a:ext cx="3977640" cy="2103120"/>
          </a:xfrm>
          <a:prstGeom prst="roundRect">
            <a:avLst>
              <a:gd name="adj" fmla="val 4545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ass2 card 1 title"/>
          <p:cNvSpPr txBox="1"/>
          <p:nvPr/>
        </p:nvSpPr>
        <p:spPr>
          <a:xfrm>
            <a:off x="640080" y="11887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E43"/>
                </a:solidFill>
              </a:rPr>
              <a:t>Duplicate</a:t>
            </a:r>
            <a:endParaRPr lang="en-US" sz="1800" dirty="0"/>
          </a:p>
        </p:txBody>
      </p:sp>
      <p:sp>
        <p:nvSpPr>
          <p:cNvPr id="5" name="ass2 card 1 steps"/>
          <p:cNvSpPr txBox="1"/>
          <p:nvPr/>
        </p:nvSpPr>
        <p:spPr>
          <a:xfrm>
            <a:off x="640080" y="164592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C1C1C"/>
                </a:solidFill>
              </a:rPr>
              <a:t>Open ass1.ioc in STM32CubeMX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C1C1C"/>
                </a:solidFill>
              </a:rPr>
              <a:t>File &gt; Save Project As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C1C1C"/>
                </a:solidFill>
              </a:rPr>
              <a:t>Choose a new folder named ass2: you get ass2.ioc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C1C1C"/>
                </a:solidFill>
              </a:rPr>
              <a:t>ass1.ioc stays unchanged</a:t>
            </a:r>
            <a:endParaRPr lang="en-US" sz="1300" dirty="0"/>
          </a:p>
        </p:txBody>
      </p:sp>
      <p:sp>
        <p:nvSpPr>
          <p:cNvPr id="6" name="ass2 card 2"/>
          <p:cNvSpPr/>
          <p:nvPr/>
        </p:nvSpPr>
        <p:spPr>
          <a:xfrm>
            <a:off x="4709160" y="1097280"/>
            <a:ext cx="3977640" cy="2103120"/>
          </a:xfrm>
          <a:prstGeom prst="roundRect">
            <a:avLst>
              <a:gd name="adj" fmla="val 4545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ass2 card 2 title"/>
          <p:cNvSpPr txBox="1"/>
          <p:nvPr/>
        </p:nvSpPr>
        <p:spPr>
          <a:xfrm>
            <a:off x="4892040" y="11887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E43"/>
                </a:solidFill>
              </a:rPr>
              <a:t>Add only what is new</a:t>
            </a:r>
            <a:endParaRPr lang="en-US" sz="1800" dirty="0"/>
          </a:p>
        </p:txBody>
      </p:sp>
      <p:sp>
        <p:nvSpPr>
          <p:cNvPr id="8" name="ass2 card 2 steps"/>
          <p:cNvSpPr txBox="1"/>
          <p:nvPr/>
        </p:nvSpPr>
        <p:spPr>
          <a:xfrm>
            <a:off x="4892040" y="164592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C1C1C"/>
                </a:solidFill>
              </a:rPr>
              <a:t>Motors: TIM2 PWM CH1 to CH4, four DIR pins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C1C1C"/>
                </a:solidFill>
              </a:rPr>
              <a:t>Encoders: TIM1, TIM8, TIM3, TIM4 in encoder mode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C1C1C"/>
                </a:solidFill>
              </a:rPr>
              <a:t>Ultrasonic: TIM5 (TRIG by PWM, ECHO by input capture)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C1C1C"/>
                </a:solidFill>
              </a:rPr>
              <a:t>GENERATE CODE, then import the ass2 folder</a:t>
            </a:r>
            <a:endParaRPr lang="en-US" sz="1300" dirty="0"/>
          </a:p>
        </p:txBody>
      </p:sp>
      <p:sp>
        <p:nvSpPr>
          <p:cNvPr id="9" name="ass2 note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5C5C"/>
                </a:solidFill>
              </a:rPr>
              <a:t>Leave the Assignment 1 settings as they are. The full list is in the Assignment 2 configuration section of the assignment sheet.</a:t>
            </a:r>
            <a:endParaRPr lang="en-US" sz="13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2"/>
                </a:solidFill>
              </a:rPr>
              <a:t>TUTORIAL 6  ·  7.12.2026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Blocking vs. non-blocking</a:t>
            </a: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27432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</a:rPr>
              <a:t>Registers on another chip vs. in RAM; one ultrasonic distance measurement; an EXTI interrupt with a counter.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Why some outputs are fast and others slow</a:t>
            </a:r>
            <a:endParaRPr lang="en-US" sz="2600" dirty="0"/>
          </a:p>
        </p:txBody>
      </p:sp>
      <p:sp>
        <p:nvSpPr>
          <p:cNvPr id="3" name="speed card 1"/>
          <p:cNvSpPr/>
          <p:nvPr/>
        </p:nvSpPr>
        <p:spPr>
          <a:xfrm>
            <a:off x="457200" y="1097280"/>
            <a:ext cx="3977640" cy="2606040"/>
          </a:xfrm>
          <a:prstGeom prst="roundRect">
            <a:avLst>
              <a:gd name="adj" fmla="val 350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peed card 1 head"/>
          <p:cNvSpPr txBox="1"/>
          <p:nvPr/>
        </p:nvSpPr>
        <p:spPr>
          <a:xfrm>
            <a:off x="685800" y="12344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24"/>
                </a:solidFill>
              </a:rPr>
              <a:t>Wheel PWM: TIM2-&gt;CCR1 = value;</a:t>
            </a:r>
            <a:endParaRPr lang="en-US" sz="1600" dirty="0"/>
          </a:p>
        </p:txBody>
      </p:sp>
      <p:sp>
        <p:nvSpPr>
          <p:cNvPr id="5" name="speed card 1 stat"/>
          <p:cNvSpPr txBox="1"/>
          <p:nvPr/>
        </p:nvSpPr>
        <p:spPr>
          <a:xfrm>
            <a:off x="685800" y="16916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6E43"/>
                </a:solidFill>
              </a:rPr>
              <a:t>~20</a:t>
            </a:r>
            <a:r>
              <a:rPr lang="en-US" sz="1800" dirty="0">
                <a:solidFill>
                  <a:srgbClr val="1F6E43"/>
                </a:solidFill>
              </a:rPr>
              <a:t>  ns</a:t>
            </a:r>
            <a:endParaRPr lang="en-US" sz="4400" dirty="0"/>
          </a:p>
        </p:txBody>
      </p:sp>
      <p:sp>
        <p:nvSpPr>
          <p:cNvPr id="6" name="speed card 1 body"/>
          <p:cNvSpPr txBox="1"/>
          <p:nvPr/>
        </p:nvSpPr>
        <p:spPr>
          <a:xfrm>
            <a:off x="685800" y="256032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</a:rPr>
              <a:t>The register is inside the STM32. It has a memory address, so one store instruction over the internal bus writes it: a few clock cycles at 170 MHz (1 cycle = 5.9 ns). TIM2 then makes the PWM by itself.</a:t>
            </a:r>
            <a:endParaRPr lang="en-US" sz="1300" dirty="0"/>
          </a:p>
        </p:txBody>
      </p:sp>
      <p:sp>
        <p:nvSpPr>
          <p:cNvPr id="7" name="speed card 2"/>
          <p:cNvSpPr/>
          <p:nvPr/>
        </p:nvSpPr>
        <p:spPr>
          <a:xfrm>
            <a:off x="4709160" y="1097280"/>
            <a:ext cx="3977640" cy="2606040"/>
          </a:xfrm>
          <a:prstGeom prst="roundRect">
            <a:avLst>
              <a:gd name="adj" fmla="val 350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peed card 2 head"/>
          <p:cNvSpPr txBox="1"/>
          <p:nvPr/>
        </p:nvSpPr>
        <p:spPr>
          <a:xfrm>
            <a:off x="4937760" y="12344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24"/>
                </a:solidFill>
              </a:rPr>
              <a:t>LED brightness: HAL_I2C_Mem_Write</a:t>
            </a:r>
            <a:endParaRPr lang="en-US" sz="1600" dirty="0"/>
          </a:p>
        </p:txBody>
      </p:sp>
      <p:sp>
        <p:nvSpPr>
          <p:cNvPr id="9" name="speed card 2 stat"/>
          <p:cNvSpPr txBox="1"/>
          <p:nvPr/>
        </p:nvSpPr>
        <p:spPr>
          <a:xfrm>
            <a:off x="4937760" y="16916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B23A48"/>
                </a:solidFill>
              </a:rPr>
              <a:t>~0.3</a:t>
            </a:r>
            <a:r>
              <a:rPr lang="en-US" sz="1800" dirty="0">
                <a:solidFill>
                  <a:srgbClr val="B23A48"/>
                </a:solidFill>
              </a:rPr>
              <a:t>  ms</a:t>
            </a:r>
            <a:endParaRPr lang="en-US" sz="4400" dirty="0"/>
          </a:p>
        </p:txBody>
      </p:sp>
      <p:sp>
        <p:nvSpPr>
          <p:cNvPr id="10" name="speed card 2 body"/>
          <p:cNvSpPr txBox="1"/>
          <p:nvPr/>
        </p:nvSpPr>
        <p:spPr>
          <a:xfrm>
            <a:off x="4937760" y="256032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</a:rPr>
              <a:t>The register is inside the PCA9634, another chip. The only way in is the I2C bus at 100 kHz: 10 µs per bit. Address + register + data, each with an ACK, is about 29 bits. The CPU waits all that time.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9215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Blocking: updating all 24 LED registers at once</a:t>
            </a:r>
            <a:endParaRPr lang="en-US" sz="2600" dirty="0"/>
          </a:p>
        </p:txBody>
      </p:sp>
      <p:sp>
        <p:nvSpPr>
          <p:cNvPr id="3" name="blocking box"/>
          <p:cNvSpPr/>
          <p:nvPr/>
        </p:nvSpPr>
        <p:spPr>
          <a:xfrm>
            <a:off x="457200" y="1097280"/>
            <a:ext cx="4114800" cy="1508760"/>
          </a:xfrm>
          <a:prstGeom prst="roundRect">
            <a:avLst>
              <a:gd name="adj" fmla="val 4848"/>
            </a:avLst>
          </a:prstGeom>
          <a:solidFill>
            <a:srgbClr val="F4F6F4"/>
          </a:solidFill>
          <a:ln w="9525">
            <a:solidFill>
              <a:srgbClr val="D5DDD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blocking code"/>
          <p:cNvSpPr txBox="1"/>
          <p:nvPr/>
        </p:nvSpPr>
        <p:spPr>
          <a:xfrm>
            <a:off x="594360" y="118872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(ch = 0; ch &lt; 8; ch++)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setLedChannel(RED,   ch, r);  // 0.3 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setLedChannel(GREEN, ch, g);  // 0.3 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setLedChannel(BLUE,  ch, b);  // 0.3 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about 7 to 9 ms with the loop stuck here</a:t>
            </a:r>
            <a:endParaRPr lang="en-US" sz="1100" dirty="0"/>
          </a:p>
        </p:txBody>
      </p:sp>
      <p:sp>
        <p:nvSpPr>
          <p:cNvPr id="5" name="blocking bullets"/>
          <p:cNvSpPr txBox="1"/>
          <p:nvPr/>
        </p:nvSpPr>
        <p:spPr>
          <a:xfrm>
            <a:off x="4846320" y="109728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00000"/>
                </a:solidFill>
              </a:rPr>
              <a:t>While stuck, the main loop cannot: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see a new command or state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poll the IR obstacle sensor (an emergency stop!)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run the state's work or print status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6E43"/>
                </a:solidFill>
              </a:rPr>
              <a:t>Interrupts still run: TIM2 keeps the PWM going and TIM5 still captures the ultrasonic echo.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3012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Non-blocking: one register per loop pass</a:t>
            </a:r>
            <a:endParaRPr lang="en-US" sz="2600" dirty="0"/>
          </a:p>
        </p:txBody>
      </p:sp>
      <p:sp>
        <p:nvSpPr>
          <p:cNvPr id="3" name="service box"/>
          <p:cNvSpPr/>
          <p:nvPr/>
        </p:nvSpPr>
        <p:spPr>
          <a:xfrm>
            <a:off x="457200" y="1097280"/>
            <a:ext cx="4572000" cy="1828800"/>
          </a:xfrm>
          <a:prstGeom prst="roundRect">
            <a:avLst>
              <a:gd name="adj" fmla="val 4000"/>
            </a:avLst>
          </a:prstGeom>
          <a:solidFill>
            <a:srgbClr val="F4F6F4"/>
          </a:solidFill>
          <a:ln w="9525">
            <a:solidFill>
              <a:srgbClr val="D5DDD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ervice code"/>
          <p:cNvSpPr txBox="1"/>
          <p:nvPr/>
        </p:nvSpPr>
        <p:spPr>
          <a:xfrm>
            <a:off x="594360" y="1188720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serviceRgbOutputs(void)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F6E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(micros() - lastUs &lt; 1200) return;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lastUs = micros();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6E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write ONE of the 24 registers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setLedChannel(chip, channel, target);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 = (index + 1) % 24;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5" name="service bullets"/>
          <p:cNvSpPr txBox="1"/>
          <p:nvPr/>
        </p:nvSpPr>
        <p:spPr>
          <a:xfrm>
            <a:off x="5303520" y="1097280"/>
            <a:ext cx="3383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The logic writes the wanted colours into RAM arrays (rgbTarget...): instant.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serviceRgbOutputs copies them to the chips, at most one register per call.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Each loop pass pays at most 0.3 ms; a full refresh takes 24 x 1.2 ms = 29 ms, too fast for the eye.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6E43"/>
                </a:solidFill>
              </a:rPr>
              <a:t>What makes it non-blocking is the work per call, not where the call is placed.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9841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Three layers: decide, store, transport</a:t>
            </a:r>
            <a:endParaRPr lang="en-US" sz="2600" dirty="0"/>
          </a:p>
        </p:txBody>
      </p:sp>
      <p:graphicFrame>
        <p:nvGraphicFramePr>
          <p:cNvPr id="17" name="layers table"/>
          <p:cNvGraphicFramePr>
            <a:graphicFrameLocks noGrp="1"/>
          </p:cNvGraphicFramePr>
          <p:nvPr/>
        </p:nvGraphicFramePr>
        <p:xfrm>
          <a:off x="457200" y="1097280"/>
          <a:ext cx="8229600" cy="2267712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EF3EF"/>
                          </a:solidFill>
                        </a:rPr>
                        <a:t>Layer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E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EF3EF"/>
                          </a:solidFill>
                        </a:rPr>
                        <a:t>Wheels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E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EF3EF"/>
                          </a:solidFill>
                        </a:rPr>
                        <a:t>RGB LEDs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E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3524"/>
                          </a:solidFill>
                        </a:rPr>
                        <a:t>Logic: what should the output be now?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</a:rPr>
                        <a:t>runStateTick calls setWheelPwm(wheel, pwm)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</a:rPr>
                        <a:t>runStateTick calls updateLedBlink / updateLedFade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3524"/>
                          </a:solidFill>
                        </a:rPr>
                        <a:t>Stored value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</a:rPr>
                        <a:t>TIM2 CCR register (on chip)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</a:rPr>
                        <a:t>rgbTarget arrays (RAM)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3524"/>
                          </a:solidFill>
                        </a:rPr>
                        <a:t>Transport: make the hardware show it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</a:rPr>
                        <a:t>TIM2 hardware, continuously, no code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</a:rPr>
                        <a:t>serviceRgbOutputs over I2C, gradually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layers note"/>
          <p:cNvSpPr txBox="1"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C5C5C"/>
                </a:solidFill>
              </a:rPr>
              <a:t>serviceRgbOutputs is the software stand-in for what TIM2 does for the wheels. It belongs to the transport layer, so it is not part of runStateTick.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6295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The super loop: inputs, logic, services</a:t>
            </a:r>
            <a:endParaRPr lang="en-US" sz="2600" dirty="0"/>
          </a:p>
        </p:txBody>
      </p:sp>
      <p:sp>
        <p:nvSpPr>
          <p:cNvPr id="3" name="superloop box"/>
          <p:cNvSpPr/>
          <p:nvPr/>
        </p:nvSpPr>
        <p:spPr>
          <a:xfrm>
            <a:off x="457200" y="1097280"/>
            <a:ext cx="4572000" cy="2194560"/>
          </a:xfrm>
          <a:prstGeom prst="roundRect">
            <a:avLst>
              <a:gd name="adj" fmla="val 3333"/>
            </a:avLst>
          </a:prstGeom>
          <a:solidFill>
            <a:srgbClr val="F4F6F4"/>
          </a:solidFill>
          <a:ln w="9525">
            <a:solidFill>
              <a:srgbClr val="D5DDD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uperloop code"/>
          <p:cNvSpPr txBox="1"/>
          <p:nvPr/>
        </p:nvSpPr>
        <p:spPr>
          <a:xfrm>
            <a:off x="594360" y="118872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F6E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updateEncoders();      /* 1. inputs  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updateIrSensor();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F6E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(state != applied)  /* 2. logic   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enterState(state);   /* once       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runStateTick(applied); /* every pass  */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F6E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serviceRgbOutputs();   /* 3. services */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printPeriodicStatus();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5" name="superloop bullets"/>
          <p:cNvSpPr txBox="1"/>
          <p:nvPr/>
        </p:nvSpPr>
        <p:spPr>
          <a:xfrm>
            <a:off x="5303520" y="1097280"/>
            <a:ext cx="3383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Keep every pass short, so polled inputs stay responsive.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runStateTick: what the current state wants.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Services: make the hardware match, in every state.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B23A48"/>
                </a:solidFill>
              </a:rPr>
              <a:t>Calling a service from inside one state's case would freeze that output in all other states.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8255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2"/>
                </a:solidFill>
              </a:rPr>
              <a:t>TUTORIAL 7  ·  14.12.2026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One wheel in the air</a:t>
            </a: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27432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</a:rPr>
              <a:t>Open-loop PWM; encoder counts to rad/s; record a run and export it to MATLAB.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2"/>
                </a:solidFill>
              </a:rPr>
              <a:t>TUTORIAL 8  ·  21.12.2026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Different encoder configurations</a:t>
            </a: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27432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</a:rPr>
              <a:t>Encoder mode TI1 vs. TI1 and TI2: counts per revolution, resolution and count direction.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2"/>
                </a:solidFill>
              </a:rPr>
              <a:t>TUTORIAL 9  ·  28.12.2026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From model to PI controller</a:t>
            </a: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27432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</a:rPr>
              <a:t>Model fit, sisotool, c2d; the difference equation in C; simulated vs. measured step response.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2"/>
                </a:solidFill>
              </a:rPr>
              <a:t>TUTORIAL 10  ·  4.1.2027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Kinematics (straight lines) and state machine</a:t>
            </a: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27432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</a:rPr>
              <a:t>Wheel speeds for driving in straight lines; a state machine (enum + switch) for a driving sequence.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2"/>
                </a:solidFill>
              </a:rPr>
              <a:t>TUTORIAL 11  ·  11.1.2027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Simulink to C</a:t>
            </a: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27432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</a:rPr>
              <a:t>Export a Simulink PI controller or filter to C and run it on the cart.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2"/>
                </a:solidFill>
              </a:rPr>
              <a:t>TUTORIAL 12  ·  18.1.2027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Project clinic</a:t>
            </a: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27432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</a:rPr>
              <a:t>Open session for Assignment 3 questions.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2"/>
                </a:solidFill>
              </a:rPr>
              <a:t>SESSION 13  ·  25.1.2027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Lab meeting</a:t>
            </a: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27432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</a:rPr>
              <a:t>Open questions.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P Tutorials">
  <a:themeElements>
    <a:clrScheme name="MP Tutorials">
      <a:dk1>
        <a:srgbClr val="1C1C1C"/>
      </a:dk1>
      <a:lt1>
        <a:srgbClr val="FFFFFF"/>
      </a:lt1>
      <a:dk2>
        <a:srgbClr val="123524"/>
      </a:dk2>
      <a:lt2>
        <a:srgbClr val="EEF3EF"/>
      </a:lt2>
      <a:accent1>
        <a:srgbClr val="1F6E43"/>
      </a:accent1>
      <a:accent2>
        <a:srgbClr val="C8772E"/>
      </a:accent2>
      <a:accent3>
        <a:srgbClr val="2E86AB"/>
      </a:accent3>
      <a:accent4>
        <a:srgbClr val="B23A48"/>
      </a:accent4>
      <a:accent5>
        <a:srgbClr val="6B8F71"/>
      </a:accent5>
      <a:accent6>
        <a:srgbClr val="5C5C5C"/>
      </a:accent6>
      <a:hlink>
        <a:srgbClr val="2E86AB"/>
      </a:hlink>
      <a:folHlink>
        <a:srgbClr val="6B8F71"/>
      </a:folHlink>
    </a:clrScheme>
    <a:fontScheme name="MP Tutorial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4338</Words>
  <Application>Microsoft Office PowerPoint</Application>
  <PresentationFormat>On-screen Show (16:9)</PresentationFormat>
  <Paragraphs>586</Paragraphs>
  <Slides>36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Consolas</vt:lpstr>
      <vt:lpstr>Courier New</vt:lpstr>
      <vt:lpstr>MP Tutorials</vt:lpstr>
      <vt:lpstr>Microprocessor-Based Product Design</vt:lpstr>
      <vt:lpstr>Your first STM32 application</vt:lpstr>
      <vt:lpstr>Your code goes between USER CODE markers</vt:lpstr>
      <vt:lpstr>main.c sections before main()</vt:lpstr>
      <vt:lpstr>main.c sections inside and after main()</vt:lpstr>
      <vt:lpstr>PFP: why declare a function before defining it?</vt:lpstr>
      <vt:lpstr>Header (.h) and source (.c): the same idea across files</vt:lpstr>
      <vt:lpstr>The same rule in the other generated files</vt:lpstr>
      <vt:lpstr>Moving a project to another PC</vt:lpstr>
      <vt:lpstr>Numbers and bits on the board</vt:lpstr>
      <vt:lpstr>RGB LEDs and buttons</vt:lpstr>
      <vt:lpstr>Timer interrupts and PWM</vt:lpstr>
      <vt:lpstr>From timer to callback: the whole chain</vt:lpstr>
      <vt:lpstr>The ISR: what runs when an interrupt fires</vt:lpstr>
      <vt:lpstr>Three ways to make a PWM</vt:lpstr>
      <vt:lpstr>Polling: what must fit in one step</vt:lpstr>
      <vt:lpstr>Interrupt: what must fit in one period</vt:lpstr>
      <vt:lpstr>Hardware: what limits the PWM</vt:lpstr>
      <vt:lpstr>Inside the I2C bus</vt:lpstr>
      <vt:lpstr>From a .ioc to a running project</vt:lpstr>
      <vt:lpstr>Rebuilding ass1.ioc: board and pins</vt:lpstr>
      <vt:lpstr>Peripherals, clock and interrupts</vt:lpstr>
      <vt:lpstr>Assignment 2: start from ass1.ioc</vt:lpstr>
      <vt:lpstr>Blocking vs. non-blocking</vt:lpstr>
      <vt:lpstr>Why some outputs are fast and others slow</vt:lpstr>
      <vt:lpstr>Blocking: updating all 24 LED registers at once</vt:lpstr>
      <vt:lpstr>Non-blocking: one register per loop pass</vt:lpstr>
      <vt:lpstr>Three layers: decide, store, transport</vt:lpstr>
      <vt:lpstr>The super loop: inputs, logic, services</vt:lpstr>
      <vt:lpstr>One wheel in the air</vt:lpstr>
      <vt:lpstr>Different encoder configurations</vt:lpstr>
      <vt:lpstr>From model to PI controller</vt:lpstr>
      <vt:lpstr>Kinematics (straight lines) and state machine</vt:lpstr>
      <vt:lpstr>Simulink to C</vt:lpstr>
      <vt:lpstr>Project clinic</vt:lpstr>
      <vt:lpstr>Lab meeting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 Tutorials 2026</dc:title>
  <dc:subject>PptxGenJS Presentation</dc:subject>
  <dc:creator>Yohai Ackerman</dc:creator>
  <cp:lastModifiedBy>Yohai Ackemran</cp:lastModifiedBy>
  <cp:revision>3</cp:revision>
  <dcterms:created xsi:type="dcterms:W3CDTF">2026-10-13T13:55:01Z</dcterms:created>
  <dcterms:modified xsi:type="dcterms:W3CDTF">2026-10-18T21:42:12Z</dcterms:modified>
</cp:coreProperties>
</file>