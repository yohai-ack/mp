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utorial 1: Your first STM32 application" id="{21852f4d-8d07-89b6-eb29-170220c8d091}">
          <p14:sldIdLst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Tutorial 2: Numbers and bits on the board" id="{81abeccf-daea-5e57-0c8a-f263c913ee52}">
          <p14:sldIdLst>
            <p14:sldId id="264"/>
          </p14:sldIdLst>
        </p14:section>
        <p14:section name="Tutorial 3: RGB LEDs and buttons" id="{6c23e798-5a8c-637a-a5ff-c04b23936a69}">
          <p14:sldIdLst>
            <p14:sldId id="265"/>
          </p14:sldIdLst>
        </p14:section>
        <p14:section name="Tutorial 4: Timer interrupts and state machines" id="{da6a7aea-7eb3-59ac-9d17-ae34229a1c57}">
          <p14:sldIdLst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Tutorial 5: Inside the I2C bus" id="{8b5bd772-d041-1bc7-1881-0e7c1e314f69}">
          <p14:sldIdLst>
            <p14:sldId id="272"/>
          </p14:sldIdLst>
        </p14:section>
        <p14:section name="Tutorial 6: PWM, input capture and EXTI" id="{849e91d2-3af2-ca64-266a-33033f532278}">
          <p14:sldIdLst>
            <p14:sldId id="273"/>
          </p14:sldIdLst>
        </p14:section>
        <p14:section name="Tutorial 7: One wheel in the air" id="{c24085cd-2cd8-eddc-9058-d02a689da798}">
          <p14:sldIdLst>
            <p14:sldId id="274"/>
          </p14:sldIdLst>
        </p14:section>
        <p14:section name="Tutorial 8: From model to PI controller" id="{065b6652-cad1-a652-bec0-04c56f9e9267}">
          <p14:sldIdLst>
            <p14:sldId id="275"/>
          </p14:sldIdLst>
        </p14:section>
        <p14:section name="Tutorial 9: UART commands and a MATLAB GUI" id="{63dcb04d-2deb-c2be-8ab0-594d7cfb6e3c}">
          <p14:sldIdLst>
            <p14:sldId id="276"/>
          </p14:sldIdLst>
        </p14:section>
        <p14:section name="Tutorial 10: Driving the cart" id="{5d1d97ab-b8a1-beaa-b805-96a8caeb2dcb}">
          <p14:sldIdLst>
            <p14:sldId id="277"/>
          </p14:sldIdLst>
        </p14:section>
        <p14:section name="Tutorial 11: Simulink to C" id="{a5c0355f-7040-414c-151b-c4f6be01b350}">
          <p14:sldIdLst>
            <p14:sldId id="278"/>
          </p14:sldIdLst>
        </p14:section>
        <p14:section name="Tutorial 12: Project clinic" id="{4a30cbd3-6d52-1f0c-ca1c-9014489b045d}">
          <p14:sldIdLst>
            <p14:sldId id="279"/>
          </p14:sldIdLst>
        </p14:section>
        <p14:section name="Session 13" id="{8e310e0f-46c6-3f0a-de7b-fe25a9c4335b}">
          <p14:sldIdLst>
            <p14:sldId id="28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235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solidFill>
          <a:srgbClr val="1F6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914400"/>
            <a:ext cx="804672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743200"/>
            <a:ext cx="804672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Microprocessor-Based Product Design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Tutorials 2026/27  ·  Yohai Ackerman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914400"/>
            <a:ext cx="804672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2"/>
                </a:solidFill>
              </a:rPr>
              <a:t>TUTORIAL 1  ·  2.11.2026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Your first STM32 application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743200"/>
            <a:ext cx="80467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CubeMX configuration, build, flash and run; blink LD2; printf to PuTTY; the debugger: breakpoints, stepping, live expressions; where your code goes (USER CODE sections).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Your code goes between USER CODE markers</a:t>
            </a:r>
            <a:endParaRPr lang="en-US" sz="2600" dirty="0"/>
          </a:p>
        </p:txBody>
      </p:sp>
      <p:sp>
        <p:nvSpPr>
          <p:cNvPr id="3" name="rule bullets"/>
          <p:cNvSpPr txBox="1"/>
          <p:nvPr/>
        </p:nvSpPr>
        <p:spPr>
          <a:xfrm>
            <a:off x="457200" y="1097280"/>
            <a:ext cx="393192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CubeMX generates main.c and the other project files from the .ioc.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Every time you change the .ioc and press Generate Code, the files are rewritten.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1F6E43"/>
                </a:solidFill>
              </a:rPr>
              <a:t>Code between USER CODE BEGIN and USER CODE END is kept.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B23A48"/>
                </a:solidFill>
              </a:rPr>
              <a:t>Code anywhere else is deleted, without a warning.</a:t>
            </a:r>
            <a:endParaRPr lang="en-US" sz="1500" dirty="0"/>
          </a:p>
        </p:txBody>
      </p:sp>
      <p:sp>
        <p:nvSpPr>
          <p:cNvPr id="4" name="rule box"/>
          <p:cNvSpPr/>
          <p:nvPr/>
        </p:nvSpPr>
        <p:spPr>
          <a:xfrm>
            <a:off x="4663440" y="1097280"/>
            <a:ext cx="4023360" cy="2514600"/>
          </a:xfrm>
          <a:prstGeom prst="roundRect">
            <a:avLst>
              <a:gd name="adj" fmla="val 2909"/>
            </a:avLst>
          </a:prstGeom>
          <a:solidFill>
            <a:srgbClr val="F4F6F4"/>
          </a:solidFill>
          <a:ln w="9525">
            <a:solidFill>
              <a:srgbClr val="D5DDD6"/>
            </a:solidFill>
            <a:prstDash val="solid"/>
          </a:ln>
        </p:spPr>
      </p:sp>
      <p:sp>
        <p:nvSpPr>
          <p:cNvPr id="5" name="rule code"/>
          <p:cNvSpPr txBox="1"/>
          <p:nvPr/>
        </p:nvSpPr>
        <p:spPr>
          <a:xfrm>
            <a:off x="4800600" y="1188720"/>
            <a:ext cx="37490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main(void)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/* USER CODE BEGIN 1 */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uint32_t counter = 0;   // kept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/* USER CODE END 1 */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HAL_Init();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B23A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counter = 5;   // DELETED on regenerate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/* USER CODE BEGIN 2 */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...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/* USER CODE END 2 */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main.c sections before main()</a:t>
            </a:r>
            <a:endParaRPr lang="en-US" sz="2600" dirty="0"/>
          </a:p>
        </p:txBody>
      </p:sp>
      <p:graphicFrame>
        <p:nvGraphicFramePr>
          <p:cNvPr id="5" name="sections 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017520"/>
                <a:gridCol w="420624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EF3EF"/>
                          </a:solidFill>
                        </a:rPr>
                        <a:t>Section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E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EF3EF"/>
                          </a:solidFill>
                        </a:rPr>
                        <a:t>Where it sits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E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EF3EF"/>
                          </a:solidFill>
                        </a:rPr>
                        <a:t>What goes there (example)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E4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Header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File comment at the very top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What the program does, author, date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Includes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#include lines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#include &lt;stdio.h&gt;, your own .h files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PTD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Private typedefs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typedef enum { IDLE, RUN } state_t;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Private defines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#define N_LEDS 8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PM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Private macros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#define SET_BIT_N(x,n) ((x) |= 1u &lt;&lt; (n))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PV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Private (global) variables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volatile uint8_t state = 0;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PFP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Private function prototypes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static void blinkLed(uint32_t ms);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Your function definitions, before main()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static void blinkLed(uint32_t ms) { ... }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ections note 1"/>
          <p:cNvSpPr txBox="1"/>
          <p:nvPr/>
        </p:nvSpPr>
        <p:spPr>
          <a:xfrm>
            <a:off x="457200" y="4160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C5C5C"/>
                </a:solidFill>
              </a:rPr>
              <a:t>In the file each section looks like /* USER CODE BEGIN PV */ ... /* USER CODE END PV */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main.c sections inside and after main()</a:t>
            </a:r>
            <a:endParaRPr lang="en-US" sz="2600" dirty="0"/>
          </a:p>
        </p:txBody>
      </p:sp>
      <p:graphicFrame>
        <p:nvGraphicFramePr>
          <p:cNvPr id="6" name="sections 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017520"/>
                <a:gridCol w="420624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EF3EF"/>
                          </a:solidFill>
                        </a:rPr>
                        <a:t>Section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E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EF3EF"/>
                          </a:solidFill>
                        </a:rPr>
                        <a:t>Where it sits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E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EF3EF"/>
                          </a:solidFill>
                        </a:rPr>
                        <a:t>What goes there (example)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E4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Start of main(), before HAL_Init()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Local variables of main()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Init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After HAL_Init(), before the clock setup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Rarely used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SysInit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After the clock setup, before peripheral init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Rarely used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After all MX_..._Init() calls, before the loop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One-time setup: start timers, print a banner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WHILE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Inside while (1), first part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The main loop: your program's work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Inside while (1), after END WHILE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Also runs every pass (CubeMX splits the loop in two)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After main()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Callbacks, e.g. HAL_TIM_PeriodElapsedCallback; more functions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ections note 2"/>
          <p:cNvSpPr txBox="1"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C5C5C"/>
                </a:solidFill>
              </a:rPr>
              <a:t>Peripheral init functions have their own sections too, e.g. TIM2_Init 0, 1 and 2.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PFP: why declare a function before defining it?</a:t>
            </a:r>
            <a:endParaRPr lang="en-US" sz="2600" dirty="0"/>
          </a:p>
        </p:txBody>
      </p:sp>
      <p:sp>
        <p:nvSpPr>
          <p:cNvPr id="3" name="pfp bullets"/>
          <p:cNvSpPr txBox="1"/>
          <p:nvPr/>
        </p:nvSpPr>
        <p:spPr>
          <a:xfrm>
            <a:off x="457200" y="1097280"/>
            <a:ext cx="393192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The compiler reads the file once, top to bottom.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A function must be declared before the first line that calls it.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A prototype in PFP announces name, inputs and output, so the full definition can come anywhere later.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Bonus: the PFP list is a table of contents of the file.</a:t>
            </a:r>
            <a:endParaRPr lang="en-US" sz="1500" dirty="0"/>
          </a:p>
        </p:txBody>
      </p:sp>
      <p:sp>
        <p:nvSpPr>
          <p:cNvPr id="4" name="pfp box"/>
          <p:cNvSpPr/>
          <p:nvPr/>
        </p:nvSpPr>
        <p:spPr>
          <a:xfrm>
            <a:off x="4663440" y="1097280"/>
            <a:ext cx="4023360" cy="2514600"/>
          </a:xfrm>
          <a:prstGeom prst="roundRect">
            <a:avLst>
              <a:gd name="adj" fmla="val 2909"/>
            </a:avLst>
          </a:prstGeom>
          <a:solidFill>
            <a:srgbClr val="F4F6F4"/>
          </a:solidFill>
          <a:ln w="9525">
            <a:solidFill>
              <a:srgbClr val="D5DDD6"/>
            </a:solidFill>
            <a:prstDash val="solid"/>
          </a:ln>
        </p:spPr>
      </p:sp>
      <p:sp>
        <p:nvSpPr>
          <p:cNvPr id="5" name="pfp code"/>
          <p:cNvSpPr txBox="1"/>
          <p:nvPr/>
        </p:nvSpPr>
        <p:spPr>
          <a:xfrm>
            <a:off x="4800600" y="1188720"/>
            <a:ext cx="37490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USER CODE BEGIN PFP */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235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void blinkLed(uint32_t ms);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USER CODE END PFP */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main(void)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...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blinkLed(500);   // OK: already declared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USER CODE BEGIN 4 */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void blinkLed(uint32_t ms) { ... }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USER CODE END 4 */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Header (.h) and source (.c): the same idea across files</a:t>
            </a:r>
            <a:endParaRPr lang="en-US" sz="2600" dirty="0"/>
          </a:p>
        </p:txBody>
      </p:sp>
      <p:sp>
        <p:nvSpPr>
          <p:cNvPr id="3" name="file card 1"/>
          <p:cNvSpPr/>
          <p:nvPr/>
        </p:nvSpPr>
        <p:spPr>
          <a:xfrm>
            <a:off x="457200" y="1097280"/>
            <a:ext cx="3977640" cy="2011680"/>
          </a:xfrm>
          <a:prstGeom prst="roundRect">
            <a:avLst>
              <a:gd name="adj" fmla="val 4545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4" name="file card 1 title"/>
          <p:cNvSpPr txBox="1"/>
          <p:nvPr/>
        </p:nvSpPr>
        <p:spPr>
          <a:xfrm>
            <a:off x="640080" y="118872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io_board.h</a:t>
            </a:r>
            <a:endParaRPr lang="en-US" sz="1600" dirty="0"/>
          </a:p>
        </p:txBody>
      </p:sp>
      <p:sp>
        <p:nvSpPr>
          <p:cNvPr id="5" name="file card 1 sub"/>
          <p:cNvSpPr txBox="1"/>
          <p:nvPr/>
        </p:nvSpPr>
        <p:spPr>
          <a:xfrm>
            <a:off x="64008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5C5C"/>
                </a:solidFill>
              </a:rPr>
              <a:t>Declarations: what exists, how to call it</a:t>
            </a:r>
            <a:endParaRPr lang="en-US" sz="1300" dirty="0"/>
          </a:p>
        </p:txBody>
      </p:sp>
      <p:sp>
        <p:nvSpPr>
          <p:cNvPr id="6" name="file card 1 code"/>
          <p:cNvSpPr txBox="1"/>
          <p:nvPr/>
        </p:nvSpPr>
        <p:spPr>
          <a:xfrm>
            <a:off x="640080" y="1920240"/>
            <a:ext cx="3611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235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uint8_t readButtonsRaw(void);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235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   allRgbOff(void);</a:t>
            </a:r>
            <a:endParaRPr lang="en-US" sz="1100" dirty="0"/>
          </a:p>
        </p:txBody>
      </p:sp>
      <p:sp>
        <p:nvSpPr>
          <p:cNvPr id="7" name="file card 2"/>
          <p:cNvSpPr/>
          <p:nvPr/>
        </p:nvSpPr>
        <p:spPr>
          <a:xfrm>
            <a:off x="4709160" y="1097280"/>
            <a:ext cx="3977640" cy="2011680"/>
          </a:xfrm>
          <a:prstGeom prst="roundRect">
            <a:avLst>
              <a:gd name="adj" fmla="val 4545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8" name="file card 2 title"/>
          <p:cNvSpPr txBox="1"/>
          <p:nvPr/>
        </p:nvSpPr>
        <p:spPr>
          <a:xfrm>
            <a:off x="4892040" y="118872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io_board.c</a:t>
            </a:r>
            <a:endParaRPr lang="en-US" sz="1600" dirty="0"/>
          </a:p>
        </p:txBody>
      </p:sp>
      <p:sp>
        <p:nvSpPr>
          <p:cNvPr id="9" name="file card 2 sub"/>
          <p:cNvSpPr txBox="1"/>
          <p:nvPr/>
        </p:nvSpPr>
        <p:spPr>
          <a:xfrm>
            <a:off x="489204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5C5C"/>
                </a:solidFill>
              </a:rPr>
              <a:t>Definitions: the code itself</a:t>
            </a:r>
            <a:endParaRPr lang="en-US" sz="1300" dirty="0"/>
          </a:p>
        </p:txBody>
      </p:sp>
      <p:sp>
        <p:nvSpPr>
          <p:cNvPr id="10" name="file card 2 code"/>
          <p:cNvSpPr txBox="1"/>
          <p:nvPr/>
        </p:nvSpPr>
        <p:spPr>
          <a:xfrm>
            <a:off x="4892040" y="1920240"/>
            <a:ext cx="3611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235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uint8_t readButtonsRaw(void)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235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/* ... HAL_I2C_Mem_Read ... */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235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11" name="split bullets"/>
          <p:cNvSpPr txBox="1"/>
          <p:nvPr/>
        </p:nvSpPr>
        <p:spPr>
          <a:xfrm>
            <a:off x="457200" y="329184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1F6E43"/>
                </a:solidFill>
              </a:rPr>
              <a:t>main.c: #include "io_board.h", the .h only, never the .c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CubeIDE compiles every .c in Core/Src by itself; the linker joins main.o and io_board.o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B23A48"/>
                </a:solidFill>
              </a:rPr>
              <a:t>Including the .c compiles its functions twice: "multiple definition" error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The same rule in the other generated files</a:t>
            </a:r>
            <a:endParaRPr lang="en-US" sz="2600" dirty="0"/>
          </a:p>
        </p:txBody>
      </p:sp>
      <p:sp>
        <p:nvSpPr>
          <p:cNvPr id="3" name="card 1"/>
          <p:cNvSpPr/>
          <p:nvPr/>
        </p:nvSpPr>
        <p:spPr>
          <a:xfrm>
            <a:off x="457200" y="1143000"/>
            <a:ext cx="2606040" cy="2377440"/>
          </a:xfrm>
          <a:prstGeom prst="roundRect">
            <a:avLst>
              <a:gd name="adj" fmla="val 3846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4" name="card 1 title"/>
          <p:cNvSpPr txBox="1"/>
          <p:nvPr/>
        </p:nvSpPr>
        <p:spPr>
          <a:xfrm>
            <a:off x="640080" y="12801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main.h</a:t>
            </a:r>
            <a:endParaRPr lang="en-US" sz="1600" dirty="0"/>
          </a:p>
        </p:txBody>
      </p:sp>
      <p:sp>
        <p:nvSpPr>
          <p:cNvPr id="5" name="card 1 text"/>
          <p:cNvSpPr txBox="1"/>
          <p:nvPr/>
        </p:nvSpPr>
        <p:spPr>
          <a:xfrm>
            <a:off x="640080" y="178308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C1C1C"/>
                </a:solidFill>
              </a:rPr>
              <a:t>Includes, ET (exported types), EC (constants), EM (macros), EFP (function prototypes), Private defines. Things other .c files need to see.</a:t>
            </a:r>
            <a:endParaRPr lang="en-US" sz="1400" dirty="0"/>
          </a:p>
        </p:txBody>
      </p:sp>
      <p:sp>
        <p:nvSpPr>
          <p:cNvPr id="6" name="card 2"/>
          <p:cNvSpPr/>
          <p:nvPr/>
        </p:nvSpPr>
        <p:spPr>
          <a:xfrm>
            <a:off x="3246120" y="1143000"/>
            <a:ext cx="2606040" cy="2377440"/>
          </a:xfrm>
          <a:prstGeom prst="roundRect">
            <a:avLst>
              <a:gd name="adj" fmla="val 3846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7" name="card 2 title"/>
          <p:cNvSpPr txBox="1"/>
          <p:nvPr/>
        </p:nvSpPr>
        <p:spPr>
          <a:xfrm>
            <a:off x="3429000" y="12801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stm32g4xx_it.c</a:t>
            </a:r>
            <a:endParaRPr lang="en-US" sz="1600" dirty="0"/>
          </a:p>
        </p:txBody>
      </p:sp>
      <p:sp>
        <p:nvSpPr>
          <p:cNvPr id="8" name="card 2 text"/>
          <p:cNvSpPr txBox="1"/>
          <p:nvPr/>
        </p:nvSpPr>
        <p:spPr>
          <a:xfrm>
            <a:off x="3429000" y="178308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C1C1C"/>
                </a:solidFill>
              </a:rPr>
              <a:t>Interrupt handlers. Each has sections 0 (before the HAL handler) and 1 (after it). Usually leave them alone and use the HAL callbacks.</a:t>
            </a:r>
            <a:endParaRPr lang="en-US" sz="1400" dirty="0"/>
          </a:p>
        </p:txBody>
      </p:sp>
      <p:sp>
        <p:nvSpPr>
          <p:cNvPr id="9" name="card 3"/>
          <p:cNvSpPr/>
          <p:nvPr/>
        </p:nvSpPr>
        <p:spPr>
          <a:xfrm>
            <a:off x="6035040" y="1143000"/>
            <a:ext cx="2606040" cy="2377440"/>
          </a:xfrm>
          <a:prstGeom prst="roundRect">
            <a:avLst>
              <a:gd name="adj" fmla="val 3846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10" name="card 3 title"/>
          <p:cNvSpPr txBox="1"/>
          <p:nvPr/>
        </p:nvSpPr>
        <p:spPr>
          <a:xfrm>
            <a:off x="6217920" y="12801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Your own files</a:t>
            </a:r>
            <a:endParaRPr lang="en-US" sz="1600" dirty="0"/>
          </a:p>
        </p:txBody>
      </p:sp>
      <p:sp>
        <p:nvSpPr>
          <p:cNvPr id="11" name="card 3 text"/>
          <p:cNvSpPr txBox="1"/>
          <p:nvPr/>
        </p:nvSpPr>
        <p:spPr>
          <a:xfrm>
            <a:off x="6217920" y="178308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C1C1C"/>
                </a:solidFill>
              </a:rPr>
              <a:t>New .c files in Core/Src and .h files in Core/Inc are never touched by CubeMX. The safest place for larger code.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914400"/>
            <a:ext cx="804672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2"/>
                </a:solidFill>
              </a:rPr>
              <a:t>TUTORIAL 2  ·  9.11.2026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Numbers and bits on the board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743200"/>
            <a:ext cx="80467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Predict-then-run wrap-around; signed and unsigned in the debugger; a binary printer; the four bit idioms: set, clear, toggle, test.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914400"/>
            <a:ext cx="804672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2"/>
                </a:solidFill>
              </a:rPr>
              <a:t>TUTORIAL 3  ·  16.11.2026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RGB LEDs and buttons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743200"/>
            <a:ext cx="80467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A set_rgb helper; a walking dot with masks; saturating brightness up and down; one press = one action.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914400"/>
            <a:ext cx="804672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2"/>
                </a:solidFill>
              </a:rPr>
              <a:t>TUTORIAL 4  ·  23.11.2026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Timer interrupts and state machines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743200"/>
            <a:ext cx="80467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Multi-rate blinking from a timer interrupt (no HAL_Delay); a state-machine skeleton with enum and switch.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Why some outputs are fast and others slow</a:t>
            </a:r>
            <a:endParaRPr lang="en-US" sz="2600" dirty="0"/>
          </a:p>
        </p:txBody>
      </p:sp>
      <p:sp>
        <p:nvSpPr>
          <p:cNvPr id="3" name="speed card 1"/>
          <p:cNvSpPr/>
          <p:nvPr/>
        </p:nvSpPr>
        <p:spPr>
          <a:xfrm>
            <a:off x="457200" y="1097280"/>
            <a:ext cx="3977640" cy="2606040"/>
          </a:xfrm>
          <a:prstGeom prst="roundRect">
            <a:avLst>
              <a:gd name="adj" fmla="val 3509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4" name="speed card 1 head"/>
          <p:cNvSpPr txBox="1"/>
          <p:nvPr/>
        </p:nvSpPr>
        <p:spPr>
          <a:xfrm>
            <a:off x="685800" y="123444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524"/>
                </a:solidFill>
              </a:rPr>
              <a:t>Wheel PWM: TIM2-&gt;CCR1 = value;</a:t>
            </a:r>
            <a:endParaRPr lang="en-US" sz="1600" dirty="0"/>
          </a:p>
        </p:txBody>
      </p:sp>
      <p:sp>
        <p:nvSpPr>
          <p:cNvPr id="5" name="speed card 1 stat"/>
          <p:cNvSpPr txBox="1"/>
          <p:nvPr/>
        </p:nvSpPr>
        <p:spPr>
          <a:xfrm>
            <a:off x="685800" y="16916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6E43"/>
                </a:solidFill>
              </a:rPr>
              <a:t>~20</a:t>
            </a:r>
            <a:pPr indent="0" marL="0">
              <a:buNone/>
            </a:pPr>
            <a:r>
              <a:rPr lang="en-US" sz="1800" dirty="0">
                <a:solidFill>
                  <a:srgbClr val="1F6E43"/>
                </a:solidFill>
              </a:rPr>
              <a:t>  ns</a:t>
            </a:r>
            <a:endParaRPr lang="en-US" sz="4400" dirty="0"/>
          </a:p>
        </p:txBody>
      </p:sp>
      <p:sp>
        <p:nvSpPr>
          <p:cNvPr id="6" name="speed card 1 body"/>
          <p:cNvSpPr txBox="1"/>
          <p:nvPr/>
        </p:nvSpPr>
        <p:spPr>
          <a:xfrm>
            <a:off x="685800" y="2560320"/>
            <a:ext cx="3520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C1C"/>
                </a:solidFill>
              </a:rPr>
              <a:t>The register is inside the STM32. It has a memory address, so one store instruction over the internal bus writes it: a few clock cycles at 170 MHz (1 cycle = 5.9 ns). TIM2 then makes the PWM by itself.</a:t>
            </a:r>
            <a:endParaRPr lang="en-US" sz="1300" dirty="0"/>
          </a:p>
        </p:txBody>
      </p:sp>
      <p:sp>
        <p:nvSpPr>
          <p:cNvPr id="7" name="speed card 2"/>
          <p:cNvSpPr/>
          <p:nvPr/>
        </p:nvSpPr>
        <p:spPr>
          <a:xfrm>
            <a:off x="4709160" y="1097280"/>
            <a:ext cx="3977640" cy="2606040"/>
          </a:xfrm>
          <a:prstGeom prst="roundRect">
            <a:avLst>
              <a:gd name="adj" fmla="val 3509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8" name="speed card 2 head"/>
          <p:cNvSpPr txBox="1"/>
          <p:nvPr/>
        </p:nvSpPr>
        <p:spPr>
          <a:xfrm>
            <a:off x="4937760" y="123444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524"/>
                </a:solidFill>
              </a:rPr>
              <a:t>LED brightness: HAL_I2C_Mem_Write</a:t>
            </a:r>
            <a:endParaRPr lang="en-US" sz="1600" dirty="0"/>
          </a:p>
        </p:txBody>
      </p:sp>
      <p:sp>
        <p:nvSpPr>
          <p:cNvPr id="9" name="speed card 2 stat"/>
          <p:cNvSpPr txBox="1"/>
          <p:nvPr/>
        </p:nvSpPr>
        <p:spPr>
          <a:xfrm>
            <a:off x="4937760" y="16916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23A48"/>
                </a:solidFill>
              </a:rPr>
              <a:t>~0.3</a:t>
            </a:r>
            <a:pPr indent="0" marL="0">
              <a:buNone/>
            </a:pPr>
            <a:r>
              <a:rPr lang="en-US" sz="1800" dirty="0">
                <a:solidFill>
                  <a:srgbClr val="B23A48"/>
                </a:solidFill>
              </a:rPr>
              <a:t>  ms</a:t>
            </a:r>
            <a:endParaRPr lang="en-US" sz="4400" dirty="0"/>
          </a:p>
        </p:txBody>
      </p:sp>
      <p:sp>
        <p:nvSpPr>
          <p:cNvPr id="10" name="speed card 2 body"/>
          <p:cNvSpPr txBox="1"/>
          <p:nvPr/>
        </p:nvSpPr>
        <p:spPr>
          <a:xfrm>
            <a:off x="4937760" y="2560320"/>
            <a:ext cx="3520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C1C"/>
                </a:solidFill>
              </a:rPr>
              <a:t>The register is inside the PCA9634, another chip. The only way in is the I2C bus at 100 kHz: 10 µs per bit. Address + register + data, each with an ACK, is about 29 bits. The CPU waits all that time.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Blocking: updating all 24 LED registers at once</a:t>
            </a:r>
            <a:endParaRPr lang="en-US" sz="2600" dirty="0"/>
          </a:p>
        </p:txBody>
      </p:sp>
      <p:sp>
        <p:nvSpPr>
          <p:cNvPr id="3" name="blocking box"/>
          <p:cNvSpPr/>
          <p:nvPr/>
        </p:nvSpPr>
        <p:spPr>
          <a:xfrm>
            <a:off x="457200" y="1097280"/>
            <a:ext cx="4114800" cy="1508760"/>
          </a:xfrm>
          <a:prstGeom prst="roundRect">
            <a:avLst>
              <a:gd name="adj" fmla="val 4848"/>
            </a:avLst>
          </a:prstGeom>
          <a:solidFill>
            <a:srgbClr val="F4F6F4"/>
          </a:solidFill>
          <a:ln w="9525">
            <a:solidFill>
              <a:srgbClr val="D5DDD6"/>
            </a:solidFill>
            <a:prstDash val="solid"/>
          </a:ln>
        </p:spPr>
      </p:sp>
      <p:sp>
        <p:nvSpPr>
          <p:cNvPr id="4" name="blocking code"/>
          <p:cNvSpPr txBox="1"/>
          <p:nvPr/>
        </p:nvSpPr>
        <p:spPr>
          <a:xfrm>
            <a:off x="594360" y="1188720"/>
            <a:ext cx="3840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(ch = 0; ch &lt; 8; ch++)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23A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setLedChannel(RED,   ch, r);  // 0.3 ms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23A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setLedChannel(GREEN, ch, g);  // 0.3 ms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23A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setLedChannel(BLUE,  ch, b);  // 0.3 ms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B23A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about 7 to 9 ms with the loop stuck here</a:t>
            </a:r>
            <a:endParaRPr lang="en-US" sz="1100" dirty="0"/>
          </a:p>
        </p:txBody>
      </p:sp>
      <p:sp>
        <p:nvSpPr>
          <p:cNvPr id="5" name="blocking bullets"/>
          <p:cNvSpPr txBox="1"/>
          <p:nvPr/>
        </p:nvSpPr>
        <p:spPr>
          <a:xfrm>
            <a:off x="4846320" y="1097280"/>
            <a:ext cx="384048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000000"/>
                </a:solidFill>
              </a:rPr>
              <a:t>While stuck, the main loop cannot: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see a new command or state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poll the IR obstacle sensor (an emergency stop!)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run the state's work or print status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6E43"/>
                </a:solidFill>
              </a:rPr>
              <a:t>Interrupts still run: TIM2 keeps the PWM going and TIM5 still captures the ultrasonic echo.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Non-blocking: one register per loop pass</a:t>
            </a:r>
            <a:endParaRPr lang="en-US" sz="2600" dirty="0"/>
          </a:p>
        </p:txBody>
      </p:sp>
      <p:sp>
        <p:nvSpPr>
          <p:cNvPr id="3" name="service box"/>
          <p:cNvSpPr/>
          <p:nvPr/>
        </p:nvSpPr>
        <p:spPr>
          <a:xfrm>
            <a:off x="457200" y="1097280"/>
            <a:ext cx="4572000" cy="1828800"/>
          </a:xfrm>
          <a:prstGeom prst="roundRect">
            <a:avLst>
              <a:gd name="adj" fmla="val 4000"/>
            </a:avLst>
          </a:prstGeom>
          <a:solidFill>
            <a:srgbClr val="F4F6F4"/>
          </a:solidFill>
          <a:ln w="9525">
            <a:solidFill>
              <a:srgbClr val="D5DDD6"/>
            </a:solidFill>
            <a:prstDash val="solid"/>
          </a:ln>
        </p:spPr>
      </p:sp>
      <p:sp>
        <p:nvSpPr>
          <p:cNvPr id="4" name="service code"/>
          <p:cNvSpPr txBox="1"/>
          <p:nvPr/>
        </p:nvSpPr>
        <p:spPr>
          <a:xfrm>
            <a:off x="594360" y="1188720"/>
            <a:ext cx="42976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void serviceRgbOutputs(void)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(micros() - lastUs &lt; 1200) return;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lastUs = micros();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/* write ONE of the 24 registers */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setLedChannel(chip, channel, target);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index = (index + 1) % 24;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5" name="service bullets"/>
          <p:cNvSpPr txBox="1"/>
          <p:nvPr/>
        </p:nvSpPr>
        <p:spPr>
          <a:xfrm>
            <a:off x="5303520" y="1097280"/>
            <a:ext cx="338328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The logic writes the wanted colours into RAM arrays (rgbTarget...): instant.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serviceRgbOutputs copies them to the chips, at most one register per call.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Each loop pass pays at most 0.3 ms; a full refresh takes 24 x 1.2 ms = 29 ms, too fast for the eye.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1F6E43"/>
                </a:solidFill>
              </a:rPr>
              <a:t>What makes it non-blocking is the work per call, not where the call is placed.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Three layers: decide, store, transport</a:t>
            </a:r>
            <a:endParaRPr lang="en-US" sz="2600" dirty="0"/>
          </a:p>
        </p:txBody>
      </p:sp>
      <p:graphicFrame>
        <p:nvGraphicFramePr>
          <p:cNvPr id="16" name="layer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834640"/>
                <a:gridCol w="28346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EF3EF"/>
                          </a:solidFill>
                        </a:rPr>
                        <a:t>Layer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E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EF3EF"/>
                          </a:solidFill>
                        </a:rPr>
                        <a:t>Wheels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E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EF3EF"/>
                          </a:solidFill>
                        </a:rPr>
                        <a:t>RGB LEDs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E4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23524"/>
                          </a:solidFill>
                        </a:rPr>
                        <a:t>Logic: what should the output be now?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1C1C"/>
                          </a:solidFill>
                        </a:rPr>
                        <a:t>runStateTick calls setWheelPwm(wheel, pwm)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1C1C"/>
                          </a:solidFill>
                        </a:rPr>
                        <a:t>runStateTick calls updateLedBlink / updateLedFade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23524"/>
                          </a:solidFill>
                        </a:rPr>
                        <a:t>Stored value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1C1C"/>
                          </a:solidFill>
                        </a:rPr>
                        <a:t>TIM2 CCR register (on chip)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1C1C"/>
                          </a:solidFill>
                        </a:rPr>
                        <a:t>rgbTarget arrays (RAM)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23524"/>
                          </a:solidFill>
                        </a:rPr>
                        <a:t>Transport: make the hardware show it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1C1C"/>
                          </a:solidFill>
                        </a:rPr>
                        <a:t>TIM2 hardware, continuously, no code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1C1C"/>
                          </a:solidFill>
                        </a:rPr>
                        <a:t>serviceRgbOutputs over I2C, gradually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layers note"/>
          <p:cNvSpPr txBox="1"/>
          <p:nvPr/>
        </p:nvSpPr>
        <p:spPr>
          <a:xfrm>
            <a:off x="457200" y="3657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C5C5C"/>
                </a:solidFill>
              </a:rPr>
              <a:t>serviceRgbOutputs is the software stand-in for what TIM2 does for the wheels. It belongs to the transport layer, so it is not part of runStateTick.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The super loop: inputs, logic, services</a:t>
            </a:r>
            <a:endParaRPr lang="en-US" sz="2600" dirty="0"/>
          </a:p>
        </p:txBody>
      </p:sp>
      <p:sp>
        <p:nvSpPr>
          <p:cNvPr id="3" name="superloop box"/>
          <p:cNvSpPr/>
          <p:nvPr/>
        </p:nvSpPr>
        <p:spPr>
          <a:xfrm>
            <a:off x="457200" y="1097280"/>
            <a:ext cx="4572000" cy="2194560"/>
          </a:xfrm>
          <a:prstGeom prst="roundRect">
            <a:avLst>
              <a:gd name="adj" fmla="val 3333"/>
            </a:avLst>
          </a:prstGeom>
          <a:solidFill>
            <a:srgbClr val="F4F6F4"/>
          </a:solidFill>
          <a:ln w="9525">
            <a:solidFill>
              <a:srgbClr val="D5DDD6"/>
            </a:solidFill>
            <a:prstDash val="solid"/>
          </a:ln>
        </p:spPr>
      </p:sp>
      <p:sp>
        <p:nvSpPr>
          <p:cNvPr id="4" name="superloop code"/>
          <p:cNvSpPr txBox="1"/>
          <p:nvPr/>
        </p:nvSpPr>
        <p:spPr>
          <a:xfrm>
            <a:off x="594360" y="1188720"/>
            <a:ext cx="4297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(1)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updateEncoders();      /* 1. inputs   */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updateIrSensor();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(state != applied)  /* 2. logic    */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enterState(state);   /* once        */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runStateTick(applied); /* every pass  */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serviceRgbOutputs();   /* 3. services */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printPeriodicStatus();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5" name="superloop bullets"/>
          <p:cNvSpPr txBox="1"/>
          <p:nvPr/>
        </p:nvSpPr>
        <p:spPr>
          <a:xfrm>
            <a:off x="5303520" y="1097280"/>
            <a:ext cx="338328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Keep every pass short, so polled inputs stay responsive.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runStateTick: what the current state wants.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Services: make the hardware match, in every state.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B23A48"/>
                </a:solidFill>
              </a:rPr>
              <a:t>Calling a service from inside one state's case would freeze that output in all other states.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914400"/>
            <a:ext cx="804672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2"/>
                </a:solidFill>
              </a:rPr>
              <a:t>TUTORIAL 5  ·  30.11.2026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Inside the I2C bus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743200"/>
            <a:ext cx="80467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I2C bus scan: detect the five IO-board chips; set_rgb rewritten on raw HAL_I2C_Mem_Write; servo sweep.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914400"/>
            <a:ext cx="804672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2"/>
                </a:solidFill>
              </a:rPr>
              <a:t>TUTORIAL 6  ·  7.12.2026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PWM, input capture and EXTI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743200"/>
            <a:ext cx="80467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One ultrasonic distance measurement; an EXTI interrupt with a counter; PWM on one motor channel.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914400"/>
            <a:ext cx="804672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2"/>
                </a:solidFill>
              </a:rPr>
              <a:t>TUTORIAL 7  ·  14.12.2026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One wheel in the air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743200"/>
            <a:ext cx="80467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Open-loop PWM; encoder counts to rad/s; record a run and export it to MATLAB.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914400"/>
            <a:ext cx="804672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2"/>
                </a:solidFill>
              </a:rPr>
              <a:t>TUTORIAL 8  ·  21.12.2026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From model to PI controller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743200"/>
            <a:ext cx="80467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Model fit, sisotool, c2d; the difference equation in C; simulated vs. measured step response.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914400"/>
            <a:ext cx="804672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2"/>
                </a:solidFill>
              </a:rPr>
              <a:t>TUTORIAL 9  ·  28.12.2026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UART commands and a MATLAB GUI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743200"/>
            <a:ext cx="80467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An interrupt-driven UART command parser; a minimal MATLAB GUI that sends commands and plots telemetry.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914400"/>
            <a:ext cx="804672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2"/>
                </a:solidFill>
              </a:rPr>
              <a:t>TUTORIAL 10  ·  4.1.2027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Driving the cart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743200"/>
            <a:ext cx="80467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Kinematics exercises; driving on the floor; a trajectory array generated in MATLAB and sent to the cart.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914400"/>
            <a:ext cx="804672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2"/>
                </a:solidFill>
              </a:rPr>
              <a:t>TUTORIAL 11  ·  11.1.2027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Simulink to C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743200"/>
            <a:ext cx="80467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Export a Simulink PI controller or filter to C and run it on the cart.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914400"/>
            <a:ext cx="804672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2"/>
                </a:solidFill>
              </a:rPr>
              <a:t>TUTORIAL 12  ·  18.1.2027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Project clinic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743200"/>
            <a:ext cx="80467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Open session for Assignment 3 questions.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914400"/>
            <a:ext cx="804672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2"/>
                </a:solidFill>
              </a:rPr>
              <a:t>SESSION 13  ·  25.1.2027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Lab meeting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743200"/>
            <a:ext cx="80467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Open questions.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P Tutorials">
  <a:themeElements>
    <a:clrScheme name="MP Tutorials">
      <a:dk1>
        <a:srgbClr val="1C1C1C"/>
      </a:dk1>
      <a:lt1>
        <a:srgbClr val="FFFFFF"/>
      </a:lt1>
      <a:dk2>
        <a:srgbClr val="123524"/>
      </a:dk2>
      <a:lt2>
        <a:srgbClr val="EEF3EF"/>
      </a:lt2>
      <a:accent1>
        <a:srgbClr val="1F6E43"/>
      </a:accent1>
      <a:accent2>
        <a:srgbClr val="C8772E"/>
      </a:accent2>
      <a:accent3>
        <a:srgbClr val="2E86AB"/>
      </a:accent3>
      <a:accent4>
        <a:srgbClr val="B23A48"/>
      </a:accent4>
      <a:accent5>
        <a:srgbClr val="6B8F71"/>
      </a:accent5>
      <a:accent6>
        <a:srgbClr val="5C5C5C"/>
      </a:accent6>
      <a:hlink>
        <a:srgbClr val="2E86AB"/>
      </a:hlink>
      <a:folHlink>
        <a:srgbClr val="6B8F71"/>
      </a:folHlink>
    </a:clrScheme>
    <a:fontScheme name="MP Tutorials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MP Tutorials 2026</dc:title>
  <dc:subject>PptxGenJS Presentation</dc:subject>
  <dc:creator>Yohai Ackerman</dc:creator>
  <cp:lastModifiedBy>Yohai Ackerman</cp:lastModifiedBy>
  <cp:revision>1</cp:revision>
  <dcterms:created xsi:type="dcterms:W3CDTF">2026-10-11T14:01:42Z</dcterms:created>
  <dcterms:modified xsi:type="dcterms:W3CDTF">2026-10-11T14:01:42Z</dcterms:modified>
</cp:coreProperties>
</file>