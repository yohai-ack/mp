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7" r:id="rId38"/>
    <p:sldId id="289" r:id="rId40"/>
    <p:sldId id="288" r:id="rId39"/>
    <p:sldId id="286" r:id="rId37"/>
    <p:sldId id="268" r:id="rId14"/>
    <p:sldId id="269" r:id="rId15"/>
    <p:sldId id="270" r:id="rId16"/>
    <p:sldId id="271" r:id="rId17"/>
    <p:sldId id="272" r:id="rId18"/>
    <p:sldId id="273" r:id="rId19"/>
    <p:sldId id="282" r:id="rId33"/>
    <p:sldId id="283" r:id="rId34"/>
    <p:sldId id="284" r:id="rId35"/>
    <p:sldId id="285" r:id="rId36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utorial 1: Your first STM32 application" id="{e6b4c9aa-78c9-c597-0af6-f54424bc4b2f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utorial 2: Numbers and bits on the board" id="{c15f6201-075d-2e97-6e8b-8beb0dc12395}">
          <p14:sldIdLst>
            <p14:sldId id="265"/>
          </p14:sldIdLst>
        </p14:section>
        <p14:section name="Tutorial 3: RGB LEDs and buttons" id="{bccff75b-a899-9a0a-bd45-ed6e16cab61d}">
          <p14:sldIdLst>
            <p14:sldId id="266"/>
          </p14:sldIdLst>
        </p14:section>
        <p14:section name="Tutorial 4: Timer interrupts and state machines" id="{407214bd-1516-b47b-92d2-14a673110772}">
          <p14:sldIdLst>
            <p14:sldId id="267"/>
            <p14:sldId id="287"/>
            <p14:sldId id="289"/>
            <p14:sldId id="288"/>
            <p14:sldId id="286"/>
            <p14:sldId id="268"/>
            <p14:sldId id="269"/>
            <p14:sldId id="270"/>
            <p14:sldId id="271"/>
            <p14:sldId id="272"/>
          </p14:sldIdLst>
        </p14:section>
        <p14:section name="Tutorial 5: Inside the I2C bus" id="{cdafa046-4960-08d9-dade-13722ea2c76e}">
          <p14:sldIdLst>
            <p14:sldId id="273"/>
            <p14:sldId id="282"/>
            <p14:sldId id="283"/>
            <p14:sldId id="284"/>
            <p14:sldId id="285"/>
          </p14:sldIdLst>
        </p14:section>
        <p14:section name="Tutorial 6: PWM, input capture and EXTI" id="{22b1a7f2-0b5c-f1e2-f58f-3b4012e84f69}">
          <p14:sldIdLst>
            <p14:sldId id="274"/>
          </p14:sldIdLst>
        </p14:section>
        <p14:section name="Tutorial 7: One wheel in the air" id="{15a4c756-5aad-b6f4-4b54-3ae35a79c2d0}">
          <p14:sldIdLst>
            <p14:sldId id="275"/>
          </p14:sldIdLst>
        </p14:section>
        <p14:section name="Tutorial 8: From model to PI controller" id="{f0a30eb0-0238-282e-bfb9-8077164d9b37}">
          <p14:sldIdLst>
            <p14:sldId id="276"/>
          </p14:sldIdLst>
        </p14:section>
        <p14:section name="Tutorial 9: UART commands and a MATLAB GUI" id="{5034ba26-1181-15a1-324d-6297c420e1c5}">
          <p14:sldIdLst>
            <p14:sldId id="277"/>
          </p14:sldIdLst>
        </p14:section>
        <p14:section name="Tutorial 10: Driving the cart" id="{133b27ce-88cd-963a-fe03-1a971fcab7c4}">
          <p14:sldIdLst>
            <p14:sldId id="278"/>
          </p14:sldIdLst>
        </p14:section>
        <p14:section name="Tutorial 11: Simulink to C" id="{e4a56d23-8994-95f3-95f2-d791053739ae}">
          <p14:sldIdLst>
            <p14:sldId id="279"/>
          </p14:sldIdLst>
        </p14:section>
        <p14:section name="Tutorial 12: Project clinic" id="{1ab8d8b8-50ab-fd7e-3bc3-610a4896cc9c}">
          <p14:sldIdLst>
            <p14:sldId id="280"/>
          </p14:sldIdLst>
        </p14:section>
        <p14:section name="Session 13" id="{01631e87-6dbf-b331-4ea6-570b30e763d1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6.xml"/><Relationship Id="rId21" Type="http://schemas.openxmlformats.org/officeDocument/2006/relationships/slide" Target="slides/slide27.xml"/><Relationship Id="rId22" Type="http://schemas.openxmlformats.org/officeDocument/2006/relationships/slide" Target="slides/slide28.xml"/><Relationship Id="rId23" Type="http://schemas.openxmlformats.org/officeDocument/2006/relationships/slide" Target="slides/slide29.xml"/><Relationship Id="rId24" Type="http://schemas.openxmlformats.org/officeDocument/2006/relationships/slide" Target="slides/slide30.xml"/><Relationship Id="rId25" Type="http://schemas.openxmlformats.org/officeDocument/2006/relationships/slide" Target="slides/slide31.xml"/><Relationship Id="rId26" Type="http://schemas.openxmlformats.org/officeDocument/2006/relationships/slide" Target="slides/slide32.xml"/><Relationship Id="rId27" Type="http://schemas.openxmlformats.org/officeDocument/2006/relationships/slide" Target="slides/slide33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15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23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F6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Microprocessor-Based Product Design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Tutorials 2026/27  ·  Yohai Ackerman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  ·  2.11.2026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Your first STM32 application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CubeMX configuration, build, flash and run; blink LD2; printf to PuTTY; the debugger: breakpoints, stepping, live expressions; where your code goes (USER CODE sections).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Your code goes between USER CODE markers</a:t>
            </a:r>
            <a:endParaRPr lang="en-US" sz="2600" dirty="0"/>
          </a:p>
        </p:txBody>
      </p:sp>
      <p:sp>
        <p:nvSpPr>
          <p:cNvPr id="3" name="rule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CubeMX generates main.c and the other project files from the .ioc.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Every time you change the .ioc and press Generate Code, the files are rewritten.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Code between USER CODE BEGIN and USER CODE END is kept.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B23A48"/>
                </a:solidFill>
              </a:rPr>
              <a:t>Code anywhere else is deleted, without a warning.</a:t>
            </a:r>
            <a:endParaRPr lang="en-US" sz="1500" dirty="0"/>
          </a:p>
        </p:txBody>
      </p:sp>
      <p:sp>
        <p:nvSpPr>
          <p:cNvPr id="4" name="rule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rule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1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uint32_t counter = 0;   // kept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1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HAL_Init();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counter = 5;   // DELETED on regenerate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2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2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before main()</a:t>
            </a:r>
            <a:endParaRPr lang="en-US" sz="2600" dirty="0"/>
          </a:p>
        </p:txBody>
      </p:sp>
      <p:graphicFrame>
        <p:nvGraphicFramePr>
          <p:cNvPr id="5" name="sections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2062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File comment at the very 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the program does, author, date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Includes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#include lines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#include &lt;stdio.h&gt;, your own .h files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PTD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typedefs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typedef enum { IDLE, RUN } state_t;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defines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N_LEDS 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macros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SET_BIT_N(x,n) ((x) |= 1u &lt;&lt; (n))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PV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(global) variables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volatile uint8_t state = 0;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PFP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function prototypes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Your function definitions, before main()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 { ...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tions note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</a:rPr>
              <a:t>In the file each section looks like /* USER CODE BEGIN PV */ ... /* USER CODE END PV */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inside and after main()</a:t>
            </a:r>
            <a:endParaRPr lang="en-US" sz="2600" dirty="0"/>
          </a:p>
        </p:txBody>
      </p:sp>
      <p:graphicFrame>
        <p:nvGraphicFramePr>
          <p:cNvPr id="6" name="sections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2062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Start of main(), before HAL_Init()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Local variables of main()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HAL_Init(), before the clock setup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the clock setup, before peripheral init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all MX_..._Init() calls, before the loop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One-time setup: start timers, print a banner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first part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The main loop: your program's work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after END WHILE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Also runs every pass (CubeMX splits the loop in two)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main()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Callbacks, e.g. HAL_TIM_PeriodElapsedCallback; more functions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tions note 2"/>
          <p:cNvSpPr txBox="1"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</a:rPr>
              <a:t>Peripheral init functions have their own sections too, e.g. TIM2_Init 0, 1 and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PFP: why declare a function before defining it?</a:t>
            </a:r>
            <a:endParaRPr lang="en-US" sz="2600" dirty="0"/>
          </a:p>
        </p:txBody>
      </p:sp>
      <p:sp>
        <p:nvSpPr>
          <p:cNvPr id="3" name="pfp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compiler reads the file once, top to bottom.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function must be declared before the first line that calls 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prototype in PFP announces name, inputs and output, so the full definition can come anywhere later.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Bonus: the PFP list is a table of contents of the file.</a:t>
            </a:r>
            <a:endParaRPr lang="en-US" sz="1500" dirty="0"/>
          </a:p>
        </p:txBody>
      </p:sp>
      <p:sp>
        <p:nvSpPr>
          <p:cNvPr id="4" name="pfp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pfp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PFP */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ms);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PFP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blinkLed(500);   // OK: already declared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4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 { ... }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4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Header (.h) and source (.c): the same idea across files</a:t>
            </a:r>
            <a:endParaRPr lang="en-US" sz="2600" dirty="0"/>
          </a:p>
        </p:txBody>
      </p:sp>
      <p:sp>
        <p:nvSpPr>
          <p:cNvPr id="3" name="file card 1"/>
          <p:cNvSpPr/>
          <p:nvPr/>
        </p:nvSpPr>
        <p:spPr>
          <a:xfrm>
            <a:off x="45720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file card 1 title"/>
          <p:cNvSpPr txBox="1"/>
          <p:nvPr/>
        </p:nvSpPr>
        <p:spPr>
          <a:xfrm>
            <a:off x="64008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io_board.h</a:t>
            </a:r>
            <a:endParaRPr lang="en-US" sz="1600" dirty="0"/>
          </a:p>
        </p:txBody>
      </p:sp>
      <p:sp>
        <p:nvSpPr>
          <p:cNvPr id="5" name="file card 1 sub"/>
          <p:cNvSpPr txBox="1"/>
          <p:nvPr/>
        </p:nvSpPr>
        <p:spPr>
          <a:xfrm>
            <a:off x="64008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Declarations: what exists, how to call it</a:t>
            </a:r>
            <a:endParaRPr lang="en-US" sz="1300" dirty="0"/>
          </a:p>
        </p:txBody>
      </p:sp>
      <p:sp>
        <p:nvSpPr>
          <p:cNvPr id="6" name="file card 1 code"/>
          <p:cNvSpPr txBox="1"/>
          <p:nvPr/>
        </p:nvSpPr>
        <p:spPr>
          <a:xfrm>
            <a:off x="64008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uint8_t readButtonsRaw(void);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   allRgbOff(void);</a:t>
            </a:r>
            <a:endParaRPr lang="en-US" sz="1100" dirty="0"/>
          </a:p>
        </p:txBody>
      </p:sp>
      <p:sp>
        <p:nvSpPr>
          <p:cNvPr id="7" name="file card 2"/>
          <p:cNvSpPr/>
          <p:nvPr/>
        </p:nvSpPr>
        <p:spPr>
          <a:xfrm>
            <a:off x="470916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file card 2 title"/>
          <p:cNvSpPr txBox="1"/>
          <p:nvPr/>
        </p:nvSpPr>
        <p:spPr>
          <a:xfrm>
            <a:off x="489204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io_board.c</a:t>
            </a:r>
            <a:endParaRPr lang="en-US" sz="1600" dirty="0"/>
          </a:p>
        </p:txBody>
      </p:sp>
      <p:sp>
        <p:nvSpPr>
          <p:cNvPr id="9" name="file card 2 sub"/>
          <p:cNvSpPr txBox="1"/>
          <p:nvPr/>
        </p:nvSpPr>
        <p:spPr>
          <a:xfrm>
            <a:off x="48920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Definitions: the code itself</a:t>
            </a:r>
            <a:endParaRPr lang="en-US" sz="1300" dirty="0"/>
          </a:p>
        </p:txBody>
      </p:sp>
      <p:sp>
        <p:nvSpPr>
          <p:cNvPr id="10" name="file card 2 code"/>
          <p:cNvSpPr txBox="1"/>
          <p:nvPr/>
        </p:nvSpPr>
        <p:spPr>
          <a:xfrm>
            <a:off x="489204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uint8_t readButtonsRaw(void)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... HAL_I2C_Mem_Read ...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plit bullets"/>
          <p:cNvSpPr txBox="1"/>
          <p:nvPr/>
        </p:nvSpPr>
        <p:spPr>
          <a:xfrm>
            <a:off x="457200" y="32918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main.c: #include "io_board.h", the .h only, never the .c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CubeIDE compiles every .c in Core/Src by itself; the linker joins main.o and io_board.o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Including the .c compiles its functions twice: "multiple definition" error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same rule in the other generated files</a:t>
            </a:r>
            <a:endParaRPr lang="en-US" sz="2600" dirty="0"/>
          </a:p>
        </p:txBody>
      </p:sp>
      <p:sp>
        <p:nvSpPr>
          <p:cNvPr id="3" name="card 1"/>
          <p:cNvSpPr/>
          <p:nvPr/>
        </p:nvSpPr>
        <p:spPr>
          <a:xfrm>
            <a:off x="45720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card 1 title"/>
          <p:cNvSpPr txBox="1"/>
          <p:nvPr/>
        </p:nvSpPr>
        <p:spPr>
          <a:xfrm>
            <a:off x="64008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main.h</a:t>
            </a:r>
            <a:endParaRPr lang="en-US" sz="1600" dirty="0"/>
          </a:p>
        </p:txBody>
      </p:sp>
      <p:sp>
        <p:nvSpPr>
          <p:cNvPr id="5" name="card 1 text"/>
          <p:cNvSpPr txBox="1"/>
          <p:nvPr/>
        </p:nvSpPr>
        <p:spPr>
          <a:xfrm>
            <a:off x="64008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Includes, ET (exported types), EC (constants), EM (macros), EFP (function prototypes), Private defines. Things other .c files need to see.</a:t>
            </a:r>
            <a:endParaRPr lang="en-US" sz="1400" dirty="0"/>
          </a:p>
        </p:txBody>
      </p:sp>
      <p:sp>
        <p:nvSpPr>
          <p:cNvPr id="6" name="card 2"/>
          <p:cNvSpPr/>
          <p:nvPr/>
        </p:nvSpPr>
        <p:spPr>
          <a:xfrm>
            <a:off x="324612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card 2 title"/>
          <p:cNvSpPr txBox="1"/>
          <p:nvPr/>
        </p:nvSpPr>
        <p:spPr>
          <a:xfrm>
            <a:off x="342900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stm32g4xx_it.c</a:t>
            </a:r>
            <a:endParaRPr lang="en-US" sz="1600" dirty="0"/>
          </a:p>
        </p:txBody>
      </p:sp>
      <p:sp>
        <p:nvSpPr>
          <p:cNvPr id="8" name="card 2 text"/>
          <p:cNvSpPr txBox="1"/>
          <p:nvPr/>
        </p:nvSpPr>
        <p:spPr>
          <a:xfrm>
            <a:off x="342900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Interrupt handlers. Each has sections 0 (before the HAL handler) and 1 (after it). Usually leave them alone and use the HAL callbacks.</a:t>
            </a:r>
            <a:endParaRPr lang="en-US" sz="1400" dirty="0"/>
          </a:p>
        </p:txBody>
      </p:sp>
      <p:sp>
        <p:nvSpPr>
          <p:cNvPr id="9" name="card 3"/>
          <p:cNvSpPr/>
          <p:nvPr/>
        </p:nvSpPr>
        <p:spPr>
          <a:xfrm>
            <a:off x="603504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card 3 title"/>
          <p:cNvSpPr txBox="1"/>
          <p:nvPr/>
        </p:nvSpPr>
        <p:spPr>
          <a:xfrm>
            <a:off x="621792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own files</a:t>
            </a:r>
            <a:endParaRPr lang="en-US" sz="1600" dirty="0"/>
          </a:p>
        </p:txBody>
      </p:sp>
      <p:sp>
        <p:nvSpPr>
          <p:cNvPr id="11" name="card 3 text"/>
          <p:cNvSpPr txBox="1"/>
          <p:nvPr/>
        </p:nvSpPr>
        <p:spPr>
          <a:xfrm>
            <a:off x="621792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New .c files in Core/Src and .h files in Core/Inc are never touched by CubeMX. The safest place for larger code.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Moving a project to another PC</a:t>
            </a:r>
            <a:endParaRPr lang="en-US" sz="2600" dirty="0"/>
          </a:p>
        </p:txBody>
      </p:sp>
      <p:sp>
        <p:nvSpPr>
          <p:cNvPr id="3" name="move card 1"/>
          <p:cNvSpPr/>
          <p:nvPr/>
        </p:nvSpPr>
        <p:spPr>
          <a:xfrm>
            <a:off x="45720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move card 1 title"/>
          <p:cNvSpPr txBox="1"/>
          <p:nvPr/>
        </p:nvSpPr>
        <p:spPr>
          <a:xfrm>
            <a:off x="64008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Pack (your PC)</a:t>
            </a:r>
            <a:endParaRPr lang="en-US" sz="1800" dirty="0"/>
          </a:p>
        </p:txBody>
      </p:sp>
      <p:sp>
        <p:nvSpPr>
          <p:cNvPr id="5" name="move card 1 steps"/>
          <p:cNvSpPr txBox="1"/>
          <p:nvPr/>
        </p:nvSpPr>
        <p:spPr>
          <a:xfrm>
            <a:off x="64008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Right-click the project &gt; Refresh (F5)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Right-click &gt; Export &gt; General &gt; Archive File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Untick the Debug folder (build output)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Save as project.zip, Finish</a:t>
            </a:r>
            <a:endParaRPr lang="en-US" sz="1300" dirty="0"/>
          </a:p>
        </p:txBody>
      </p:sp>
      <p:sp>
        <p:nvSpPr>
          <p:cNvPr id="6" name="move card 2"/>
          <p:cNvSpPr/>
          <p:nvPr/>
        </p:nvSpPr>
        <p:spPr>
          <a:xfrm>
            <a:off x="470916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move card 2 title"/>
          <p:cNvSpPr txBox="1"/>
          <p:nvPr/>
        </p:nvSpPr>
        <p:spPr>
          <a:xfrm>
            <a:off x="489204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Open (other PC)</a:t>
            </a:r>
            <a:endParaRPr lang="en-US" sz="1800" dirty="0"/>
          </a:p>
        </p:txBody>
      </p:sp>
      <p:sp>
        <p:nvSpPr>
          <p:cNvPr id="8" name="move card 2 steps"/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File &gt; Import &gt; General &gt; Existing Projects into Workspace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Select archive file &gt; the .zip (do not unzip it)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Tick the project &gt; Finish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Build, then Debug</a:t>
            </a:r>
            <a:endParaRPr lang="en-US" sz="1300" dirty="0"/>
          </a:p>
        </p:txBody>
      </p:sp>
      <p:sp>
        <p:nvSpPr>
          <p:cNvPr id="9" name="move note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Project greyed out in the import list? A project with the same name is already in the workspace: delete it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2  ·  9.11.2026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Numbers and bits on the board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Predict-then-run wrap-around; signed and unsigned in the debugger; a binary printer; the four bit idioms: set, clear, toggle, test.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3  ·  16.11.2026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RGB LEDs and buttons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set_rgb helper; a walking dot with masks; saturating brightness up and down; one press = one action.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4  ·  23.11.2026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Timer interrupts and state machines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Multi-rate blinking from a timer interrupt (no HAL_Delay); a state-machine skeleton with enum and switch.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From timer to callback: the whole chain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1F6E43"/>
                </a:solidFill>
              </a:rPr>
              <a:t>HARDWARE: runs by itself, costs no CPU time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System clock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170 MHz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7984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Prescaler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divides by PSC + 1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58768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Counter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counts 0 to ARR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59552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Update event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counter wraps to 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60336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NVIC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raises the interrupt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883664" y="160020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584448" y="160020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285232" y="160020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986016" y="160020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973568" y="1965960"/>
            <a:ext cx="0" cy="54864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157984" y="2221992"/>
            <a:ext cx="5486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1F6E43"/>
                </a:solidFill>
              </a:rPr>
              <a:t>SOFTWARE: the CPU leaves the main loop, every step costs cycles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60336" y="251460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1F6E43"/>
          </a:solidFill>
          <a:ln w="9525">
            <a:solidFill>
              <a:srgbClr val="1F6E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ISR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TIM7_DAC_IRQHandler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59552" y="251460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1F6E43"/>
          </a:solidFill>
          <a:ln w="9525">
            <a:solidFill>
              <a:srgbClr val="1F6E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HAL handler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checks and clears the flag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251460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1F6E43"/>
          </a:solidFill>
          <a:ln w="9525">
            <a:solidFill>
              <a:srgbClr val="1F6E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Your callback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PeriodElapsedCallback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57984" y="251460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6E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Main loop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continues where it stopped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6986016" y="288036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5285232" y="288036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3584448" y="288036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57200" y="3474720"/>
            <a:ext cx="8229600" cy="868680"/>
          </a:xfrm>
          <a:prstGeom prst="roundRect">
            <a:avLst>
              <a:gd name="adj" fmla="val 8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6E43"/>
                </a:solidFill>
              </a:rPr>
              <a:t>f</a:t>
            </a:r>
            <a:r>
              <a:rPr sz="1800" b="1" baseline="-25000">
                <a:solidFill>
                  <a:srgbClr val="1F6E43"/>
                </a:solidFill>
              </a:rPr>
              <a:t>interrupt</a:t>
            </a:r>
            <a:r>
              <a:rPr sz="1800" b="1">
                <a:solidFill>
                  <a:srgbClr val="1F6E43"/>
                </a:solidFill>
              </a:rPr>
              <a:t> = f</a:t>
            </a:r>
            <a:r>
              <a:rPr sz="1800" b="1" baseline="-25000">
                <a:solidFill>
                  <a:srgbClr val="1F6E43"/>
                </a:solidFill>
              </a:rPr>
              <a:t>clk</a:t>
            </a:r>
            <a:r>
              <a:rPr sz="1800" b="1">
                <a:solidFill>
                  <a:srgbClr val="1F6E43"/>
                </a:solidFill>
              </a:rPr>
              <a:t> / ((PSC + 1) · (ARR + 1))          T</a:t>
            </a:r>
            <a:r>
              <a:rPr sz="1800" b="1" baseline="-25000">
                <a:solidFill>
                  <a:srgbClr val="1F6E43"/>
                </a:solidFill>
              </a:rPr>
              <a:t>period</a:t>
            </a:r>
            <a:r>
              <a:rPr sz="1800" b="1">
                <a:solidFill>
                  <a:srgbClr val="1F6E43"/>
                </a:solidFill>
              </a:rPr>
              <a:t> = 1 / f</a:t>
            </a:r>
            <a:r>
              <a:rPr sz="1800" b="1" baseline="-25000">
                <a:solidFill>
                  <a:srgbClr val="1F6E43"/>
                </a:solidFill>
              </a:rPr>
              <a:t>interrupt</a:t>
            </a:r>
          </a:p>
          <a:p>
            <a:pPr algn="ctr"/>
            <a:r>
              <a:rPr sz="1300" b="0">
                <a:solidFill>
                  <a:srgbClr val="000000"/>
                </a:solidFill>
              </a:rPr>
              <a:t>CPU share used = t</a:t>
            </a:r>
            <a:r>
              <a:rPr sz="1300" b="0" baseline="-25000">
                <a:solidFill>
                  <a:srgbClr val="000000"/>
                </a:solidFill>
              </a:rPr>
              <a:t>ISR</a:t>
            </a:r>
            <a:r>
              <a:rPr sz="1300" b="0">
                <a:solidFill>
                  <a:srgbClr val="000000"/>
                </a:solidFill>
              </a:rPr>
              <a:t> / T</a:t>
            </a:r>
            <a:r>
              <a:rPr sz="1300" b="0" baseline="-25000">
                <a:solidFill>
                  <a:srgbClr val="000000"/>
                </a:solidFill>
              </a:rPr>
              <a:t>period</a:t>
            </a:r>
            <a:r>
              <a:rPr sz="1300" b="0">
                <a:solidFill>
                  <a:srgbClr val="000000"/>
                </a:solidFill>
              </a:rPr>
              <a:t>      (t</a:t>
            </a:r>
            <a:r>
              <a:rPr sz="1300" b="0" baseline="-25000">
                <a:solidFill>
                  <a:srgbClr val="000000"/>
                </a:solidFill>
              </a:rPr>
              <a:t>ISR</a:t>
            </a:r>
            <a:r>
              <a:rPr sz="1300" b="0">
                <a:solidFill>
                  <a:srgbClr val="000000"/>
                </a:solidFill>
              </a:rPr>
              <a:t>: one pass through ISR + HAL handler + callback)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Example: real numbers for two timers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457200" y="1051560"/>
            <a:ext cx="3977639" cy="2240280"/>
          </a:xfrm>
          <a:prstGeom prst="roundRect">
            <a:avLst>
              <a:gd name="adj" fmla="val 5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1161288"/>
            <a:ext cx="361187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</a:rPr>
              <a:t>TIM7: the fast interrupt of Assignment 2</a:t>
            </a:r>
          </a:p>
          <a:p>
            <a:r>
              <a:rPr sz="3200" b="1">
                <a:solidFill>
                  <a:srgbClr val="1F6E43"/>
                </a:solidFill>
              </a:rPr>
              <a:t>100 µs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C5C5C"/>
                </a:solidFill>
              </a:rPr>
              <a:t>f</a:t>
            </a:r>
            <a:r>
              <a:rPr sz="1200" b="0" baseline="-25000">
                <a:solidFill>
                  <a:srgbClr val="5C5C5C"/>
                </a:solidFill>
              </a:rPr>
              <a:t>clk</a:t>
            </a:r>
            <a:r>
              <a:rPr sz="1200" b="0">
                <a:solidFill>
                  <a:srgbClr val="5C5C5C"/>
                </a:solidFill>
              </a:rPr>
              <a:t> = 170 MHz: t</a:t>
            </a:r>
            <a:r>
              <a:rPr sz="1200" b="0" baseline="-25000">
                <a:solidFill>
                  <a:srgbClr val="5C5C5C"/>
                </a:solidFill>
              </a:rPr>
              <a:t>clk</a:t>
            </a:r>
            <a:r>
              <a:rPr sz="1200" b="0">
                <a:solidFill>
                  <a:srgbClr val="5C5C5C"/>
                </a:solidFill>
              </a:rPr>
              <a:t> = 5.9 ns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C5C5C"/>
                </a:solidFill>
              </a:rPr>
              <a:t>PSC = 169: t</a:t>
            </a:r>
            <a:r>
              <a:rPr sz="1200" b="0" baseline="-25000">
                <a:solidFill>
                  <a:srgbClr val="5C5C5C"/>
                </a:solidFill>
              </a:rPr>
              <a:t>tick</a:t>
            </a:r>
            <a:r>
              <a:rPr sz="1200" b="0">
                <a:solidFill>
                  <a:srgbClr val="5C5C5C"/>
                </a:solidFill>
              </a:rPr>
              <a:t> = 170 · 5.9 ns = 1 µs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C5C5C"/>
                </a:solidFill>
              </a:rPr>
              <a:t>ARR = 99: T</a:t>
            </a:r>
            <a:r>
              <a:rPr sz="1200" b="0" baseline="-25000">
                <a:solidFill>
                  <a:srgbClr val="5C5C5C"/>
                </a:solidFill>
              </a:rPr>
              <a:t>period</a:t>
            </a:r>
            <a:r>
              <a:rPr sz="1200" b="0">
                <a:solidFill>
                  <a:srgbClr val="5C5C5C"/>
                </a:solidFill>
              </a:rPr>
              <a:t> = 100 · 1 µs = 100 µs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C5C5C"/>
                </a:solidFill>
              </a:rPr>
              <a:t>f</a:t>
            </a:r>
            <a:r>
              <a:rPr sz="1200" b="0" baseline="-25000">
                <a:solidFill>
                  <a:srgbClr val="5C5C5C"/>
                </a:solidFill>
              </a:rPr>
              <a:t>interrupt</a:t>
            </a:r>
            <a:r>
              <a:rPr sz="1200" b="0">
                <a:solidFill>
                  <a:srgbClr val="5C5C5C"/>
                </a:solidFill>
              </a:rPr>
              <a:t> = 1 / 100 µs = 10 kHz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09160" y="1051560"/>
            <a:ext cx="3977639" cy="2240280"/>
          </a:xfrm>
          <a:prstGeom prst="roundRect">
            <a:avLst>
              <a:gd name="adj" fmla="val 5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92040" y="1161288"/>
            <a:ext cx="361187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</a:rPr>
              <a:t>TIM6: blink LD2 once a second</a:t>
            </a:r>
          </a:p>
          <a:p>
            <a:r>
              <a:rPr sz="3200" b="1">
                <a:solidFill>
                  <a:srgbClr val="1F6E43"/>
                </a:solidFill>
              </a:rPr>
              <a:t>1 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C5C5C"/>
                </a:solidFill>
              </a:rPr>
              <a:t>f</a:t>
            </a:r>
            <a:r>
              <a:rPr sz="1200" b="0" baseline="-25000">
                <a:solidFill>
                  <a:srgbClr val="5C5C5C"/>
                </a:solidFill>
              </a:rPr>
              <a:t>clk</a:t>
            </a:r>
            <a:r>
              <a:rPr sz="1200" b="0">
                <a:solidFill>
                  <a:srgbClr val="5C5C5C"/>
                </a:solidFill>
              </a:rPr>
              <a:t> = 170 MHz: t</a:t>
            </a:r>
            <a:r>
              <a:rPr sz="1200" b="0" baseline="-25000">
                <a:solidFill>
                  <a:srgbClr val="5C5C5C"/>
                </a:solidFill>
              </a:rPr>
              <a:t>clk</a:t>
            </a:r>
            <a:r>
              <a:rPr sz="1200" b="0">
                <a:solidFill>
                  <a:srgbClr val="5C5C5C"/>
                </a:solidFill>
              </a:rPr>
              <a:t> = 5.9 ns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C5C5C"/>
                </a:solidFill>
              </a:rPr>
              <a:t>PSC = 16 999: t</a:t>
            </a:r>
            <a:r>
              <a:rPr sz="1200" b="0" baseline="-25000">
                <a:solidFill>
                  <a:srgbClr val="5C5C5C"/>
                </a:solidFill>
              </a:rPr>
              <a:t>tick</a:t>
            </a:r>
            <a:r>
              <a:rPr sz="1200" b="0">
                <a:solidFill>
                  <a:srgbClr val="5C5C5C"/>
                </a:solidFill>
              </a:rPr>
              <a:t> = 17 000 · 5.9 ns = 100 µs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C5C5C"/>
                </a:solidFill>
              </a:rPr>
              <a:t>ARR = 9 999: T</a:t>
            </a:r>
            <a:r>
              <a:rPr sz="1200" b="0" baseline="-25000">
                <a:solidFill>
                  <a:srgbClr val="5C5C5C"/>
                </a:solidFill>
              </a:rPr>
              <a:t>period</a:t>
            </a:r>
            <a:r>
              <a:rPr sz="1200" b="0">
                <a:solidFill>
                  <a:srgbClr val="5C5C5C"/>
                </a:solidFill>
              </a:rPr>
              <a:t> = 10 000 · 100 µs = 1 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C5C5C"/>
                </a:solidFill>
              </a:rPr>
              <a:t>f</a:t>
            </a:r>
            <a:r>
              <a:rPr sz="1200" b="0" baseline="-25000">
                <a:solidFill>
                  <a:srgbClr val="5C5C5C"/>
                </a:solidFill>
              </a:rPr>
              <a:t>interrupt</a:t>
            </a:r>
            <a:r>
              <a:rPr sz="1200" b="0">
                <a:solidFill>
                  <a:srgbClr val="5C5C5C"/>
                </a:solidFill>
              </a:rPr>
              <a:t> = 1 / 1 s = 1 Hz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4747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0000"/>
                </a:solidFill>
              </a:rPr>
              <a:t>CPU share: assume one interrupt takes t</a:t>
            </a:r>
            <a:r>
              <a:rPr sz="1300" b="1" baseline="-25000">
                <a:solidFill>
                  <a:srgbClr val="000000"/>
                </a:solidFill>
              </a:rPr>
              <a:t>ISR</a:t>
            </a:r>
            <a:r>
              <a:rPr sz="1300" b="1">
                <a:solidFill>
                  <a:srgbClr val="000000"/>
                </a:solidFill>
              </a:rPr>
              <a:t> = 1 µs (about 170 cycles).</a:t>
            </a:r>
          </a:p>
          <a:p>
            <a:r>
              <a:rPr sz="1300" b="0">
                <a:solidFill>
                  <a:srgbClr val="000000"/>
                </a:solidFill>
              </a:rPr>
              <a:t>TIM7: 1 µs / 100 µs = 1 % of the CPU.          TIM6: 1 µs / 1 s = 0.0001 % of the CPU.</a:t>
            </a:r>
          </a:p>
          <a:p>
            <a:r>
              <a:rPr sz="1300" b="1">
                <a:solidFill>
                  <a:srgbClr val="1F6E43"/>
                </a:solidFill>
              </a:rPr>
              <a:t>The shorter the period, the less time is left for the main loop.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ISR: what runs when an interrupt fires</a:t>
            </a:r>
            <a:endParaRPr lang="en-US" sz="2600" dirty="0"/>
          </a:p>
        </p:txBody>
      </p:sp>
      <p:sp>
        <p:nvSpPr>
          <p:cNvPr id="3" name="rule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An interrupt is a hardware event (a timer period ends, a pin changes, a byte arrives) that pauses the main loop.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6E43"/>
                </a:solidFill>
              </a:rPr>
              <a:t>The CPU runs one function, the ISR (Interrupt Service Routine), then returns to where it stopped.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The NVIC finds the ISR in the vector table. CubeMX writes it in stm32g4xx_it.c; it calls the HAL, which calls your callback.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Entering and leaving costs about a dozen cycles each way, plus the HAL code.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6E43"/>
                </a:solidFill>
              </a:rPr>
              <a:t>Keep it short: no HAL_Delay, printf or I2C. Set a counter or a flag; the main loop does the rest.</a:t>
            </a:r>
            <a:endParaRPr lang="en-US" sz="1500" dirty="0"/>
          </a:p>
        </p:txBody>
      </p:sp>
      <p:sp>
        <p:nvSpPr>
          <p:cNvPr id="4" name="rule box"/>
          <p:cNvSpPr/>
          <p:nvPr/>
        </p:nvSpPr>
        <p:spPr>
          <a:xfrm>
            <a:off x="4663440" y="1097280"/>
            <a:ext cx="4023360" cy="338328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rule code"/>
          <p:cNvSpPr txBox="1"/>
          <p:nvPr/>
        </p:nvSpPr>
        <p:spPr>
          <a:xfrm>
            <a:off x="4800600" y="1188720"/>
            <a:ext cx="3749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stm32g4xx_it.c: the ISR (CubeMX)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TIM7_DAC_IRQHandler(void)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HAL_TIM_IRQHandler(&amp;htim7);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HAL: checks and clears the flag,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then calls the callback       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main.c: your callback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volatile uint32_t ticks = 0;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HAL_TIM_PeriodElapsedCallback(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TIM_HandleTypeDef *htim)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(htim-&gt;Instance == TIM7)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ticks++;              /* short!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Why some outputs are fast and others slow</a:t>
            </a:r>
            <a:endParaRPr lang="en-US" sz="2600" dirty="0"/>
          </a:p>
        </p:txBody>
      </p:sp>
      <p:sp>
        <p:nvSpPr>
          <p:cNvPr id="3" name="speed card 1"/>
          <p:cNvSpPr/>
          <p:nvPr/>
        </p:nvSpPr>
        <p:spPr>
          <a:xfrm>
            <a:off x="45720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speed card 1 head"/>
          <p:cNvSpPr txBox="1"/>
          <p:nvPr/>
        </p:nvSpPr>
        <p:spPr>
          <a:xfrm>
            <a:off x="68580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524"/>
                </a:solidFill>
              </a:rPr>
              <a:t>Wheel PWM: TIM2-&gt;CCR1 = value;</a:t>
            </a:r>
            <a:endParaRPr lang="en-US" sz="1600" dirty="0"/>
          </a:p>
        </p:txBody>
      </p:sp>
      <p:sp>
        <p:nvSpPr>
          <p:cNvPr id="5" name="speed card 1 stat"/>
          <p:cNvSpPr txBox="1"/>
          <p:nvPr/>
        </p:nvSpPr>
        <p:spPr>
          <a:xfrm>
            <a:off x="68580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6E43"/>
                </a:solidFill>
              </a:rPr>
              <a:t>~20</a:t>
            </a:r>
            <a:pPr indent="0" marL="0">
              <a:buNone/>
            </a:pPr>
            <a:r>
              <a:rPr lang="en-US" sz="1800" dirty="0">
                <a:solidFill>
                  <a:srgbClr val="1F6E43"/>
                </a:solidFill>
              </a:rPr>
              <a:t>  ns</a:t>
            </a:r>
            <a:endParaRPr lang="en-US" sz="4400" dirty="0"/>
          </a:p>
        </p:txBody>
      </p:sp>
      <p:sp>
        <p:nvSpPr>
          <p:cNvPr id="6" name="speed card 1 body"/>
          <p:cNvSpPr txBox="1"/>
          <p:nvPr/>
        </p:nvSpPr>
        <p:spPr>
          <a:xfrm>
            <a:off x="68580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STM32. It has a memory address, so one store instruction over the internal bus writes it: a few clock cycles at 170 MHz (1 cycle = 5.9 ns). TIM2 then makes the PWM by itself.</a:t>
            </a:r>
            <a:endParaRPr lang="en-US" sz="1300" dirty="0"/>
          </a:p>
        </p:txBody>
      </p:sp>
      <p:sp>
        <p:nvSpPr>
          <p:cNvPr id="7" name="speed card 2"/>
          <p:cNvSpPr/>
          <p:nvPr/>
        </p:nvSpPr>
        <p:spPr>
          <a:xfrm>
            <a:off x="470916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speed card 2 head"/>
          <p:cNvSpPr txBox="1"/>
          <p:nvPr/>
        </p:nvSpPr>
        <p:spPr>
          <a:xfrm>
            <a:off x="493776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524"/>
                </a:solidFill>
              </a:rPr>
              <a:t>LED brightness: HAL_I2C_Mem_Write</a:t>
            </a:r>
            <a:endParaRPr lang="en-US" sz="1600" dirty="0"/>
          </a:p>
        </p:txBody>
      </p:sp>
      <p:sp>
        <p:nvSpPr>
          <p:cNvPr id="9" name="speed card 2 stat"/>
          <p:cNvSpPr txBox="1"/>
          <p:nvPr/>
        </p:nvSpPr>
        <p:spPr>
          <a:xfrm>
            <a:off x="493776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23A48"/>
                </a:solidFill>
              </a:rPr>
              <a:t>~0.3</a:t>
            </a:r>
            <a:pPr indent="0" marL="0">
              <a:buNone/>
            </a:pPr>
            <a:r>
              <a:rPr lang="en-US" sz="1800" dirty="0">
                <a:solidFill>
                  <a:srgbClr val="B23A48"/>
                </a:solidFill>
              </a:rPr>
              <a:t>  ms</a:t>
            </a:r>
            <a:endParaRPr lang="en-US" sz="4400" dirty="0"/>
          </a:p>
        </p:txBody>
      </p:sp>
      <p:sp>
        <p:nvSpPr>
          <p:cNvPr id="10" name="speed card 2 body"/>
          <p:cNvSpPr txBox="1"/>
          <p:nvPr/>
        </p:nvSpPr>
        <p:spPr>
          <a:xfrm>
            <a:off x="493776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PCA9634, another chip. The only way in is the I2C bus at 100 kHz: 10 µs per bit. Address + register + data, each with an ACK, is about 29 bits. The CPU waits all that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Blocking: updating all 24 LED registers at once</a:t>
            </a:r>
            <a:endParaRPr lang="en-US" sz="2600" dirty="0"/>
          </a:p>
        </p:txBody>
      </p:sp>
      <p:sp>
        <p:nvSpPr>
          <p:cNvPr id="3" name="blocking box"/>
          <p:cNvSpPr/>
          <p:nvPr/>
        </p:nvSpPr>
        <p:spPr>
          <a:xfrm>
            <a:off x="457200" y="1097280"/>
            <a:ext cx="4114800" cy="1508760"/>
          </a:xfrm>
          <a:prstGeom prst="roundRect">
            <a:avLst>
              <a:gd name="adj" fmla="val 4848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blocking code"/>
          <p:cNvSpPr txBox="1"/>
          <p:nvPr/>
        </p:nvSpPr>
        <p:spPr>
          <a:xfrm>
            <a:off x="594360" y="118872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(ch = 0; ch &lt; 8; ch++)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setLedChannel(RED,   ch, r);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setLedChannel(GREEN, ch, g);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setLedChannel(BLUE,  ch, b);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about 7 to 9 ms with the loop stuck here</a:t>
            </a:r>
            <a:endParaRPr lang="en-US" sz="1100" dirty="0"/>
          </a:p>
        </p:txBody>
      </p:sp>
      <p:sp>
        <p:nvSpPr>
          <p:cNvPr id="5" name="blocking bullets"/>
          <p:cNvSpPr txBox="1"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0000"/>
                </a:solidFill>
              </a:rPr>
              <a:t>While stuck, the main loop cannot: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see a new command or state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poll the IR obstacle sensor (an emergency stop!)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 the state's work or print status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6E43"/>
                </a:solidFill>
              </a:rPr>
              <a:t>Interrupts still run: TIM2 keeps the PWM going and TIM5 still captures the ultrasonic echo.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Non-blocking: one register per loop pass</a:t>
            </a:r>
            <a:endParaRPr lang="en-US" sz="2600" dirty="0"/>
          </a:p>
        </p:txBody>
      </p:sp>
      <p:sp>
        <p:nvSpPr>
          <p:cNvPr id="3" name="service box"/>
          <p:cNvSpPr/>
          <p:nvPr/>
        </p:nvSpPr>
        <p:spPr>
          <a:xfrm>
            <a:off x="457200" y="1097280"/>
            <a:ext cx="4572000" cy="1828800"/>
          </a:xfrm>
          <a:prstGeom prst="roundRect">
            <a:avLst>
              <a:gd name="adj" fmla="val 4000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service code"/>
          <p:cNvSpPr txBox="1"/>
          <p:nvPr/>
        </p:nvSpPr>
        <p:spPr>
          <a:xfrm>
            <a:off x="594360" y="118872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serviceRgbOutputs(void)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(micros() - lastUs &lt; 1200) return;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lastUs = micros();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write ONE of the 24 registers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setLedChannel(chip, channel, target);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index = (index + 1) % 24;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ervice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logic writes the wanted colours into RAM arrays (rgbTarget...): instant.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serviceRgbOutputs copies them to the chips, at most one register per call.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Each loop pass pays at most 0.3 ms; a full refresh takes 24 x 1.2 ms = 29 ms, too fast for the eye.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What makes it non-blocking is the work per call, not where the call is 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Three layers: decide, store, transport</a:t>
            </a:r>
            <a:endParaRPr lang="en-US" sz="2600" dirty="0"/>
          </a:p>
        </p:txBody>
      </p:sp>
      <p:graphicFrame>
        <p:nvGraphicFramePr>
          <p:cNvPr id="17" name="layer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28346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Layer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Wheels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RGB LEDs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Logic: what should the output be now?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setWheelPwm(wheel, pwm)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updateLedBlink / updateLedFade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Stored value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CCR register (on chip)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rgbTarget arrays (RAM)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Transport: make the hardware show 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hardware, continuously, no code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serviceRgbOutputs over I2C, gradually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layers note"/>
          <p:cNvSpPr txBox="1"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</a:rPr>
              <a:t>serviceRgbOutputs is the software stand-in for what TIM2 does for the wheels. It belongs to the transport layer, so it is not part of runStateTick.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super loop: inputs, logic, services</a:t>
            </a:r>
            <a:endParaRPr lang="en-US" sz="2600" dirty="0"/>
          </a:p>
        </p:txBody>
      </p:sp>
      <p:sp>
        <p:nvSpPr>
          <p:cNvPr id="3" name="superloop box"/>
          <p:cNvSpPr/>
          <p:nvPr/>
        </p:nvSpPr>
        <p:spPr>
          <a:xfrm>
            <a:off x="457200" y="109728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superloop code"/>
          <p:cNvSpPr txBox="1"/>
          <p:nvPr/>
        </p:nvSpPr>
        <p:spPr>
          <a:xfrm>
            <a:off x="594360" y="118872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updateEncoders();      /* 1. inputs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updateIrSensor();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(state != applied)  /* 2. logic 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enterState(state);   /* once     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runStateTick(applied); /* every pass 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serviceRgbOutputs();   /* 3. services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printPeriodicStatus();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uperloop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Keep every pass short, so polled inputs stay responsive.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runStateTick: what the current state wants.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Services: make the hardware match, in every state.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Calling a service from inside one state's case would freeze that output in all other states.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5  ·  30.11.2026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Inside the I2C bus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I2C bus scan: detect the five IO-board chips; set_rgb rewritten on raw HAL_I2C_Mem_Write; servo sweep. Short part: creating a .ioc in STM32CubeMX, and starting Assignment 2 from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From a .ioc to a running project</a:t>
            </a:r>
            <a:endParaRPr lang="en-US" sz="2600" dirty="0"/>
          </a:p>
        </p:txBody>
      </p:sp>
      <p:sp>
        <p:nvSpPr>
          <p:cNvPr id="3" name="ioc flow card 1"/>
          <p:cNvSpPr/>
          <p:nvPr/>
        </p:nvSpPr>
        <p:spPr>
          <a:xfrm>
            <a:off x="457200" y="1097280"/>
            <a:ext cx="2560320" cy="228600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ioc flow card 1 title"/>
          <p:cNvSpPr txBox="1"/>
          <p:nvPr/>
        </p:nvSpPr>
        <p:spPr>
          <a:xfrm>
            <a:off x="640080" y="1188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1. Configure</a:t>
            </a:r>
            <a:endParaRPr lang="en-US" sz="1800" dirty="0"/>
          </a:p>
        </p:txBody>
      </p:sp>
      <p:sp>
        <p:nvSpPr>
          <p:cNvPr id="5" name="ioc flow card 1 steps"/>
          <p:cNvSpPr txBox="1"/>
          <p:nvPr/>
        </p:nvSpPr>
        <p:spPr>
          <a:xfrm>
            <a:off x="64008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STM32CubeMX, file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ass1.ioc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The whole hardware setup: pins, peripherals, clock, interrupts</a:t>
            </a:r>
            <a:endParaRPr lang="en-US" sz="1300" dirty="0"/>
          </a:p>
        </p:txBody>
      </p:sp>
      <p:sp>
        <p:nvSpPr>
          <p:cNvPr id="6" name="ioc flow card 2"/>
          <p:cNvSpPr/>
          <p:nvPr/>
        </p:nvSpPr>
        <p:spPr>
          <a:xfrm>
            <a:off x="3291840" y="1097280"/>
            <a:ext cx="2560320" cy="228600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ioc flow card 2 title"/>
          <p:cNvSpPr txBox="1"/>
          <p:nvPr/>
        </p:nvSpPr>
        <p:spPr>
          <a:xfrm>
            <a:off x="3474720" y="1188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2. Generate</a:t>
            </a:r>
            <a:endParaRPr lang="en-US" sz="1800" dirty="0"/>
          </a:p>
        </p:txBody>
      </p:sp>
      <p:sp>
        <p:nvSpPr>
          <p:cNvPr id="8" name="ioc flow card 2 steps"/>
          <p:cNvSpPr txBox="1"/>
          <p:nvPr/>
        </p:nvSpPr>
        <p:spPr>
          <a:xfrm>
            <a:off x="347472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GENERATE CODE writes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main.c</a:t>
            </a:r>
            <a:r>
              <a:rPr lang="en-US" sz="1300" dirty="0">
                <a:solidFill>
                  <a:srgbClr val="1C1C1C"/>
                </a:solidFill>
              </a:rPr>
              <a:t> with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MX_GPIO_Init()</a:t>
            </a:r>
            <a:r>
              <a:rPr lang="en-US" sz="1300" dirty="0">
                <a:solidFill>
                  <a:srgbClr val="1C1C1C"/>
                </a:solidFill>
              </a:rPr>
              <a:t>,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MX_I2C1_Init()</a:t>
            </a:r>
            <a:r>
              <a:rPr lang="en-US" sz="1300" dirty="0">
                <a:solidFill>
                  <a:srgbClr val="1C1C1C"/>
                </a:solidFill>
              </a:rPr>
              <a:t>, ...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and copies the HAL drivers</a:t>
            </a:r>
            <a:endParaRPr lang="en-US" sz="1300" dirty="0"/>
          </a:p>
        </p:txBody>
      </p:sp>
      <p:sp>
        <p:nvSpPr>
          <p:cNvPr id="9" name="ioc flow card 3"/>
          <p:cNvSpPr/>
          <p:nvPr/>
        </p:nvSpPr>
        <p:spPr>
          <a:xfrm>
            <a:off x="6126480" y="1097280"/>
            <a:ext cx="2560320" cy="228600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ioc flow card 3 title"/>
          <p:cNvSpPr txBox="1"/>
          <p:nvPr/>
        </p:nvSpPr>
        <p:spPr>
          <a:xfrm>
            <a:off x="6309360" y="1188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3. Import and code</a:t>
            </a:r>
            <a:endParaRPr lang="en-US" sz="1800" dirty="0"/>
          </a:p>
        </p:txBody>
      </p:sp>
      <p:sp>
        <p:nvSpPr>
          <p:cNvPr id="11" name="ioc flow card 3 steps"/>
          <p:cNvSpPr txBox="1"/>
          <p:nvPr/>
        </p:nvSpPr>
        <p:spPr>
          <a:xfrm>
            <a:off x="630936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STM32CubeIDE: File &gt; Import, then the wizard STM32CubeMX/ STM32CubeIDE Project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Your code goes only between USER CODE BEGIN and END</a:t>
            </a:r>
            <a:endParaRPr lang="en-US" sz="1300" dirty="0"/>
          </a:p>
        </p:txBody>
      </p:sp>
      <p:sp>
        <p:nvSpPr>
          <p:cNvPr id="12" name="ioc flow note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The .ioc is the source. Every GENERATE CODE rewrites the generated code and keeps only what is inside the USER CODE sections.</a:t>
            </a:r>
            <a:endParaRPr lang="en-US" sz="13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Rebuilding ass1.ioc: board and pins</a:t>
            </a:r>
            <a:endParaRPr lang="en-US" sz="2600" dirty="0"/>
          </a:p>
        </p:txBody>
      </p:sp>
      <p:graphicFrame>
        <p:nvGraphicFramePr>
          <p:cNvPr id="3" name="ioc pins table"/>
          <p:cNvGraphicFramePr>
            <a:graphicFrameLocks noGrp="1"/>
          </p:cNvGraphicFramePr>
          <p:nvPr/>
        </p:nvGraphicFramePr>
        <p:xfrm>
          <a:off x="457200" y="1051560"/>
          <a:ext cx="8229600" cy="27432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in CubeMX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Board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File &gt; New Project &gt; Board Selector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NUCLEO-G474RE; answer Yes to initialise all peripherals with their default mode (gives LD2, B1, LPUART1 and the debug pins)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IR sensor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Pinout view: click PA7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GPIO_Input; right-click &gt; Enter User Label: IR_SENSOR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I2C1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Connectivity &gt; I2C1 &gt; Mode: I2C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Check the pins: PB8 = SCL, PB9 = SDA. Ctrl+click a pin to see where else it can go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Debug pins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PA13, PA14, PB3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Never reassign them: they connect the ST-LINK debugger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ioc pins note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A user label becomes a name in main.h: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IR_SENSOR_Pin</a:t>
            </a:r>
            <a:r>
              <a:rPr lang="en-US" sz="1300" i="1" dirty="0">
                <a:solidFill>
                  <a:srgbClr val="5C5C5C"/>
                </a:solidFill>
              </a:rPr>
              <a:t>,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IR_SENSOR_GPIO_Port</a:t>
            </a:r>
            <a:r>
              <a:rPr lang="en-US" sz="1300" i="1" dirty="0">
                <a:solidFill>
                  <a:srgbClr val="5C5C5C"/>
                </a:solidFill>
              </a:rPr>
              <a:t>.</a:t>
            </a:r>
            <a:endParaRPr lang="en-US" sz="13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Peripherals, clock and interrupts</a:t>
            </a:r>
            <a:endParaRPr lang="en-US" sz="2600" dirty="0"/>
          </a:p>
        </p:txBody>
      </p:sp>
      <p:graphicFrame>
        <p:nvGraphicFramePr>
          <p:cNvPr id="3" name="ioc periph table"/>
          <p:cNvGraphicFramePr>
            <a:graphicFrameLocks noGrp="1"/>
          </p:cNvGraphicFramePr>
          <p:nvPr/>
        </p:nvGraphicFramePr>
        <p:xfrm>
          <a:off x="457200" y="1051560"/>
          <a:ext cx="8229600" cy="27432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in CubeMX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I2C1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Connectivity &gt; I2C1 &gt; Parameter Settings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Standard mode, 100 kHz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LPUART1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Connectivity &gt; LPUART1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Asynchronous, 115200 baud, 8 bits, no parity, 1 stop bit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Clock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Clock Configuration tab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HCLK = 170 MHz (PLL from HSI)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B1 interrupt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System Core &gt; NVIC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EXTI line[15:10] interrupts: Enabled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Project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Project Manager tab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Name ass1, Toolchain / IDE: STM32CubeIDE. Then GENERATE CODE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ioc periph note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Check: main.c calls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MX_GPIO_Init()</a:t>
            </a:r>
            <a:r>
              <a:rPr lang="en-US" sz="1300" i="1" dirty="0">
                <a:solidFill>
                  <a:srgbClr val="5C5C5C"/>
                </a:solidFill>
              </a:rPr>
              <a:t>,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MX_LPUART1_UART_Init()</a:t>
            </a:r>
            <a:r>
              <a:rPr lang="en-US" sz="1300" i="1" dirty="0">
                <a:solidFill>
                  <a:srgbClr val="5C5C5C"/>
                </a:solidFill>
              </a:rPr>
              <a:t> and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MX_I2C1_Init()</a:t>
            </a:r>
            <a:r>
              <a:rPr lang="en-US" sz="1300" i="1" dirty="0">
                <a:solidFill>
                  <a:srgbClr val="5C5C5C"/>
                </a:solidFill>
              </a:rPr>
              <a:t>, the same as the provided ass1.ioc.</a:t>
            </a:r>
            <a:endParaRPr lang="en-US" sz="13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Assignment 2: start from ass1.ioc</a:t>
            </a:r>
            <a:endParaRPr lang="en-US" sz="2600" dirty="0"/>
          </a:p>
        </p:txBody>
      </p:sp>
      <p:sp>
        <p:nvSpPr>
          <p:cNvPr id="3" name="ass2 card 1"/>
          <p:cNvSpPr/>
          <p:nvPr/>
        </p:nvSpPr>
        <p:spPr>
          <a:xfrm>
            <a:off x="457200" y="1097280"/>
            <a:ext cx="3977640" cy="210312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ass2 card 1 title"/>
          <p:cNvSpPr txBox="1"/>
          <p:nvPr/>
        </p:nvSpPr>
        <p:spPr>
          <a:xfrm>
            <a:off x="64008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Duplicate</a:t>
            </a:r>
            <a:endParaRPr lang="en-US" sz="1800" dirty="0"/>
          </a:p>
        </p:txBody>
      </p:sp>
      <p:sp>
        <p:nvSpPr>
          <p:cNvPr id="5" name="ass2 card 1 steps"/>
          <p:cNvSpPr txBox="1"/>
          <p:nvPr/>
        </p:nvSpPr>
        <p:spPr>
          <a:xfrm>
            <a:off x="640080" y="16459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Open ass1.ioc in STM32CubeMX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File &gt; Save Project 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Choose a new folder named ass2: you get ass2.ioc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ass1.ioc stays unchanged</a:t>
            </a:r>
            <a:endParaRPr lang="en-US" sz="1300" dirty="0"/>
          </a:p>
        </p:txBody>
      </p:sp>
      <p:sp>
        <p:nvSpPr>
          <p:cNvPr id="6" name="ass2 card 2"/>
          <p:cNvSpPr/>
          <p:nvPr/>
        </p:nvSpPr>
        <p:spPr>
          <a:xfrm>
            <a:off x="4709160" y="1097280"/>
            <a:ext cx="3977640" cy="210312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ass2 card 2 title"/>
          <p:cNvSpPr txBox="1"/>
          <p:nvPr/>
        </p:nvSpPr>
        <p:spPr>
          <a:xfrm>
            <a:off x="489204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Add only what is new</a:t>
            </a:r>
            <a:endParaRPr lang="en-US" sz="1800" dirty="0"/>
          </a:p>
        </p:txBody>
      </p:sp>
      <p:sp>
        <p:nvSpPr>
          <p:cNvPr id="8" name="ass2 card 2 steps"/>
          <p:cNvSpPr txBox="1"/>
          <p:nvPr/>
        </p:nvSpPr>
        <p:spPr>
          <a:xfrm>
            <a:off x="4892040" y="16459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Motors: TIM2 PWM CH1 to CH4, four DIR pins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Encoders: TIM1, TIM8, TIM3, TIM4 in encoder mode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Ultrasonic: TIM5 (TRIG by PWM, ECHO by input capture)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GENERATE CODE, then import the ass2 folder</a:t>
            </a:r>
            <a:endParaRPr lang="en-US" sz="1300" dirty="0"/>
          </a:p>
        </p:txBody>
      </p:sp>
      <p:sp>
        <p:nvSpPr>
          <p:cNvPr id="9" name="ass2 note"/>
          <p:cNvSpPr txBox="1"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Leave the Assignment 1 settings as they are. The full list is in the Assignment 2 configuration section of the assignment sheet.</a:t>
            </a:r>
            <a:endParaRPr lang="en-US" sz="13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6  ·  7.12.2026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PWM, input capture and EXTI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One ultrasonic distance measurement; an EXTI interrupt with a counter; PWM on one motor channel.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7  ·  14.12.2026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One wheel in the air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Open-loop PWM; encoder counts to rad/s; record a run and export it to MATLAB.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8  ·  21.12.2026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From model to PI controller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Model fit, sisotool, c2d; the difference equation in C; simulated vs. measured step response.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9  ·  28.12.2026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UART commands and a MATLAB GUI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An interrupt-driven UART command parser; a minimal MATLAB GUI that sends commands and plots telemetry.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10  ·  4.1.2027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Driving the cart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Kinematics exercises; driving on the floor; a trajectory array generated in MATLAB and sent to the cart.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11  ·  11.1.2027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Simulink to 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Export a Simulink PI controller or filter to C and run it on the cart.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12  ·  18.1.2027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Project clinic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 session for Assignment 3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SESSION 13  ·  25.1.2027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Lab meeting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Timing: what must fit in one period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960120"/>
          <a:ext cx="82296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429000"/>
                <a:gridCol w="1783080"/>
                <a:gridCol w="2148840"/>
              </a:tblGrid>
              <a:tr h="23774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Symbol</a:t>
                      </a:r>
                    </a:p>
                  </a:txBody>
                  <a:tcPr marT="18288" marB="18288" marL="64008" marR="6400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T="18288" marB="18288" marL="64008" marR="6400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Formula</a:t>
                      </a:r>
                    </a:p>
                  </a:txBody>
                  <a:tcPr marT="18288" marB="18288" marL="64008" marR="6400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T="18288" marB="18288" marL="64008" marR="64008" anchor="ctr">
                    <a:solidFill>
                      <a:srgbClr val="1F6E43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100" b="1" baseline="-25000">
                          <a:solidFill>
                            <a:srgbClr val="000000"/>
                          </a:solidFill>
                        </a:rPr>
                        <a:t>clk</a:t>
                      </a:r>
                    </a:p>
                  </a:txBody>
                  <a:tcPr marT="18288" marB="18288" marL="64008" marR="6400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One clock cycle of the CPU and the timer</a:t>
                      </a:r>
                    </a:p>
                  </a:txBody>
                  <a:tcPr marT="18288" marB="18288" marL="64008" marR="6400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1 / f</a:t>
                      </a:r>
                      <a:r>
                        <a:rPr sz="1100" b="0" baseline="-25000">
                          <a:solidFill>
                            <a:srgbClr val="000000"/>
                          </a:solidFill>
                        </a:rPr>
                        <a:t>clk</a:t>
                      </a:r>
                    </a:p>
                  </a:txBody>
                  <a:tcPr marT="18288" marB="18288" marL="64008" marR="6400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1 / 170 MHz = 5.9 ns</a:t>
                      </a:r>
                    </a:p>
                  </a:txBody>
                  <a:tcPr marT="18288" marB="18288" marL="64008" marR="64008" anchor="ctr">
                    <a:solidFill>
                      <a:srgbClr val="F4F6F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100" b="1" baseline="-25000">
                          <a:solidFill>
                            <a:srgbClr val="000000"/>
                          </a:solidFill>
                        </a:rPr>
                        <a:t>tick</a:t>
                      </a:r>
                    </a:p>
                  </a:txBody>
                  <a:tcPr marT="18288" marB="18288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One count of the timer counter</a:t>
                      </a:r>
                    </a:p>
                  </a:txBody>
                  <a:tcPr marT="18288" marB="18288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(PSC + 1) · t</a:t>
                      </a:r>
                      <a:r>
                        <a:rPr sz="1100" b="0" baseline="-25000">
                          <a:solidFill>
                            <a:srgbClr val="000000"/>
                          </a:solidFill>
                        </a:rPr>
                        <a:t>clk</a:t>
                      </a:r>
                    </a:p>
                  </a:txBody>
                  <a:tcPr marT="18288" marB="18288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PSC = 169: 170 · 5.9 ns = 1 µs</a:t>
                      </a:r>
                    </a:p>
                  </a:txBody>
                  <a:tcPr marT="18288" marB="18288" marL="64008" marR="64008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100" b="1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</a:p>
                  </a:txBody>
                  <a:tcPr marT="18288" marB="18288" marL="64008" marR="6400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Time between two interrupts</a:t>
                      </a:r>
                    </a:p>
                  </a:txBody>
                  <a:tcPr marT="18288" marB="18288" marL="64008" marR="6400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(ARR + 1) · t</a:t>
                      </a:r>
                      <a:r>
                        <a:rPr sz="1100" b="0" baseline="-25000">
                          <a:solidFill>
                            <a:srgbClr val="000000"/>
                          </a:solidFill>
                        </a:rPr>
                        <a:t>tick</a:t>
                      </a:r>
                    </a:p>
                  </a:txBody>
                  <a:tcPr marT="18288" marB="18288" marL="64008" marR="6400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ARR = 9: 10 · 1 µs = 10 µs</a:t>
                      </a:r>
                    </a:p>
                  </a:txBody>
                  <a:tcPr marT="18288" marB="18288" marL="64008" marR="64008" anchor="ctr">
                    <a:solidFill>
                      <a:srgbClr val="F4F6F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100" b="1" baseline="-25000">
                          <a:solidFill>
                            <a:srgbClr val="000000"/>
                          </a:solidFill>
                        </a:rPr>
                        <a:t>ISR</a:t>
                      </a:r>
                    </a:p>
                  </a:txBody>
                  <a:tcPr marT="18288" marB="18288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CPU time for one interrupt: enter, HAL, callback, leave</a:t>
                      </a:r>
                    </a:p>
                  </a:txBody>
                  <a:tcPr marT="18288" marB="18288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measure it</a:t>
                      </a:r>
                    </a:p>
                  </a:txBody>
                  <a:tcPr marT="18288" marB="18288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assume 170 cycles = 1 µs</a:t>
                      </a:r>
                    </a:p>
                  </a:txBody>
                  <a:tcPr marT="18288" marB="18288" marL="64008" marR="64008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100" b="1" baseline="-25000">
                          <a:solidFill>
                            <a:srgbClr val="000000"/>
                          </a:solidFill>
                        </a:rPr>
                        <a:t>free</a:t>
                      </a:r>
                    </a:p>
                  </a:txBody>
                  <a:tcPr marT="18288" marB="18288" marL="64008" marR="6400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Time left in each period for everything else</a:t>
                      </a:r>
                    </a:p>
                  </a:txBody>
                  <a:tcPr marT="18288" marB="18288" marL="64008" marR="6400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100" b="0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 − t</a:t>
                      </a:r>
                      <a:r>
                        <a:rPr sz="1100" b="0" baseline="-25000">
                          <a:solidFill>
                            <a:srgbClr val="000000"/>
                          </a:solidFill>
                        </a:rPr>
                        <a:t>ISR</a:t>
                      </a:r>
                    </a:p>
                  </a:txBody>
                  <a:tcPr marT="18288" marB="18288" marL="64008" marR="6400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10 − 1 = 9 µs (90 %)</a:t>
                      </a:r>
                    </a:p>
                  </a:txBody>
                  <a:tcPr marT="18288" marB="18288" marL="64008" marR="64008" anchor="ctr">
                    <a:solidFill>
                      <a:srgbClr val="F4F6F4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57200" y="2487168"/>
            <a:ext cx="8229600" cy="457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200" b="1">
                <a:solidFill>
                  <a:srgbClr val="1F6E43"/>
                </a:solidFill>
              </a:rPr>
              <a:t>Must hold: t</a:t>
            </a:r>
            <a:r>
              <a:rPr sz="1200" b="1" baseline="-25000">
                <a:solidFill>
                  <a:srgbClr val="1F6E43"/>
                </a:solidFill>
              </a:rPr>
              <a:t>ISR</a:t>
            </a:r>
            <a:r>
              <a:rPr sz="1200" b="1">
                <a:solidFill>
                  <a:srgbClr val="1F6E43"/>
                </a:solidFill>
              </a:rPr>
              <a:t> &lt; T</a:t>
            </a:r>
            <a:r>
              <a:rPr sz="1200" b="1" baseline="-25000">
                <a:solidFill>
                  <a:srgbClr val="1F6E43"/>
                </a:solidFill>
              </a:rPr>
              <a:t>period</a:t>
            </a:r>
            <a:r>
              <a:rPr sz="1200" b="1">
                <a:solidFill>
                  <a:srgbClr val="1F6E43"/>
                </a:solidFill>
              </a:rPr>
              <a:t>. The tick does not matter here: only the period starts an interrupt.</a:t>
            </a:r>
          </a:p>
          <a:p>
            <a:r>
              <a:rPr sz="1200" b="0">
                <a:solidFill>
                  <a:srgbClr val="000000"/>
                </a:solidFill>
              </a:rPr>
              <a:t>Just smaller is not enough: other interrupts and the main loop need t</a:t>
            </a:r>
            <a:r>
              <a:rPr sz="1200" b="0" baseline="-25000">
                <a:solidFill>
                  <a:srgbClr val="000000"/>
                </a:solidFill>
              </a:rPr>
              <a:t>free</a:t>
            </a:r>
            <a:r>
              <a:rPr sz="1200" b="0">
                <a:solidFill>
                  <a:srgbClr val="000000"/>
                </a:solidFill>
              </a:rPr>
              <a:t> too. Rule of thumb: keep t</a:t>
            </a:r>
            <a:r>
              <a:rPr sz="1200" b="0" baseline="-25000">
                <a:solidFill>
                  <a:srgbClr val="000000"/>
                </a:solidFill>
              </a:rPr>
              <a:t>ISR</a:t>
            </a:r>
            <a:r>
              <a:rPr sz="1200" b="0">
                <a:solidFill>
                  <a:srgbClr val="000000"/>
                </a:solidFill>
              </a:rPr>
              <a:t> below about 10 % of T</a:t>
            </a:r>
            <a:r>
              <a:rPr sz="1200" b="0" baseline="-25000">
                <a:solidFill>
                  <a:srgbClr val="000000"/>
                </a:solidFill>
              </a:rPr>
              <a:t>period</a:t>
            </a:r>
            <a:r>
              <a:rPr sz="1200" b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01752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07238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E43"/>
                </a:solidFill>
              </a:rPr>
              <a:t>Works: PSC = 169, ARR = 9, T</a:t>
            </a:r>
            <a:r>
              <a:rPr sz="1200" b="1" baseline="-25000">
                <a:solidFill>
                  <a:srgbClr val="1F6E43"/>
                </a:solidFill>
              </a:rPr>
              <a:t>period</a:t>
            </a:r>
            <a:r>
              <a:rPr sz="1200" b="1">
                <a:solidFill>
                  <a:srgbClr val="1F6E43"/>
                </a:solidFill>
              </a:rPr>
              <a:t> = 10 µs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000000"/>
                </a:solidFill>
              </a:rPr>
              <a:t>0 µs: the counter wraps, the flag is set (hardware, no CPU).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000000"/>
                </a:solidFill>
              </a:rPr>
              <a:t>0.07 µs: the CPU saves its registers and enters the ISR.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000000"/>
                </a:solidFill>
              </a:rPr>
              <a:t>HAL clears the flag, your callback runs ticks++, the CPU returns.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000000"/>
                </a:solidFill>
              </a:rPr>
              <a:t>1 µs: back in the main loop, 9 µs free until the next wrap.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000000"/>
                </a:solidFill>
              </a:rPr>
              <a:t>CPU share: 1 / 10 = 10 %.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301752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BF1F1"/>
          </a:solidFill>
          <a:ln w="9525">
            <a:solidFill>
              <a:srgbClr val="E6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73168" y="307238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2A2A"/>
                </a:solidFill>
              </a:rPr>
              <a:t>Fails: PSC = 16, ARR = 4, T</a:t>
            </a:r>
            <a:r>
              <a:rPr sz="1200" b="1" baseline="-25000">
                <a:solidFill>
                  <a:srgbClr val="B02A2A"/>
                </a:solidFill>
              </a:rPr>
              <a:t>period</a:t>
            </a:r>
            <a:r>
              <a:rPr sz="1200" b="1">
                <a:solidFill>
                  <a:srgbClr val="B02A2A"/>
                </a:solidFill>
              </a:rPr>
              <a:t> = 0.5 µs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000000"/>
                </a:solidFill>
              </a:rPr>
              <a:t>t</a:t>
            </a:r>
            <a:r>
              <a:rPr sz="1050" b="0" baseline="-25000">
                <a:solidFill>
                  <a:srgbClr val="000000"/>
                </a:solidFill>
              </a:rPr>
              <a:t>tick</a:t>
            </a:r>
            <a:r>
              <a:rPr sz="1050" b="0">
                <a:solidFill>
                  <a:srgbClr val="000000"/>
                </a:solidFill>
              </a:rPr>
              <a:t> = 17 · 5.9 ns = 0.1 µs, T</a:t>
            </a:r>
            <a:r>
              <a:rPr sz="1050" b="0" baseline="-25000">
                <a:solidFill>
                  <a:srgbClr val="000000"/>
                </a:solidFill>
              </a:rPr>
              <a:t>period</a:t>
            </a:r>
            <a:r>
              <a:rPr sz="1050" b="0">
                <a:solidFill>
                  <a:srgbClr val="000000"/>
                </a:solidFill>
              </a:rPr>
              <a:t> = 5 · 0.1 = 0.5 µs &lt; t</a:t>
            </a:r>
            <a:r>
              <a:rPr sz="1050" b="0" baseline="-25000">
                <a:solidFill>
                  <a:srgbClr val="000000"/>
                </a:solidFill>
              </a:rPr>
              <a:t>ISR</a:t>
            </a:r>
            <a:r>
              <a:rPr sz="1050" b="0">
                <a:solidFill>
                  <a:srgbClr val="000000"/>
                </a:solidFill>
              </a:rPr>
              <a:t> = 1 µs.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000000"/>
                </a:solidFill>
              </a:rPr>
              <a:t>The next wrap comes before the ISR ends: the CPU re-enters at once.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000000"/>
                </a:solidFill>
              </a:rPr>
              <a:t>Main loop never runs: no printf, no buttons, frozen.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000000"/>
                </a:solidFill>
              </a:rPr>
              <a:t>The flag cannot count twice: every second interrupt is lost, so ticks counts at half speed and all timing is wrong.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P Tutorials">
  <a:themeElements>
    <a:clrScheme name="MP Tutorials">
      <a:dk1>
        <a:srgbClr val="1C1C1C"/>
      </a:dk1>
      <a:lt1>
        <a:srgbClr val="FFFFFF"/>
      </a:lt1>
      <a:dk2>
        <a:srgbClr val="123524"/>
      </a:dk2>
      <a:lt2>
        <a:srgbClr val="EEF3EF"/>
      </a:lt2>
      <a:accent1>
        <a:srgbClr val="1F6E43"/>
      </a:accent1>
      <a:accent2>
        <a:srgbClr val="C8772E"/>
      </a:accent2>
      <a:accent3>
        <a:srgbClr val="2E86AB"/>
      </a:accent3>
      <a:accent4>
        <a:srgbClr val="B23A48"/>
      </a:accent4>
      <a:accent5>
        <a:srgbClr val="6B8F71"/>
      </a:accent5>
      <a:accent6>
        <a:srgbClr val="5C5C5C"/>
      </a:accent6>
      <a:hlink>
        <a:srgbClr val="2E86AB"/>
      </a:hlink>
      <a:folHlink>
        <a:srgbClr val="6B8F71"/>
      </a:folHlink>
    </a:clrScheme>
    <a:fontScheme name="MP Tutorial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 Tutorials 2026</dc:title>
  <dc:subject>PptxGenJS Presentation</dc:subject>
  <dc:creator>Yohai Ackerman</dc:creator>
  <cp:lastModifiedBy>Yohai Ackerman</cp:lastModifiedBy>
  <cp:revision>1</cp:revision>
  <dcterms:created xsi:type="dcterms:W3CDTF">2026-10-13T13:55:01Z</dcterms:created>
  <dcterms:modified xsi:type="dcterms:W3CDTF">2026-10-13T13:55:01Z</dcterms:modified>
</cp:coreProperties>
</file>